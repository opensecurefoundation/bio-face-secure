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71" r:id="rId4"/>
    <p:sldId id="258" r:id="rId5"/>
    <p:sldId id="273" r:id="rId6"/>
    <p:sldId id="260" r:id="rId7"/>
    <p:sldId id="261" r:id="rId8"/>
    <p:sldId id="262" r:id="rId9"/>
    <p:sldId id="272" r:id="rId10"/>
    <p:sldId id="274" r:id="rId11"/>
    <p:sldId id="270"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93883" autoAdjust="0"/>
  </p:normalViewPr>
  <p:slideViewPr>
    <p:cSldViewPr snapToGrid="0" snapToObjects="1">
      <p:cViewPr varScale="1">
        <p:scale>
          <a:sx n="87" d="100"/>
          <a:sy n="87" d="100"/>
        </p:scale>
        <p:origin x="4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223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71062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12397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5"/>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0C8FF"/>
          </a:solidFill>
          <a:ln/>
        </p:spPr>
      </p:sp>
      <p:sp>
        <p:nvSpPr>
          <p:cNvPr id="3" name="Shape 1"/>
          <p:cNvSpPr/>
          <p:nvPr/>
        </p:nvSpPr>
        <p:spPr>
          <a:xfrm>
            <a:off x="128016" y="0"/>
            <a:ext cx="9015984" cy="54864"/>
          </a:xfrm>
          <a:prstGeom prst="rect">
            <a:avLst/>
          </a:prstGeom>
          <a:solidFill>
            <a:srgbClr val="1976D2"/>
          </a:solidFill>
          <a:ln/>
        </p:spPr>
      </p:sp>
      <p:sp>
        <p:nvSpPr>
          <p:cNvPr id="4" name="Shape 2"/>
          <p:cNvSpPr/>
          <p:nvPr/>
        </p:nvSpPr>
        <p:spPr>
          <a:xfrm>
            <a:off x="128016" y="4407408"/>
            <a:ext cx="9015984" cy="736092"/>
          </a:xfrm>
          <a:prstGeom prst="rect">
            <a:avLst/>
          </a:prstGeom>
          <a:solidFill>
            <a:srgbClr val="1455A4"/>
          </a:solidFill>
          <a:ln/>
        </p:spPr>
      </p:sp>
      <p:sp>
        <p:nvSpPr>
          <p:cNvPr id="5" name="Shape 3"/>
          <p:cNvSpPr/>
          <p:nvPr/>
        </p:nvSpPr>
        <p:spPr>
          <a:xfrm>
            <a:off x="6492240" y="182880"/>
            <a:ext cx="2560320" cy="2560320"/>
          </a:xfrm>
          <a:prstGeom prst="ellipse">
            <a:avLst/>
          </a:prstGeom>
          <a:solidFill>
            <a:srgbClr val="1B3A5C"/>
          </a:solidFill>
          <a:ln/>
        </p:spPr>
      </p:sp>
      <p:sp>
        <p:nvSpPr>
          <p:cNvPr id="6" name="Shape 4"/>
          <p:cNvSpPr/>
          <p:nvPr/>
        </p:nvSpPr>
        <p:spPr>
          <a:xfrm>
            <a:off x="6766560" y="457200"/>
            <a:ext cx="2011680" cy="2011680"/>
          </a:xfrm>
          <a:prstGeom prst="ellipse">
            <a:avLst/>
          </a:prstGeom>
          <a:solidFill>
            <a:srgbClr val="224B7A"/>
          </a:solidFill>
          <a:ln/>
        </p:spPr>
      </p:sp>
      <p:sp>
        <p:nvSpPr>
          <p:cNvPr id="7" name="Shape 5"/>
          <p:cNvSpPr/>
          <p:nvPr/>
        </p:nvSpPr>
        <p:spPr>
          <a:xfrm>
            <a:off x="7086600" y="777240"/>
            <a:ext cx="1371600" cy="1371600"/>
          </a:xfrm>
          <a:prstGeom prst="ellipse">
            <a:avLst/>
          </a:prstGeom>
          <a:solidFill>
            <a:srgbClr val="1455A4"/>
          </a:solidFill>
          <a:ln/>
        </p:spPr>
      </p:sp>
      <p:sp>
        <p:nvSpPr>
          <p:cNvPr id="8" name="Shape 6"/>
          <p:cNvSpPr/>
          <p:nvPr/>
        </p:nvSpPr>
        <p:spPr>
          <a:xfrm>
            <a:off x="7360920" y="1051560"/>
            <a:ext cx="822960" cy="822960"/>
          </a:xfrm>
          <a:prstGeom prst="ellipse">
            <a:avLst/>
          </a:prstGeom>
          <a:solidFill>
            <a:srgbClr val="1976D2"/>
          </a:solidFill>
          <a:ln/>
        </p:spPr>
      </p:sp>
      <p:sp>
        <p:nvSpPr>
          <p:cNvPr id="9" name="Shape 7"/>
          <p:cNvSpPr/>
          <p:nvPr/>
        </p:nvSpPr>
        <p:spPr>
          <a:xfrm>
            <a:off x="7580376" y="1271016"/>
            <a:ext cx="384048" cy="384048"/>
          </a:xfrm>
          <a:prstGeom prst="ellipse">
            <a:avLst/>
          </a:prstGeom>
          <a:solidFill>
            <a:srgbClr val="00C8FF"/>
          </a:solidFill>
          <a:ln/>
        </p:spPr>
      </p:sp>
      <p:sp>
        <p:nvSpPr>
          <p:cNvPr id="10" name="Text 8"/>
          <p:cNvSpPr/>
          <p:nvPr/>
        </p:nvSpPr>
        <p:spPr>
          <a:xfrm>
            <a:off x="7315200" y="685800"/>
            <a:ext cx="1463040" cy="1005840"/>
          </a:xfrm>
          <a:prstGeom prst="rect">
            <a:avLst/>
          </a:prstGeom>
          <a:noFill/>
          <a:ln/>
        </p:spPr>
        <p:txBody>
          <a:bodyPr wrap="square" lIns="0" tIns="0" rIns="0" bIns="0" rtlCol="0" anchor="ctr"/>
          <a:lstStyle/>
          <a:p>
            <a:pPr marL="0" indent="0" algn="ctr">
              <a:buNone/>
            </a:pPr>
            <a:r>
              <a:rPr lang="en-US" sz="3600" dirty="0">
                <a:solidFill>
                  <a:srgbClr val="0B1F35"/>
                </a:solidFill>
              </a:rPr>
              <a:t>⬡</a:t>
            </a:r>
            <a:endParaRPr lang="en-US" sz="3600" dirty="0"/>
          </a:p>
        </p:txBody>
      </p:sp>
      <p:sp>
        <p:nvSpPr>
          <p:cNvPr id="12" name="Text 10"/>
          <p:cNvSpPr/>
          <p:nvPr/>
        </p:nvSpPr>
        <p:spPr>
          <a:xfrm>
            <a:off x="347472" y="256032"/>
            <a:ext cx="2377440" cy="274320"/>
          </a:xfrm>
          <a:prstGeom prst="rect">
            <a:avLst/>
          </a:prstGeom>
          <a:noFill/>
          <a:ln/>
        </p:spPr>
        <p:txBody>
          <a:bodyPr wrap="square" lIns="0" tIns="0" rIns="0" bIns="0" rtlCol="0" anchor="ctr"/>
          <a:lstStyle/>
          <a:p>
            <a:pPr marL="0" indent="0" algn="ctr">
              <a:buNone/>
            </a:pPr>
            <a:r>
              <a:rPr lang="en-US" sz="700" b="1" dirty="0">
                <a:solidFill>
                  <a:srgbClr val="0B1F35"/>
                </a:solidFill>
              </a:rPr>
              <a:t>LIVRABLE L3  ·  DOSSIER DE CONCEPTION</a:t>
            </a:r>
            <a:endParaRPr lang="en-US" sz="700" dirty="0"/>
          </a:p>
        </p:txBody>
      </p:sp>
      <p:sp>
        <p:nvSpPr>
          <p:cNvPr id="15" name="Shape 13"/>
          <p:cNvSpPr/>
          <p:nvPr/>
        </p:nvSpPr>
        <p:spPr>
          <a:xfrm>
            <a:off x="2157990" y="2569343"/>
            <a:ext cx="5029200" cy="36576"/>
          </a:xfrm>
          <a:prstGeom prst="rect">
            <a:avLst/>
          </a:prstGeom>
          <a:solidFill>
            <a:srgbClr val="00C8FF"/>
          </a:solidFill>
          <a:ln/>
        </p:spPr>
      </p:sp>
      <p:pic>
        <p:nvPicPr>
          <p:cNvPr id="26" name="Imag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450" y="41292"/>
            <a:ext cx="2979116" cy="1015255"/>
          </a:xfrm>
          <a:prstGeom prst="rect">
            <a:avLst/>
          </a:prstGeom>
          <a:effectLst>
            <a:reflection endPos="0" dist="50800" dir="5400000" sy="-100000" algn="bl" rotWithShape="0"/>
            <a:softEdge rad="139700"/>
          </a:effectLst>
        </p:spPr>
      </p:pic>
      <p:sp>
        <p:nvSpPr>
          <p:cNvPr id="27" name="Text 7"/>
          <p:cNvSpPr/>
          <p:nvPr/>
        </p:nvSpPr>
        <p:spPr>
          <a:xfrm>
            <a:off x="1947666" y="1097521"/>
            <a:ext cx="8229600" cy="457200"/>
          </a:xfrm>
          <a:prstGeom prst="rect">
            <a:avLst/>
          </a:prstGeom>
          <a:noFill/>
          <a:ln/>
        </p:spPr>
        <p:txBody>
          <a:bodyPr wrap="square" rtlCol="0" anchor="ctr"/>
          <a:lstStyle/>
          <a:p>
            <a:pPr marL="0" indent="0">
              <a:buNone/>
            </a:pPr>
            <a:r>
              <a:rPr lang="en-US" sz="2400" b="1" kern="0" spc="500" dirty="0">
                <a:solidFill>
                  <a:srgbClr val="00A8E8"/>
                </a:solidFill>
                <a:latin typeface="Times New Roman" panose="02020603050405020304" pitchFamily="18" charset="0"/>
                <a:cs typeface="Times New Roman" panose="02020603050405020304" pitchFamily="18" charset="0"/>
              </a:rPr>
              <a:t>CAHIER DE CONCEPTION</a:t>
            </a:r>
            <a:endParaRPr lang="en-US" sz="2400" dirty="0">
              <a:latin typeface="Times New Roman" panose="02020603050405020304" pitchFamily="18" charset="0"/>
              <a:cs typeface="Times New Roman" panose="02020603050405020304" pitchFamily="18" charset="0"/>
            </a:endParaRPr>
          </a:p>
        </p:txBody>
      </p:sp>
      <p:sp>
        <p:nvSpPr>
          <p:cNvPr id="28" name="Text 8"/>
          <p:cNvSpPr/>
          <p:nvPr/>
        </p:nvSpPr>
        <p:spPr>
          <a:xfrm>
            <a:off x="775410" y="1416017"/>
            <a:ext cx="8185710" cy="1280160"/>
          </a:xfrm>
          <a:prstGeom prst="rect">
            <a:avLst/>
          </a:prstGeom>
          <a:noFill/>
          <a:ln/>
        </p:spPr>
        <p:txBody>
          <a:bodyPr wrap="square" rtlCol="0" anchor="ctr"/>
          <a:lstStyle/>
          <a:p>
            <a:pPr algn="ctr">
              <a:lnSpc>
                <a:spcPct val="150000"/>
              </a:lnSpc>
            </a:pPr>
            <a:r>
              <a:rPr lang="fr-FR" sz="1400" b="1" dirty="0">
                <a:solidFill>
                  <a:srgbClr val="FFFFFF"/>
                </a:solidFill>
                <a:latin typeface="Times New Roman" panose="02020603050405020304" pitchFamily="18" charset="0"/>
                <a:cs typeface="Times New Roman" panose="02020603050405020304" pitchFamily="18" charset="0"/>
              </a:rPr>
              <a:t>CONCEPTION, DÉVELOPPEMENT ET DÉPLOIEMENT D’UN SYSTÈME SÉCURISÉ D’AUTHENTIFICATION BIOMÉTRIQUE PAR RECONNAISSANCE FACIALE AVEC DÉTECTION D’ATTAQUES ET PROTECTION DES DONNÉES SENSIBLES</a:t>
            </a:r>
            <a:endParaRPr lang="en-US" sz="1400" dirty="0">
              <a:latin typeface="Times New Roman" panose="02020603050405020304" pitchFamily="18" charset="0"/>
              <a:cs typeface="Times New Roman" panose="02020603050405020304" pitchFamily="18" charset="0"/>
            </a:endParaRPr>
          </a:p>
        </p:txBody>
      </p:sp>
      <p:sp>
        <p:nvSpPr>
          <p:cNvPr id="29" name="Text 11"/>
          <p:cNvSpPr/>
          <p:nvPr/>
        </p:nvSpPr>
        <p:spPr>
          <a:xfrm>
            <a:off x="457200" y="4455674"/>
            <a:ext cx="8229600" cy="457200"/>
          </a:xfrm>
          <a:prstGeom prst="rect">
            <a:avLst/>
          </a:prstGeom>
          <a:noFill/>
          <a:ln/>
        </p:spPr>
        <p:txBody>
          <a:bodyPr wrap="square" rtlCol="0" anchor="ctr"/>
          <a:lstStyle/>
          <a:p>
            <a:pPr marL="0" indent="0" algn="ctr">
              <a:buNone/>
            </a:pPr>
            <a:r>
              <a:rPr lang="en-US" sz="1100" b="1" dirty="0">
                <a:solidFill>
                  <a:srgbClr val="8899BB"/>
                </a:solidFill>
                <a:latin typeface="Times New Roman" panose="02020603050405020304" pitchFamily="18" charset="0"/>
                <a:cs typeface="Times New Roman" panose="02020603050405020304" pitchFamily="18" charset="0"/>
              </a:rPr>
              <a:t>  </a:t>
            </a:r>
            <a:r>
              <a:rPr lang="en-US" sz="1600" b="1" dirty="0" err="1">
                <a:solidFill>
                  <a:srgbClr val="CADCFC"/>
                </a:solidFill>
                <a:latin typeface="Times New Roman" panose="02020603050405020304" pitchFamily="18" charset="0"/>
                <a:cs typeface="Times New Roman" panose="02020603050405020304" pitchFamily="18" charset="0"/>
              </a:rPr>
              <a:t>Projet</a:t>
            </a:r>
            <a:r>
              <a:rPr lang="en-US" sz="1600" b="1" dirty="0">
                <a:solidFill>
                  <a:srgbClr val="CADCFC"/>
                </a:solidFill>
                <a:latin typeface="Times New Roman" panose="02020603050405020304" pitchFamily="18" charset="0"/>
                <a:cs typeface="Times New Roman" panose="02020603050405020304" pitchFamily="18" charset="0"/>
              </a:rPr>
              <a:t> académique de Sécurité des Systèmes d’exploitation année 2025-2026</a:t>
            </a:r>
            <a:r>
              <a:rPr lang="en-US" sz="1600" b="1" dirty="0">
                <a:solidFill>
                  <a:srgbClr val="8899BB"/>
                </a:solidFill>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30" name="ZoneTexte 29"/>
          <p:cNvSpPr txBox="1"/>
          <p:nvPr/>
        </p:nvSpPr>
        <p:spPr>
          <a:xfrm>
            <a:off x="447269" y="1986842"/>
            <a:ext cx="3540760" cy="2804614"/>
          </a:xfrm>
          <a:prstGeom prst="rect">
            <a:avLst/>
          </a:prstGeom>
          <a:noFill/>
        </p:spPr>
        <p:txBody>
          <a:bodyPr wrap="square" rtlCol="0">
            <a:spAutoFit/>
          </a:bodyPr>
          <a:lstStyle/>
          <a:p>
            <a:endParaRPr lang="fr-CM" dirty="0">
              <a:solidFill>
                <a:schemeClr val="bg1"/>
              </a:solidFill>
            </a:endParaRPr>
          </a:p>
          <a:p>
            <a:endParaRPr lang="fr-CM" dirty="0">
              <a:solidFill>
                <a:schemeClr val="bg1"/>
              </a:solidFill>
            </a:endParaRPr>
          </a:p>
          <a:p>
            <a:endParaRPr lang="fr-CM" sz="1200" dirty="0">
              <a:solidFill>
                <a:schemeClr val="bg1"/>
              </a:solidFill>
            </a:endParaRPr>
          </a:p>
          <a:p>
            <a:r>
              <a:rPr lang="fr-CM" sz="1050" dirty="0">
                <a:solidFill>
                  <a:schemeClr val="bg1"/>
                </a:solidFill>
                <a:latin typeface="Times New Roman" panose="02020603050405020304" pitchFamily="18" charset="0"/>
                <a:cs typeface="Times New Roman" panose="02020603050405020304" pitchFamily="18" charset="0"/>
              </a:rPr>
              <a:t>Rédigé et présenté par:</a:t>
            </a:r>
          </a:p>
          <a:p>
            <a:endParaRPr lang="fr-CM" sz="105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BARDE </a:t>
            </a:r>
            <a:r>
              <a:rPr lang="fr-CM" sz="1050" b="1" dirty="0" err="1">
                <a:solidFill>
                  <a:schemeClr val="bg1"/>
                </a:solidFill>
                <a:latin typeface="Times New Roman" panose="02020603050405020304" pitchFamily="18" charset="0"/>
                <a:cs typeface="Times New Roman" panose="02020603050405020304" pitchFamily="18" charset="0"/>
              </a:rPr>
              <a:t>BARDE</a:t>
            </a:r>
            <a:r>
              <a:rPr lang="fr-CM" sz="1050" b="1" dirty="0">
                <a:solidFill>
                  <a:schemeClr val="bg1"/>
                </a:solidFill>
                <a:latin typeface="Times New Roman" panose="02020603050405020304" pitchFamily="18" charset="0"/>
                <a:cs typeface="Times New Roman" panose="02020603050405020304" pitchFamily="18" charset="0"/>
              </a:rPr>
              <a:t> B. Jason</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TEMGOUA Lionel</a:t>
            </a:r>
          </a:p>
          <a:p>
            <a:pPr>
              <a:lnSpc>
                <a:spcPct val="150000"/>
              </a:lnSpc>
            </a:pPr>
            <a:r>
              <a:rPr lang="fr-CM" sz="1050" b="1" dirty="0">
                <a:solidFill>
                  <a:schemeClr val="bg1"/>
                </a:solidFill>
                <a:latin typeface="Times New Roman" panose="02020603050405020304" pitchFamily="18" charset="0"/>
                <a:cs typeface="Times New Roman" panose="02020603050405020304" pitchFamily="18" charset="0"/>
              </a:rPr>
              <a:t>MONGUE YOSSI Yves </a:t>
            </a:r>
          </a:p>
          <a:p>
            <a:endParaRPr lang="fr-CM" sz="1050" dirty="0">
              <a:solidFill>
                <a:schemeClr val="bg1"/>
              </a:solidFill>
            </a:endParaRPr>
          </a:p>
          <a:p>
            <a:endParaRPr lang="fr-CM" sz="1050" dirty="0">
              <a:solidFill>
                <a:schemeClr val="bg1"/>
              </a:solidFill>
              <a:latin typeface="Times New Roman" panose="02020603050405020304" pitchFamily="18" charset="0"/>
              <a:cs typeface="Times New Roman" panose="02020603050405020304" pitchFamily="18" charset="0"/>
            </a:endParaRPr>
          </a:p>
          <a:p>
            <a:r>
              <a:rPr lang="fr-CM" sz="1050" dirty="0">
                <a:solidFill>
                  <a:schemeClr val="bg1"/>
                </a:solidFill>
                <a:latin typeface="Times New Roman" panose="02020603050405020304" pitchFamily="18" charset="0"/>
                <a:cs typeface="Times New Roman" panose="02020603050405020304" pitchFamily="18" charset="0"/>
              </a:rPr>
              <a:t>Étudiants en M1 SSI</a:t>
            </a:r>
          </a:p>
          <a:p>
            <a:endParaRPr lang="fr-CM" sz="1050" dirty="0"/>
          </a:p>
          <a:p>
            <a:endParaRPr lang="fr-CM" dirty="0"/>
          </a:p>
        </p:txBody>
      </p:sp>
      <p:sp>
        <p:nvSpPr>
          <p:cNvPr id="31" name="ZoneTexte 30"/>
          <p:cNvSpPr txBox="1"/>
          <p:nvPr/>
        </p:nvSpPr>
        <p:spPr>
          <a:xfrm>
            <a:off x="5330554" y="3852422"/>
            <a:ext cx="5567680" cy="276999"/>
          </a:xfrm>
          <a:prstGeom prst="rect">
            <a:avLst/>
          </a:prstGeom>
          <a:noFill/>
        </p:spPr>
        <p:txBody>
          <a:bodyPr wrap="square" rtlCol="0">
            <a:spAutoFit/>
          </a:bodyPr>
          <a:lstStyle/>
          <a:p>
            <a:r>
              <a:rPr lang="fr-FR" sz="1200" b="1" dirty="0">
                <a:solidFill>
                  <a:schemeClr val="bg1"/>
                </a:solidFill>
                <a:latin typeface="Times New Roman" panose="02020603050405020304" pitchFamily="18" charset="0"/>
                <a:cs typeface="Times New Roman" panose="02020603050405020304" pitchFamily="18" charset="0"/>
              </a:rPr>
              <a:t>Sous la supervision de : M. NGUIMBUS Emmanuel</a:t>
            </a:r>
            <a:endParaRPr lang="en-US" sz="12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01  ·  Plan du Cahier de Conception</a:t>
            </a:r>
            <a:endParaRPr lang="en-US" sz="2200" dirty="0"/>
          </a:p>
        </p:txBody>
      </p:sp>
      <p:sp>
        <p:nvSpPr>
          <p:cNvPr id="5" name="Shape 3"/>
          <p:cNvSpPr/>
          <p:nvPr/>
        </p:nvSpPr>
        <p:spPr>
          <a:xfrm>
            <a:off x="233668" y="1904096"/>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6" name="Shape 4"/>
          <p:cNvSpPr/>
          <p:nvPr/>
        </p:nvSpPr>
        <p:spPr>
          <a:xfrm>
            <a:off x="233668" y="1920976"/>
            <a:ext cx="475488" cy="877824"/>
          </a:xfrm>
          <a:prstGeom prst="rect">
            <a:avLst/>
          </a:prstGeom>
          <a:solidFill>
            <a:srgbClr val="1455A4"/>
          </a:solidFill>
          <a:ln/>
        </p:spPr>
      </p:sp>
      <p:sp>
        <p:nvSpPr>
          <p:cNvPr id="7" name="Text 5"/>
          <p:cNvSpPr/>
          <p:nvPr/>
        </p:nvSpPr>
        <p:spPr>
          <a:xfrm>
            <a:off x="233668" y="1904096"/>
            <a:ext cx="475488" cy="877824"/>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8" name="Text 6"/>
          <p:cNvSpPr/>
          <p:nvPr/>
        </p:nvSpPr>
        <p:spPr>
          <a:xfrm>
            <a:off x="745732" y="2171700"/>
            <a:ext cx="2212848" cy="320040"/>
          </a:xfrm>
          <a:prstGeom prst="rect">
            <a:avLst/>
          </a:prstGeom>
          <a:noFill/>
          <a:ln/>
        </p:spPr>
        <p:txBody>
          <a:bodyPr wrap="square" lIns="0" tIns="0" rIns="0" bIns="0" rtlCol="0" anchor="ctr"/>
          <a:lstStyle/>
          <a:p>
            <a:pPr marL="0" indent="0" algn="ctr">
              <a:buNone/>
            </a:pPr>
            <a:r>
              <a:rPr lang="en-US" sz="950" b="1" dirty="0">
                <a:solidFill>
                  <a:srgbClr val="0B1F35"/>
                </a:solidFill>
              </a:rPr>
              <a:t>Contexte &amp; Objectifs</a:t>
            </a:r>
            <a:endParaRPr lang="en-US" sz="950" dirty="0"/>
          </a:p>
        </p:txBody>
      </p:sp>
      <p:sp>
        <p:nvSpPr>
          <p:cNvPr id="15" name="Shape 13"/>
          <p:cNvSpPr/>
          <p:nvPr/>
        </p:nvSpPr>
        <p:spPr>
          <a:xfrm>
            <a:off x="6127014" y="1904096"/>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16" name="Shape 14"/>
          <p:cNvSpPr/>
          <p:nvPr/>
        </p:nvSpPr>
        <p:spPr>
          <a:xfrm>
            <a:off x="6127014" y="1904096"/>
            <a:ext cx="475488" cy="877824"/>
          </a:xfrm>
          <a:prstGeom prst="rect">
            <a:avLst/>
          </a:prstGeom>
          <a:solidFill>
            <a:srgbClr val="1455A4"/>
          </a:solidFill>
          <a:ln/>
        </p:spPr>
      </p:sp>
      <p:sp>
        <p:nvSpPr>
          <p:cNvPr id="17" name="Text 15"/>
          <p:cNvSpPr/>
          <p:nvPr/>
        </p:nvSpPr>
        <p:spPr>
          <a:xfrm>
            <a:off x="6127014" y="1904096"/>
            <a:ext cx="475488" cy="877824"/>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18" name="Text 16"/>
          <p:cNvSpPr/>
          <p:nvPr/>
        </p:nvSpPr>
        <p:spPr>
          <a:xfrm>
            <a:off x="7057292" y="2228141"/>
            <a:ext cx="2212848" cy="320040"/>
          </a:xfrm>
          <a:prstGeom prst="rect">
            <a:avLst/>
          </a:prstGeom>
          <a:noFill/>
          <a:ln/>
        </p:spPr>
        <p:txBody>
          <a:bodyPr wrap="square" lIns="0" tIns="0" rIns="0" bIns="0" rtlCol="0" anchor="ctr"/>
          <a:lstStyle/>
          <a:p>
            <a:pPr marL="0" indent="0">
              <a:buNone/>
            </a:pPr>
            <a:r>
              <a:rPr lang="en-US" sz="950" b="1" dirty="0">
                <a:solidFill>
                  <a:srgbClr val="0B1F35"/>
                </a:solidFill>
              </a:rPr>
              <a:t>Diagramme de Classes</a:t>
            </a:r>
            <a:endParaRPr lang="en-US" sz="950" dirty="0"/>
          </a:p>
        </p:txBody>
      </p:sp>
      <p:sp>
        <p:nvSpPr>
          <p:cNvPr id="20" name="Shape 18"/>
          <p:cNvSpPr/>
          <p:nvPr/>
        </p:nvSpPr>
        <p:spPr>
          <a:xfrm>
            <a:off x="3218649" y="968449"/>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21" name="Shape 19"/>
          <p:cNvSpPr/>
          <p:nvPr/>
        </p:nvSpPr>
        <p:spPr>
          <a:xfrm>
            <a:off x="3182150" y="958411"/>
            <a:ext cx="475488" cy="877824"/>
          </a:xfrm>
          <a:prstGeom prst="rect">
            <a:avLst/>
          </a:prstGeom>
          <a:solidFill>
            <a:srgbClr val="1455A4"/>
          </a:solidFill>
          <a:ln/>
        </p:spPr>
      </p:sp>
      <p:sp>
        <p:nvSpPr>
          <p:cNvPr id="22" name="Text 20"/>
          <p:cNvSpPr/>
          <p:nvPr/>
        </p:nvSpPr>
        <p:spPr>
          <a:xfrm>
            <a:off x="3203677" y="928116"/>
            <a:ext cx="475487" cy="877824"/>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3" name="Text 21"/>
          <p:cNvSpPr/>
          <p:nvPr/>
        </p:nvSpPr>
        <p:spPr>
          <a:xfrm>
            <a:off x="3583494" y="1231683"/>
            <a:ext cx="2212848" cy="320040"/>
          </a:xfrm>
          <a:prstGeom prst="rect">
            <a:avLst/>
          </a:prstGeom>
          <a:noFill/>
          <a:ln/>
        </p:spPr>
        <p:txBody>
          <a:bodyPr wrap="square" lIns="0" tIns="0" rIns="0" bIns="0" rtlCol="0" anchor="ctr"/>
          <a:lstStyle/>
          <a:p>
            <a:pPr marL="0" indent="0" algn="ctr">
              <a:buNone/>
            </a:pPr>
            <a:r>
              <a:rPr lang="en-US" sz="950" b="1" dirty="0">
                <a:solidFill>
                  <a:srgbClr val="0B1F35"/>
                </a:solidFill>
              </a:rPr>
              <a:t>Périmetre fonctionnel</a:t>
            </a:r>
            <a:endParaRPr lang="en-US" sz="950" dirty="0"/>
          </a:p>
        </p:txBody>
      </p:sp>
      <p:sp>
        <p:nvSpPr>
          <p:cNvPr id="30" name="Shape 28"/>
          <p:cNvSpPr/>
          <p:nvPr/>
        </p:nvSpPr>
        <p:spPr>
          <a:xfrm>
            <a:off x="233668" y="3011885"/>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31" name="Shape 29"/>
          <p:cNvSpPr/>
          <p:nvPr/>
        </p:nvSpPr>
        <p:spPr>
          <a:xfrm>
            <a:off x="233668" y="2998921"/>
            <a:ext cx="475488" cy="877824"/>
          </a:xfrm>
          <a:prstGeom prst="rect">
            <a:avLst/>
          </a:prstGeom>
          <a:solidFill>
            <a:srgbClr val="1455A4"/>
          </a:solidFill>
          <a:ln/>
        </p:spPr>
      </p:sp>
      <p:sp>
        <p:nvSpPr>
          <p:cNvPr id="32" name="Text 30"/>
          <p:cNvSpPr/>
          <p:nvPr/>
        </p:nvSpPr>
        <p:spPr>
          <a:xfrm>
            <a:off x="6167132" y="1939477"/>
            <a:ext cx="475488" cy="877824"/>
          </a:xfrm>
          <a:prstGeom prst="rect">
            <a:avLst/>
          </a:prstGeom>
          <a:noFill/>
          <a:ln/>
        </p:spPr>
        <p:txBody>
          <a:bodyPr wrap="square" lIns="0" tIns="0" rIns="0" bIns="0" rtlCol="0" anchor="ctr"/>
          <a:lstStyle/>
          <a:p>
            <a:pPr marL="0" indent="0" algn="ctr">
              <a:buNone/>
            </a:pPr>
            <a:endParaRPr lang="en-US" sz="1300" dirty="0"/>
          </a:p>
        </p:txBody>
      </p:sp>
      <p:sp>
        <p:nvSpPr>
          <p:cNvPr id="33" name="Text 31"/>
          <p:cNvSpPr/>
          <p:nvPr/>
        </p:nvSpPr>
        <p:spPr>
          <a:xfrm>
            <a:off x="636004" y="3299194"/>
            <a:ext cx="2212848" cy="320040"/>
          </a:xfrm>
          <a:prstGeom prst="rect">
            <a:avLst/>
          </a:prstGeom>
          <a:noFill/>
          <a:ln/>
        </p:spPr>
        <p:txBody>
          <a:bodyPr wrap="square" lIns="0" tIns="0" rIns="0" bIns="0" rtlCol="0" anchor="ctr"/>
          <a:lstStyle/>
          <a:p>
            <a:pPr marL="0" indent="0" algn="ctr">
              <a:buNone/>
            </a:pPr>
            <a:r>
              <a:rPr lang="en-US" sz="950" b="1" dirty="0"/>
              <a:t>CONCLUSION</a:t>
            </a:r>
          </a:p>
        </p:txBody>
      </p:sp>
      <p:sp>
        <p:nvSpPr>
          <p:cNvPr id="35" name="Shape 33"/>
          <p:cNvSpPr/>
          <p:nvPr/>
        </p:nvSpPr>
        <p:spPr>
          <a:xfrm>
            <a:off x="3218649" y="1912365"/>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36" name="Shape 34"/>
          <p:cNvSpPr/>
          <p:nvPr/>
        </p:nvSpPr>
        <p:spPr>
          <a:xfrm>
            <a:off x="3189062" y="1926914"/>
            <a:ext cx="475488" cy="877824"/>
          </a:xfrm>
          <a:prstGeom prst="rect">
            <a:avLst/>
          </a:prstGeom>
          <a:solidFill>
            <a:srgbClr val="1455A4"/>
          </a:solidFill>
          <a:ln/>
        </p:spPr>
      </p:sp>
      <p:sp>
        <p:nvSpPr>
          <p:cNvPr id="37" name="Text 35"/>
          <p:cNvSpPr/>
          <p:nvPr/>
        </p:nvSpPr>
        <p:spPr>
          <a:xfrm>
            <a:off x="3218650" y="1934455"/>
            <a:ext cx="468576" cy="877824"/>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38" name="Text 36"/>
          <p:cNvSpPr/>
          <p:nvPr/>
        </p:nvSpPr>
        <p:spPr>
          <a:xfrm>
            <a:off x="3759687" y="2236499"/>
            <a:ext cx="2212848" cy="320040"/>
          </a:xfrm>
          <a:prstGeom prst="rect">
            <a:avLst/>
          </a:prstGeom>
          <a:noFill/>
          <a:ln/>
        </p:spPr>
        <p:txBody>
          <a:bodyPr wrap="square" lIns="0" tIns="0" rIns="0" bIns="0" rtlCol="0" anchor="ctr"/>
          <a:lstStyle/>
          <a:p>
            <a:pPr marL="0" indent="0" algn="ctr">
              <a:buNone/>
            </a:pPr>
            <a:r>
              <a:rPr lang="en-US" sz="950" b="1" dirty="0">
                <a:solidFill>
                  <a:srgbClr val="0B1F35"/>
                </a:solidFill>
              </a:rPr>
              <a:t>Diagramme de Séquence de enroler un utilisateur  </a:t>
            </a:r>
            <a:endParaRPr lang="en-US" sz="950" dirty="0"/>
          </a:p>
        </p:txBody>
      </p:sp>
      <p:sp>
        <p:nvSpPr>
          <p:cNvPr id="50" name="Shape 48"/>
          <p:cNvSpPr/>
          <p:nvPr/>
        </p:nvSpPr>
        <p:spPr>
          <a:xfrm>
            <a:off x="6127014" y="941357"/>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51" name="Shape 49"/>
          <p:cNvSpPr/>
          <p:nvPr/>
        </p:nvSpPr>
        <p:spPr>
          <a:xfrm>
            <a:off x="6105488" y="941357"/>
            <a:ext cx="475488" cy="877824"/>
          </a:xfrm>
          <a:prstGeom prst="rect">
            <a:avLst/>
          </a:prstGeom>
          <a:solidFill>
            <a:srgbClr val="1455A4"/>
          </a:solidFill>
          <a:ln/>
        </p:spPr>
      </p:sp>
      <p:sp>
        <p:nvSpPr>
          <p:cNvPr id="52" name="Text 50"/>
          <p:cNvSpPr/>
          <p:nvPr/>
        </p:nvSpPr>
        <p:spPr>
          <a:xfrm>
            <a:off x="6147054" y="941357"/>
            <a:ext cx="475488" cy="877824"/>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53" name="Text 51"/>
          <p:cNvSpPr/>
          <p:nvPr/>
        </p:nvSpPr>
        <p:spPr>
          <a:xfrm>
            <a:off x="6639519" y="1241013"/>
            <a:ext cx="2212848" cy="320040"/>
          </a:xfrm>
          <a:prstGeom prst="rect">
            <a:avLst/>
          </a:prstGeom>
          <a:noFill/>
          <a:ln/>
        </p:spPr>
        <p:txBody>
          <a:bodyPr wrap="square" lIns="0" tIns="0" rIns="0" bIns="0" rtlCol="0" anchor="ctr"/>
          <a:lstStyle/>
          <a:p>
            <a:pPr algn="ctr"/>
            <a:r>
              <a:rPr lang="en-US" sz="950" b="1" dirty="0">
                <a:solidFill>
                  <a:srgbClr val="0B1F35"/>
                </a:solidFill>
              </a:rPr>
              <a:t>Diagramme de sequence de S’authentifier par reconnaissance faciale</a:t>
            </a:r>
            <a:endParaRPr lang="en-US" sz="950" dirty="0"/>
          </a:p>
        </p:txBody>
      </p:sp>
      <p:sp>
        <p:nvSpPr>
          <p:cNvPr id="60" name="Shape 58"/>
          <p:cNvSpPr/>
          <p:nvPr/>
        </p:nvSpPr>
        <p:spPr>
          <a:xfrm>
            <a:off x="233668" y="947485"/>
            <a:ext cx="2788920" cy="877824"/>
          </a:xfrm>
          <a:prstGeom prst="rect">
            <a:avLst/>
          </a:prstGeom>
          <a:solidFill>
            <a:srgbClr val="FFFFFF"/>
          </a:solidFill>
          <a:ln w="6350">
            <a:solidFill>
              <a:srgbClr val="D4DDE8"/>
            </a:solidFill>
            <a:prstDash val="solid"/>
          </a:ln>
          <a:effectLst>
            <a:outerShdw blurRad="88900" dist="38100" dir="8100000" algn="bl" rotWithShape="0">
              <a:srgbClr val="000000">
                <a:alpha val="13000"/>
              </a:srgbClr>
            </a:outerShdw>
          </a:effectLst>
        </p:spPr>
      </p:sp>
      <p:sp>
        <p:nvSpPr>
          <p:cNvPr id="61" name="Shape 59"/>
          <p:cNvSpPr/>
          <p:nvPr/>
        </p:nvSpPr>
        <p:spPr>
          <a:xfrm>
            <a:off x="233668" y="947485"/>
            <a:ext cx="475488" cy="877824"/>
          </a:xfrm>
          <a:prstGeom prst="rect">
            <a:avLst/>
          </a:prstGeom>
          <a:solidFill>
            <a:srgbClr val="1455A4"/>
          </a:solidFill>
          <a:ln/>
        </p:spPr>
        <p:txBody>
          <a:bodyPr/>
          <a:lstStyle/>
          <a:p>
            <a:endParaRPr lang="fr-CM" dirty="0"/>
          </a:p>
        </p:txBody>
      </p:sp>
      <p:sp>
        <p:nvSpPr>
          <p:cNvPr id="62" name="Text 60"/>
          <p:cNvSpPr/>
          <p:nvPr/>
        </p:nvSpPr>
        <p:spPr>
          <a:xfrm>
            <a:off x="233668" y="947485"/>
            <a:ext cx="475488" cy="877824"/>
          </a:xfrm>
          <a:prstGeom prst="rect">
            <a:avLst/>
          </a:prstGeom>
          <a:noFill/>
          <a:ln/>
        </p:spPr>
        <p:txBody>
          <a:bodyPr wrap="square" lIns="0" tIns="0" rIns="0" bIns="0" rtlCol="0" anchor="ctr"/>
          <a:lstStyle/>
          <a:p>
            <a:pPr marL="0" indent="0" algn="ctr">
              <a:buNone/>
            </a:pPr>
            <a:endParaRPr lang="en-US" sz="1300" dirty="0"/>
          </a:p>
        </p:txBody>
      </p:sp>
      <p:sp>
        <p:nvSpPr>
          <p:cNvPr id="63" name="Text 61"/>
          <p:cNvSpPr/>
          <p:nvPr/>
        </p:nvSpPr>
        <p:spPr>
          <a:xfrm>
            <a:off x="717804" y="1273573"/>
            <a:ext cx="2212848" cy="320040"/>
          </a:xfrm>
          <a:prstGeom prst="rect">
            <a:avLst/>
          </a:prstGeom>
          <a:noFill/>
          <a:ln/>
        </p:spPr>
        <p:txBody>
          <a:bodyPr wrap="square" lIns="0" tIns="0" rIns="0" bIns="0" rtlCol="0" anchor="ctr"/>
          <a:lstStyle/>
          <a:p>
            <a:pPr marL="0" indent="0" algn="ctr">
              <a:buNone/>
            </a:pPr>
            <a:r>
              <a:rPr lang="en-US" sz="950" b="1" dirty="0"/>
              <a:t>INTRODUCTION</a:t>
            </a:r>
          </a:p>
        </p:txBody>
      </p:sp>
      <p:sp>
        <p:nvSpPr>
          <p:cNvPr id="65" name="Shape 63"/>
          <p:cNvSpPr/>
          <p:nvPr/>
        </p:nvSpPr>
        <p:spPr>
          <a:xfrm>
            <a:off x="0" y="4846320"/>
            <a:ext cx="9144000" cy="297180"/>
          </a:xfrm>
          <a:prstGeom prst="rect">
            <a:avLst/>
          </a:prstGeom>
          <a:solidFill>
            <a:srgbClr val="0B1F35"/>
          </a:solidFill>
          <a:ln/>
        </p:spPr>
      </p:sp>
      <p:sp>
        <p:nvSpPr>
          <p:cNvPr id="66" name="Text 64"/>
          <p:cNvSpPr/>
          <p:nvPr/>
        </p:nvSpPr>
        <p:spPr>
          <a:xfrm>
            <a:off x="274320" y="4882896"/>
            <a:ext cx="8595360" cy="201168"/>
          </a:xfrm>
          <a:prstGeom prst="rect">
            <a:avLst/>
          </a:prstGeom>
          <a:noFill/>
          <a:ln/>
        </p:spPr>
        <p:txBody>
          <a:bodyPr wrap="square" lIns="0" tIns="0" rIns="0" bIns="0" rtlCol="0" anchor="ctr"/>
          <a:lstStyle/>
          <a:p>
            <a:pPr marL="0" indent="0">
              <a:buNone/>
            </a:pPr>
            <a:r>
              <a:rPr lang="en-US" sz="750" dirty="0">
                <a:solidFill>
                  <a:srgbClr val="90CAF9"/>
                </a:solidFill>
              </a:rPr>
              <a:t>Cahier de Conception — Système Biométrique  ·  Plan</a:t>
            </a:r>
            <a:endParaRPr lang="en-US" sz="750" dirty="0"/>
          </a:p>
        </p:txBody>
      </p:sp>
      <p:sp>
        <p:nvSpPr>
          <p:cNvPr id="71" name="ZoneTexte 70"/>
          <p:cNvSpPr txBox="1"/>
          <p:nvPr/>
        </p:nvSpPr>
        <p:spPr>
          <a:xfrm>
            <a:off x="274320" y="1231683"/>
            <a:ext cx="554281" cy="553998"/>
          </a:xfrm>
          <a:prstGeom prst="rect">
            <a:avLst/>
          </a:prstGeom>
          <a:noFill/>
        </p:spPr>
        <p:txBody>
          <a:bodyPr wrap="square" rtlCol="0">
            <a:spAutoFit/>
          </a:bodyPr>
          <a:lstStyle/>
          <a:p>
            <a:r>
              <a:rPr lang="en-US" sz="1200" b="1" dirty="0">
                <a:solidFill>
                  <a:srgbClr val="FFFFFF"/>
                </a:solidFill>
              </a:rPr>
              <a:t>01</a:t>
            </a:r>
            <a:endParaRPr lang="en-US" sz="1200" dirty="0"/>
          </a:p>
          <a:p>
            <a:endParaRPr lang="fr-CM" dirty="0"/>
          </a:p>
        </p:txBody>
      </p:sp>
      <p:sp>
        <p:nvSpPr>
          <p:cNvPr id="72" name="ZoneTexte 71"/>
          <p:cNvSpPr txBox="1"/>
          <p:nvPr/>
        </p:nvSpPr>
        <p:spPr>
          <a:xfrm>
            <a:off x="263138" y="3281752"/>
            <a:ext cx="398260" cy="276999"/>
          </a:xfrm>
          <a:prstGeom prst="rect">
            <a:avLst/>
          </a:prstGeom>
          <a:noFill/>
        </p:spPr>
        <p:txBody>
          <a:bodyPr wrap="square" rtlCol="0">
            <a:spAutoFit/>
          </a:bodyPr>
          <a:lstStyle/>
          <a:p>
            <a:pPr algn="ctr"/>
            <a:r>
              <a:rPr lang="en-US" sz="1200" b="1" dirty="0">
                <a:solidFill>
                  <a:srgbClr val="FFFFFF"/>
                </a:solidFill>
              </a:rPr>
              <a:t>07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Shape 3"/>
          <p:cNvSpPr/>
          <p:nvPr/>
        </p:nvSpPr>
        <p:spPr>
          <a:xfrm>
            <a:off x="274320" y="960120"/>
            <a:ext cx="8595360" cy="2421034"/>
          </a:xfrm>
          <a:prstGeom prst="rect">
            <a:avLst/>
          </a:prstGeom>
          <a:solidFill>
            <a:srgbClr val="0B1F35"/>
          </a:solidFill>
          <a:ln/>
          <a:effectLst>
            <a:outerShdw blurRad="88900" dist="38100" dir="8100000" algn="bl" rotWithShape="0">
              <a:srgbClr val="000000">
                <a:alpha val="13000"/>
              </a:srgbClr>
            </a:outerShdw>
          </a:effectLst>
        </p:spPr>
      </p:sp>
      <p:sp>
        <p:nvSpPr>
          <p:cNvPr id="5"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01 - INTRODUCTION</a:t>
            </a:r>
            <a:endParaRPr lang="en-US" sz="2200" dirty="0"/>
          </a:p>
        </p:txBody>
      </p:sp>
      <p:sp>
        <p:nvSpPr>
          <p:cNvPr id="6" name="ZoneTexte 5"/>
          <p:cNvSpPr txBox="1"/>
          <p:nvPr/>
        </p:nvSpPr>
        <p:spPr>
          <a:xfrm>
            <a:off x="581246" y="1111614"/>
            <a:ext cx="8109097" cy="2062103"/>
          </a:xfrm>
          <a:prstGeom prst="rect">
            <a:avLst/>
          </a:prstGeom>
          <a:noFill/>
        </p:spPr>
        <p:txBody>
          <a:bodyPr wrap="square" rtlCol="0">
            <a:spAutoFit/>
          </a:bodyPr>
          <a:lstStyle/>
          <a:p>
            <a:pPr algn="just"/>
            <a:r>
              <a:rPr lang="fr-FR" sz="1600" dirty="0">
                <a:solidFill>
                  <a:schemeClr val="bg1"/>
                </a:solidFill>
              </a:rPr>
              <a:t>La phase de conception constitue le pivot de notre démarche d’ingénierie, faisant directement suite à l'analyse rigoureuse des besoins fonctionnels et de sécurité. Son objectif est de traduire ces exigences abstraites en une architecture logicielle, structurelle et logique concrète, servant de plan directeur avant l’étape de codage. Nous détaillons ici l'organisation statique du système, qui structure la base de données et les règles métier, ainsi que sa logique dynamique, qui orchestre la chronologie des flux entre l'interface, la webcam et le serveur. Cette double approche garantit une intégration fluide des contre-mesures de sécurité, telles que la détection de vivacité et la traçabilité des accès, indispensables à la robustesse de l'application.</a:t>
            </a:r>
            <a:endParaRPr lang="fr-CM" sz="1600" dirty="0">
              <a:solidFill>
                <a:schemeClr val="bg1"/>
              </a:solidFill>
            </a:endParaRPr>
          </a:p>
        </p:txBody>
      </p:sp>
    </p:spTree>
    <p:extLst>
      <p:ext uri="{BB962C8B-B14F-4D97-AF65-F5344CB8AC3E}">
        <p14:creationId xmlns:p14="http://schemas.microsoft.com/office/powerpoint/2010/main" val="371421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02  ·  Contexte &amp; Objectifs de Conception</a:t>
            </a:r>
            <a:endParaRPr lang="en-US" sz="2200" dirty="0"/>
          </a:p>
        </p:txBody>
      </p:sp>
      <p:sp>
        <p:nvSpPr>
          <p:cNvPr id="6" name="Text 4"/>
          <p:cNvSpPr/>
          <p:nvPr/>
        </p:nvSpPr>
        <p:spPr>
          <a:xfrm>
            <a:off x="411480" y="987552"/>
            <a:ext cx="8321040" cy="594360"/>
          </a:xfrm>
          <a:prstGeom prst="rect">
            <a:avLst/>
          </a:prstGeom>
          <a:noFill/>
          <a:ln/>
        </p:spPr>
        <p:txBody>
          <a:bodyPr wrap="square" lIns="0" tIns="0" rIns="0" bIns="0" rtlCol="0" anchor="ctr"/>
          <a:lstStyle/>
          <a:p>
            <a:pPr marL="0" indent="0">
              <a:buNone/>
            </a:pPr>
            <a:r>
              <a:rPr lang="en-US" sz="900" dirty="0">
                <a:solidFill>
                  <a:srgbClr val="D0E8FF"/>
                </a:solidFill>
              </a:rPr>
              <a:t>Les mécanismes d'authentification classiques (mot de passe, PIN) présentent des vulnérabilités structurelles. Ce projet conçoit un système complet d'authentification biométrique par reconnaissance faciale intégrant un module d'attaque (spoofing) et un module de défense (anti-spoofing/liveness), avec chiffrement AES-256 de toutes les données biométriques et portabilité Ubuntu → Windows.</a:t>
            </a:r>
            <a:endParaRPr lang="en-US" sz="900" dirty="0"/>
          </a:p>
        </p:txBody>
      </p:sp>
      <p:sp>
        <p:nvSpPr>
          <p:cNvPr id="9" name="Text 7"/>
          <p:cNvSpPr/>
          <p:nvPr/>
        </p:nvSpPr>
        <p:spPr>
          <a:xfrm>
            <a:off x="329184" y="1737360"/>
            <a:ext cx="2633472" cy="347472"/>
          </a:xfrm>
          <a:prstGeom prst="rect">
            <a:avLst/>
          </a:prstGeom>
          <a:noFill/>
          <a:ln/>
        </p:spPr>
        <p:txBody>
          <a:bodyPr wrap="square" lIns="0" tIns="0" rIns="0" bIns="0" rtlCol="0" anchor="ctr"/>
          <a:lstStyle/>
          <a:p>
            <a:pPr marL="0" indent="0">
              <a:buNone/>
            </a:pPr>
            <a:r>
              <a:rPr lang="en-US" sz="900" b="1" dirty="0">
                <a:solidFill>
                  <a:srgbClr val="FFFFFF"/>
                </a:solidFill>
              </a:rPr>
              <a:t>Objectifs Fonctionnels</a:t>
            </a:r>
            <a:endParaRPr lang="en-US" sz="900" dirty="0"/>
          </a:p>
        </p:txBody>
      </p:sp>
      <p:sp>
        <p:nvSpPr>
          <p:cNvPr id="13" name="Text 11"/>
          <p:cNvSpPr/>
          <p:nvPr/>
        </p:nvSpPr>
        <p:spPr>
          <a:xfrm>
            <a:off x="3209544" y="1737360"/>
            <a:ext cx="2633472" cy="347472"/>
          </a:xfrm>
          <a:prstGeom prst="rect">
            <a:avLst/>
          </a:prstGeom>
          <a:noFill/>
          <a:ln/>
        </p:spPr>
        <p:txBody>
          <a:bodyPr wrap="square" lIns="0" tIns="0" rIns="0" bIns="0" rtlCol="0" anchor="ctr"/>
          <a:lstStyle/>
          <a:p>
            <a:pPr marL="0" indent="0">
              <a:buNone/>
            </a:pPr>
            <a:r>
              <a:rPr lang="en-US" sz="900" b="1" dirty="0">
                <a:solidFill>
                  <a:srgbClr val="FFFFFF"/>
                </a:solidFill>
              </a:rPr>
              <a:t>Objectifs Sécurité</a:t>
            </a:r>
            <a:endParaRPr lang="en-US" sz="900" dirty="0"/>
          </a:p>
        </p:txBody>
      </p:sp>
      <p:sp>
        <p:nvSpPr>
          <p:cNvPr id="17" name="Text 15"/>
          <p:cNvSpPr/>
          <p:nvPr/>
        </p:nvSpPr>
        <p:spPr>
          <a:xfrm>
            <a:off x="6089904" y="1737360"/>
            <a:ext cx="2633472" cy="347472"/>
          </a:xfrm>
          <a:prstGeom prst="rect">
            <a:avLst/>
          </a:prstGeom>
          <a:noFill/>
          <a:ln/>
        </p:spPr>
        <p:txBody>
          <a:bodyPr wrap="square" lIns="0" tIns="0" rIns="0" bIns="0" rtlCol="0" anchor="ctr"/>
          <a:lstStyle/>
          <a:p>
            <a:pPr marL="0" indent="0">
              <a:buNone/>
            </a:pPr>
            <a:r>
              <a:rPr lang="en-US" sz="900" b="1" dirty="0">
                <a:solidFill>
                  <a:srgbClr val="FFFFFF"/>
                </a:solidFill>
              </a:rPr>
              <a:t>Objectifs Qualité</a:t>
            </a:r>
            <a:endParaRPr lang="en-US" sz="900" dirty="0"/>
          </a:p>
        </p:txBody>
      </p:sp>
      <p:sp>
        <p:nvSpPr>
          <p:cNvPr id="22" name="Text 20"/>
          <p:cNvSpPr/>
          <p:nvPr/>
        </p:nvSpPr>
        <p:spPr>
          <a:xfrm>
            <a:off x="1371600" y="4279392"/>
            <a:ext cx="1783080" cy="310896"/>
          </a:xfrm>
          <a:prstGeom prst="rect">
            <a:avLst/>
          </a:prstGeom>
          <a:noFill/>
          <a:ln/>
        </p:spPr>
        <p:txBody>
          <a:bodyPr wrap="square" lIns="0" tIns="0" rIns="0" bIns="0" rtlCol="0" anchor="ctr"/>
          <a:lstStyle/>
          <a:p>
            <a:pPr marL="0" indent="0" algn="ctr">
              <a:buNone/>
            </a:pPr>
            <a:r>
              <a:rPr lang="en-US" sz="800" dirty="0">
                <a:solidFill>
                  <a:srgbClr val="FFFFFF"/>
                </a:solidFill>
              </a:rPr>
              <a:t>Utilisateur</a:t>
            </a:r>
            <a:endParaRPr lang="en-US" sz="800" dirty="0"/>
          </a:p>
        </p:txBody>
      </p:sp>
      <p:sp>
        <p:nvSpPr>
          <p:cNvPr id="24" name="Text 22"/>
          <p:cNvSpPr/>
          <p:nvPr/>
        </p:nvSpPr>
        <p:spPr>
          <a:xfrm>
            <a:off x="3291840" y="4279392"/>
            <a:ext cx="1783080" cy="310896"/>
          </a:xfrm>
          <a:prstGeom prst="rect">
            <a:avLst/>
          </a:prstGeom>
          <a:noFill/>
          <a:ln/>
        </p:spPr>
        <p:txBody>
          <a:bodyPr wrap="square" lIns="0" tIns="0" rIns="0" bIns="0" rtlCol="0" anchor="ctr"/>
          <a:lstStyle/>
          <a:p>
            <a:pPr marL="0" indent="0" algn="ctr">
              <a:buNone/>
            </a:pPr>
            <a:r>
              <a:rPr lang="en-US" sz="800" dirty="0">
                <a:solidFill>
                  <a:srgbClr val="FFFFFF"/>
                </a:solidFill>
              </a:rPr>
              <a:t>Administrateur</a:t>
            </a:r>
            <a:endParaRPr lang="en-US" sz="800" dirty="0"/>
          </a:p>
        </p:txBody>
      </p:sp>
      <p:sp>
        <p:nvSpPr>
          <p:cNvPr id="26" name="Text 24"/>
          <p:cNvSpPr/>
          <p:nvPr/>
        </p:nvSpPr>
        <p:spPr>
          <a:xfrm>
            <a:off x="5212080" y="4279392"/>
            <a:ext cx="1783080" cy="310896"/>
          </a:xfrm>
          <a:prstGeom prst="rect">
            <a:avLst/>
          </a:prstGeom>
          <a:noFill/>
          <a:ln/>
        </p:spPr>
        <p:txBody>
          <a:bodyPr wrap="square" lIns="0" tIns="0" rIns="0" bIns="0" rtlCol="0" anchor="ctr"/>
          <a:lstStyle/>
          <a:p>
            <a:pPr marL="0" indent="0" algn="ctr">
              <a:buNone/>
            </a:pPr>
            <a:r>
              <a:rPr lang="en-US" sz="800" dirty="0">
                <a:solidFill>
                  <a:srgbClr val="FFFFFF"/>
                </a:solidFill>
              </a:rPr>
              <a:t>Testeur / Attaquant</a:t>
            </a:r>
            <a:endParaRPr lang="en-US" sz="800" dirty="0"/>
          </a:p>
        </p:txBody>
      </p:sp>
      <p:sp>
        <p:nvSpPr>
          <p:cNvPr id="28" name="Text 26"/>
          <p:cNvSpPr/>
          <p:nvPr/>
        </p:nvSpPr>
        <p:spPr>
          <a:xfrm>
            <a:off x="7132320" y="4279392"/>
            <a:ext cx="1783080" cy="310896"/>
          </a:xfrm>
          <a:prstGeom prst="rect">
            <a:avLst/>
          </a:prstGeom>
          <a:noFill/>
          <a:ln/>
        </p:spPr>
        <p:txBody>
          <a:bodyPr wrap="square" lIns="0" tIns="0" rIns="0" bIns="0" rtlCol="0" anchor="ctr"/>
          <a:lstStyle/>
          <a:p>
            <a:pPr marL="0" indent="0" algn="ctr">
              <a:buNone/>
            </a:pPr>
            <a:r>
              <a:rPr lang="en-US" sz="800" dirty="0">
                <a:solidFill>
                  <a:srgbClr val="FFFFFF"/>
                </a:solidFill>
              </a:rPr>
              <a:t>Système (autonome)</a:t>
            </a:r>
            <a:endParaRPr lang="en-US" sz="800" dirty="0"/>
          </a:p>
        </p:txBody>
      </p:sp>
      <p:sp>
        <p:nvSpPr>
          <p:cNvPr id="29" name="Shape 27"/>
          <p:cNvSpPr/>
          <p:nvPr/>
        </p:nvSpPr>
        <p:spPr>
          <a:xfrm>
            <a:off x="0" y="4846320"/>
            <a:ext cx="9144000" cy="297180"/>
          </a:xfrm>
          <a:prstGeom prst="rect">
            <a:avLst/>
          </a:prstGeom>
          <a:solidFill>
            <a:srgbClr val="0B1F35"/>
          </a:solidFill>
          <a:ln/>
        </p:spPr>
      </p:sp>
      <p:sp>
        <p:nvSpPr>
          <p:cNvPr id="30" name="Text 28"/>
          <p:cNvSpPr/>
          <p:nvPr/>
        </p:nvSpPr>
        <p:spPr>
          <a:xfrm>
            <a:off x="274320" y="4882896"/>
            <a:ext cx="8595360" cy="201168"/>
          </a:xfrm>
          <a:prstGeom prst="rect">
            <a:avLst/>
          </a:prstGeom>
          <a:noFill/>
          <a:ln/>
        </p:spPr>
        <p:txBody>
          <a:bodyPr wrap="square" lIns="0" tIns="0" rIns="0" bIns="0" rtlCol="0" anchor="ctr"/>
          <a:lstStyle/>
          <a:p>
            <a:pPr marL="0" indent="0">
              <a:buNone/>
            </a:pPr>
            <a:r>
              <a:rPr lang="en-US" sz="750" dirty="0">
                <a:solidFill>
                  <a:srgbClr val="90CAF9"/>
                </a:solidFill>
              </a:rPr>
              <a:t>Cahier de Conception — Système Biométrique  ·  01 — Contexte &amp; Objectifs</a:t>
            </a:r>
            <a:endParaRPr lang="en-US" sz="750" dirty="0"/>
          </a:p>
        </p:txBody>
      </p:sp>
      <p:sp>
        <p:nvSpPr>
          <p:cNvPr id="31" name="Shape 9"/>
          <p:cNvSpPr/>
          <p:nvPr/>
        </p:nvSpPr>
        <p:spPr>
          <a:xfrm>
            <a:off x="31318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32" name="Text 10"/>
          <p:cNvSpPr/>
          <p:nvPr/>
        </p:nvSpPr>
        <p:spPr>
          <a:xfrm>
            <a:off x="365760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sécurité</a:t>
            </a:r>
            <a:endParaRPr lang="en-US" sz="1150" dirty="0"/>
          </a:p>
        </p:txBody>
      </p:sp>
      <p:sp>
        <p:nvSpPr>
          <p:cNvPr id="33" name="Shape 11"/>
          <p:cNvSpPr/>
          <p:nvPr/>
        </p:nvSpPr>
        <p:spPr>
          <a:xfrm>
            <a:off x="3291840" y="2377440"/>
            <a:ext cx="2468880" cy="11887"/>
          </a:xfrm>
          <a:prstGeom prst="rect">
            <a:avLst/>
          </a:prstGeom>
          <a:solidFill>
            <a:srgbClr val="CADCFC"/>
          </a:solidFill>
          <a:ln w="12700">
            <a:solidFill>
              <a:srgbClr val="CADCFC"/>
            </a:solidFill>
            <a:prstDash val="solid"/>
          </a:ln>
        </p:spPr>
      </p:sp>
      <p:sp>
        <p:nvSpPr>
          <p:cNvPr id="34" name="Text 12"/>
          <p:cNvSpPr/>
          <p:nvPr/>
        </p:nvSpPr>
        <p:spPr>
          <a:xfrm>
            <a:off x="329184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Résister aux attaques par photo et vidéo (spoofing)</a:t>
            </a:r>
            <a:endParaRPr lang="en-US" sz="1000" dirty="0"/>
          </a:p>
          <a:p>
            <a:pPr marL="342900" indent="-342900">
              <a:buSzPct val="100000"/>
              <a:buChar char="•"/>
            </a:pPr>
            <a:r>
              <a:rPr lang="en-US" sz="1000" dirty="0">
                <a:solidFill>
                  <a:srgbClr val="2A2A4A"/>
                </a:solidFill>
              </a:rPr>
              <a:t>Détecter la vivacité réelle (liveness detection)</a:t>
            </a:r>
            <a:endParaRPr lang="en-US" sz="1000" dirty="0"/>
          </a:p>
          <a:p>
            <a:pPr marL="342900" indent="-342900">
              <a:buSzPct val="100000"/>
              <a:buChar char="•"/>
            </a:pPr>
            <a:r>
              <a:rPr lang="en-US" sz="1000" dirty="0">
                <a:solidFill>
                  <a:srgbClr val="2A2A4A"/>
                </a:solidFill>
              </a:rPr>
              <a:t>Chiffrer toutes les données biométriques au repos</a:t>
            </a:r>
            <a:endParaRPr lang="en-US" sz="1000" dirty="0"/>
          </a:p>
        </p:txBody>
      </p:sp>
      <p:sp>
        <p:nvSpPr>
          <p:cNvPr id="38"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39" name="Text 4"/>
          <p:cNvSpPr/>
          <p:nvPr/>
        </p:nvSpPr>
        <p:spPr>
          <a:xfrm>
            <a:off x="457200" y="1148423"/>
            <a:ext cx="8321040" cy="457200"/>
          </a:xfrm>
          <a:prstGeom prst="rect">
            <a:avLst/>
          </a:prstGeom>
          <a:noFill/>
          <a:ln/>
        </p:spPr>
        <p:txBody>
          <a:bodyPr wrap="square" rtlCol="0" anchor="ctr"/>
          <a:lstStyle/>
          <a:p>
            <a:r>
              <a:rPr lang="fr-FR" sz="1200" dirty="0"/>
              <a:t>La réalisation de ce projet s'appuie sur des objectifs spécifiques. L'enjeu technique réside dans le développement d'algorithmes de détection de vivacité pour contrer le </a:t>
            </a:r>
            <a:r>
              <a:rPr lang="fr-FR" sz="1200" dirty="0" err="1"/>
              <a:t>spoofing</a:t>
            </a:r>
            <a:r>
              <a:rPr lang="fr-FR" sz="1200" dirty="0"/>
              <a:t>, le calibrage mathématique des seuils de décision et l'implémentation d'une couche cryptographique robuste pour sécuriser les empreintes biométriques. </a:t>
            </a:r>
            <a:endParaRPr lang="en-US" sz="1200" dirty="0"/>
          </a:p>
        </p:txBody>
      </p:sp>
      <p:sp>
        <p:nvSpPr>
          <p:cNvPr id="50" name="Shape 13"/>
          <p:cNvSpPr/>
          <p:nvPr/>
        </p:nvSpPr>
        <p:spPr>
          <a:xfrm>
            <a:off x="59893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51" name="Image 3" descr="preencoded.png"/>
          <p:cNvPicPr>
            <a:picLocks noChangeAspect="1"/>
          </p:cNvPicPr>
          <p:nvPr/>
        </p:nvPicPr>
        <p:blipFill>
          <a:blip r:embed="rId3"/>
          <a:stretch>
            <a:fillRect/>
          </a:stretch>
        </p:blipFill>
        <p:spPr>
          <a:xfrm>
            <a:off x="6126480" y="2039112"/>
            <a:ext cx="320040" cy="320040"/>
          </a:xfrm>
          <a:prstGeom prst="rect">
            <a:avLst/>
          </a:prstGeom>
        </p:spPr>
      </p:pic>
      <p:sp>
        <p:nvSpPr>
          <p:cNvPr id="52" name="Text 14"/>
          <p:cNvSpPr/>
          <p:nvPr/>
        </p:nvSpPr>
        <p:spPr>
          <a:xfrm>
            <a:off x="64922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gestion</a:t>
            </a:r>
            <a:endParaRPr lang="en-US" sz="1150" dirty="0"/>
          </a:p>
        </p:txBody>
      </p:sp>
      <p:sp>
        <p:nvSpPr>
          <p:cNvPr id="53" name="Text 16"/>
          <p:cNvSpPr/>
          <p:nvPr/>
        </p:nvSpPr>
        <p:spPr>
          <a:xfrm>
            <a:off x="612648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Gérer les profils utilisateurs (enregistrement, suppression)</a:t>
            </a:r>
            <a:endParaRPr lang="en-US" sz="1000" dirty="0"/>
          </a:p>
          <a:p>
            <a:pPr marL="342900" indent="-342900">
              <a:buSzPct val="100000"/>
              <a:buChar char="•"/>
            </a:pPr>
            <a:r>
              <a:rPr lang="en-US" sz="1000" dirty="0">
                <a:solidFill>
                  <a:srgbClr val="2A2A4A"/>
                </a:solidFill>
              </a:rPr>
              <a:t>Interface graphique claire et intuitive</a:t>
            </a:r>
            <a:endParaRPr lang="en-US" sz="1000" dirty="0"/>
          </a:p>
          <a:p>
            <a:pPr marL="342900" indent="-342900">
              <a:buSzPct val="100000"/>
              <a:buChar char="•"/>
            </a:pPr>
            <a:r>
              <a:rPr lang="en-US" sz="1000" dirty="0">
                <a:solidFill>
                  <a:srgbClr val="2A2A4A"/>
                </a:solidFill>
              </a:rPr>
              <a:t>Portabilité Ubuntu → Windows sans recompilation</a:t>
            </a:r>
            <a:endParaRPr lang="en-US" sz="1000" dirty="0"/>
          </a:p>
        </p:txBody>
      </p:sp>
      <p:sp>
        <p:nvSpPr>
          <p:cNvPr id="54" name="Shape 9"/>
          <p:cNvSpPr/>
          <p:nvPr/>
        </p:nvSpPr>
        <p:spPr>
          <a:xfrm>
            <a:off x="119174" y="1881329"/>
            <a:ext cx="284651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55" name="Image 2" descr="preencoded.png"/>
          <p:cNvPicPr>
            <a:picLocks noChangeAspect="1"/>
          </p:cNvPicPr>
          <p:nvPr/>
        </p:nvPicPr>
        <p:blipFill>
          <a:blip r:embed="rId4"/>
          <a:stretch>
            <a:fillRect/>
          </a:stretch>
        </p:blipFill>
        <p:spPr>
          <a:xfrm>
            <a:off x="297180" y="2039112"/>
            <a:ext cx="320040" cy="320040"/>
          </a:xfrm>
          <a:prstGeom prst="rect">
            <a:avLst/>
          </a:prstGeom>
        </p:spPr>
      </p:pic>
      <p:sp>
        <p:nvSpPr>
          <p:cNvPr id="56" name="Text 10"/>
          <p:cNvSpPr/>
          <p:nvPr/>
        </p:nvSpPr>
        <p:spPr>
          <a:xfrm>
            <a:off x="6629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applicatif</a:t>
            </a:r>
            <a:endParaRPr lang="en-US" sz="1150" dirty="0"/>
          </a:p>
        </p:txBody>
      </p:sp>
      <p:sp>
        <p:nvSpPr>
          <p:cNvPr id="57" name="Shape 11"/>
          <p:cNvSpPr/>
          <p:nvPr/>
        </p:nvSpPr>
        <p:spPr>
          <a:xfrm>
            <a:off x="297180" y="2377440"/>
            <a:ext cx="2468880" cy="11887"/>
          </a:xfrm>
          <a:prstGeom prst="rect">
            <a:avLst/>
          </a:prstGeom>
          <a:solidFill>
            <a:srgbClr val="CADCFC"/>
          </a:solidFill>
          <a:ln w="12700">
            <a:solidFill>
              <a:srgbClr val="CADCFC"/>
            </a:solidFill>
            <a:prstDash val="solid"/>
          </a:ln>
        </p:spPr>
      </p:sp>
      <p:sp>
        <p:nvSpPr>
          <p:cNvPr id="58" name="Rectangle 1"/>
          <p:cNvSpPr>
            <a:spLocks noChangeArrowheads="1"/>
          </p:cNvSpPr>
          <p:nvPr/>
        </p:nvSpPr>
        <p:spPr bwMode="auto">
          <a:xfrm rot="10800000" flipV="1">
            <a:off x="297180" y="2418001"/>
            <a:ext cx="217914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Développer</a:t>
            </a:r>
            <a:r>
              <a:rPr kumimoji="0" lang="en-US" altLang="en-US" sz="1000" b="0" i="0" u="none" strike="noStrike" cap="none" normalizeH="0" baseline="0" dirty="0">
                <a:ln>
                  <a:noFill/>
                </a:ln>
                <a:solidFill>
                  <a:schemeClr val="tx1"/>
                </a:solidFill>
                <a:effectLst/>
              </a:rPr>
              <a:t> un module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capture </a:t>
            </a:r>
            <a:r>
              <a:rPr kumimoji="0" lang="en-US" altLang="en-US" sz="1000" b="0" i="0" u="none" strike="noStrike" cap="none" normalizeH="0" baseline="0" dirty="0" err="1">
                <a:ln>
                  <a:noFill/>
                </a:ln>
                <a:solidFill>
                  <a:schemeClr val="tx1"/>
                </a:solidFill>
                <a:effectLst/>
              </a:rPr>
              <a:t>fluide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temps </a:t>
            </a:r>
            <a:r>
              <a:rPr kumimoji="0" lang="en-US" altLang="en-US" sz="1000" b="0" i="0" u="none" strike="noStrike" cap="none" normalizeH="0" baseline="0" dirty="0" err="1">
                <a:ln>
                  <a:noFill/>
                </a:ln>
                <a:solidFill>
                  <a:schemeClr val="tx1"/>
                </a:solidFill>
                <a:effectLst/>
              </a:rPr>
              <a:t>réel</a:t>
            </a:r>
            <a:r>
              <a:rPr kumimoji="0" lang="en-US" altLang="en-US" sz="1000" b="0" i="0" u="none" strike="noStrike" cap="none" normalizeH="0" baseline="0" dirty="0">
                <a:ln>
                  <a:noFill/>
                </a:ln>
                <a:solidFill>
                  <a:schemeClr val="tx1"/>
                </a:solidFill>
                <a:effectLst/>
              </a:rPr>
              <a:t> via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webcam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Mettre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place </a:t>
            </a:r>
            <a:r>
              <a:rPr kumimoji="0" lang="en-US" altLang="en-US" sz="1000" b="0" i="0" u="none" strike="noStrike" cap="none" normalizeH="0" baseline="0" dirty="0" err="1">
                <a:ln>
                  <a:noFill/>
                </a:ln>
                <a:solidFill>
                  <a:schemeClr val="tx1"/>
                </a:solidFill>
                <a:effectLst/>
              </a:rPr>
              <a:t>une</a:t>
            </a:r>
            <a:r>
              <a:rPr kumimoji="0" lang="en-US" altLang="en-US" sz="1000" b="0" i="0" u="none" strike="noStrike" cap="none" normalizeH="0" baseline="0" dirty="0">
                <a:ln>
                  <a:noFill/>
                </a:ln>
                <a:solidFill>
                  <a:schemeClr val="tx1"/>
                </a:solidFill>
                <a:effectLst/>
              </a:rPr>
              <a:t> base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données</a:t>
            </a:r>
            <a:r>
              <a:rPr kumimoji="0" lang="en-US" altLang="en-US" sz="1000" b="0" i="0" u="none" strike="noStrike" cap="none" normalizeH="0" baseline="0" dirty="0">
                <a:ln>
                  <a:noFill/>
                </a:ln>
                <a:solidFill>
                  <a:schemeClr val="tx1"/>
                </a:solidFill>
                <a:effectLst/>
              </a:rPr>
              <a:t> utilisateurs (ex: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PostgreSQL, SQLite) </a:t>
            </a:r>
            <a:r>
              <a:rPr kumimoji="0" lang="en-US" altLang="en-US" sz="1000" b="0" i="0" u="none" strike="noStrike" cap="none" normalizeH="0" baseline="0" dirty="0" err="1">
                <a:ln>
                  <a:noFill/>
                </a:ln>
                <a:solidFill>
                  <a:schemeClr val="tx1"/>
                </a:solidFill>
                <a:effectLst/>
              </a:rPr>
              <a:t>stockant</a:t>
            </a:r>
            <a:r>
              <a:rPr kumimoji="0" lang="en-US" altLang="en-US" sz="1000" b="0" i="0" u="none" strike="noStrike" cap="none" normalizeH="0" baseline="0" dirty="0">
                <a:ln>
                  <a:noFill/>
                </a:ln>
                <a:solidFill>
                  <a:schemeClr val="tx1"/>
                </a:solidFill>
                <a:effectLst/>
              </a:rPr>
              <a:t>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manière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sécurisée</a:t>
            </a:r>
            <a:r>
              <a:rPr kumimoji="0" lang="en-US" altLang="en-US" sz="1000" b="0" i="0" u="none" strike="noStrike" cap="none" normalizeH="0" baseline="0" dirty="0">
                <a:ln>
                  <a:noFill/>
                </a:ln>
                <a:solidFill>
                  <a:schemeClr val="tx1"/>
                </a:solidFill>
                <a:effectLst/>
              </a:rPr>
              <a:t> les </a:t>
            </a:r>
            <a:r>
              <a:rPr kumimoji="0" lang="en-US" altLang="en-US" sz="1000" b="0" i="0" u="none" strike="noStrike" cap="none" normalizeH="0" baseline="0" dirty="0" err="1">
                <a:ln>
                  <a:noFill/>
                </a:ln>
                <a:solidFill>
                  <a:schemeClr val="tx1"/>
                </a:solidFill>
                <a:effectLst/>
              </a:rPr>
              <a:t>profils</a:t>
            </a:r>
            <a:r>
              <a:rPr kumimoji="0" lang="en-US" altLang="en-US" sz="1000" b="0" i="0" u="none" strike="noStrike" cap="none" normalizeH="0" baseline="0" dirty="0">
                <a:ln>
                  <a:noFill/>
                </a:ln>
                <a:solidFill>
                  <a:schemeClr val="tx1"/>
                </a:solidFill>
                <a:effectLst/>
              </a:rPr>
              <a:t> et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les signatures </a:t>
            </a:r>
            <a:r>
              <a:rPr kumimoji="0" lang="en-US" altLang="en-US" sz="1000" b="0" i="0" u="none" strike="noStrike" cap="none" normalizeH="0" baseline="0" dirty="0" err="1">
                <a:ln>
                  <a:noFill/>
                </a:ln>
                <a:solidFill>
                  <a:schemeClr val="tx1"/>
                </a:solidFill>
                <a:effectLst/>
              </a:rPr>
              <a:t>biométriques</a:t>
            </a:r>
            <a:r>
              <a:rPr kumimoji="0" lang="en-US" altLang="en-US" sz="1000" b="0" i="0" u="none" strike="noStrike" cap="none" normalizeH="0" baseline="0" dirty="0">
                <a:ln>
                  <a:noFill/>
                </a:ln>
                <a:solidFill>
                  <a:schemeClr val="tx1"/>
                </a:solidFill>
                <a:effectLst/>
              </a:rPr>
              <a:t>.</a:t>
            </a:r>
          </a:p>
        </p:txBody>
      </p:sp>
      <p:sp>
        <p:nvSpPr>
          <p:cNvPr id="59" name="Shape 11"/>
          <p:cNvSpPr/>
          <p:nvPr/>
        </p:nvSpPr>
        <p:spPr>
          <a:xfrm>
            <a:off x="6126480" y="2347133"/>
            <a:ext cx="2468880" cy="11887"/>
          </a:xfrm>
          <a:prstGeom prst="rect">
            <a:avLst/>
          </a:prstGeom>
          <a:solidFill>
            <a:srgbClr val="CADCFC"/>
          </a:solidFill>
          <a:ln w="12700">
            <a:solidFill>
              <a:srgbClr val="CADCFC"/>
            </a:solidFill>
            <a:prstDash val="solid"/>
          </a:ln>
        </p:spPr>
      </p:sp>
      <p:sp>
        <p:nvSpPr>
          <p:cNvPr id="60" name="Shape 9"/>
          <p:cNvSpPr/>
          <p:nvPr/>
        </p:nvSpPr>
        <p:spPr>
          <a:xfrm>
            <a:off x="871869" y="3814162"/>
            <a:ext cx="6960782" cy="102407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61" name="Text 10"/>
          <p:cNvSpPr/>
          <p:nvPr/>
        </p:nvSpPr>
        <p:spPr>
          <a:xfrm>
            <a:off x="3264372" y="3771890"/>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b="1" dirty="0">
                <a:solidFill>
                  <a:schemeClr val="accent1">
                    <a:lumMod val="50000"/>
                  </a:schemeClr>
                </a:solidFill>
              </a:rPr>
              <a:t> </a:t>
            </a:r>
            <a:r>
              <a:rPr lang="en-US" sz="1200" b="1" dirty="0" err="1">
                <a:solidFill>
                  <a:schemeClr val="accent1">
                    <a:lumMod val="50000"/>
                  </a:schemeClr>
                </a:solidFill>
              </a:rPr>
              <a:t>Déploiement</a:t>
            </a:r>
            <a:r>
              <a:rPr lang="en-US" sz="1200" b="1" dirty="0">
                <a:solidFill>
                  <a:schemeClr val="accent1">
                    <a:lumMod val="50000"/>
                  </a:schemeClr>
                </a:solidFill>
              </a:rPr>
              <a:t> </a:t>
            </a:r>
            <a:endParaRPr lang="en-US" sz="1150" b="1" dirty="0">
              <a:solidFill>
                <a:schemeClr val="accent1">
                  <a:lumMod val="50000"/>
                </a:schemeClr>
              </a:solidFill>
            </a:endParaRPr>
          </a:p>
        </p:txBody>
      </p:sp>
      <p:sp>
        <p:nvSpPr>
          <p:cNvPr id="62" name="Shape 11"/>
          <p:cNvSpPr/>
          <p:nvPr/>
        </p:nvSpPr>
        <p:spPr>
          <a:xfrm>
            <a:off x="2624292" y="4080043"/>
            <a:ext cx="2468880" cy="11887"/>
          </a:xfrm>
          <a:prstGeom prst="rect">
            <a:avLst/>
          </a:prstGeom>
          <a:solidFill>
            <a:srgbClr val="CADCFC"/>
          </a:solidFill>
          <a:ln w="12700">
            <a:solidFill>
              <a:srgbClr val="CADCFC"/>
            </a:solidFill>
            <a:prstDash val="solid"/>
          </a:ln>
        </p:spPr>
      </p:sp>
      <p:sp>
        <p:nvSpPr>
          <p:cNvPr id="63" name="ZoneTexte 62"/>
          <p:cNvSpPr txBox="1"/>
          <p:nvPr/>
        </p:nvSpPr>
        <p:spPr>
          <a:xfrm>
            <a:off x="964018" y="4190179"/>
            <a:ext cx="6556743" cy="400110"/>
          </a:xfrm>
          <a:prstGeom prst="rect">
            <a:avLst/>
          </a:prstGeom>
          <a:noFill/>
        </p:spPr>
        <p:txBody>
          <a:bodyPr wrap="square" rtlCol="0">
            <a:spAutoFit/>
          </a:bodyPr>
          <a:lstStyle/>
          <a:p>
            <a:pPr marL="171450" indent="-171450">
              <a:buFont typeface="Arial" panose="020B0604020202020204" pitchFamily="34" charset="0"/>
              <a:buChar char="•"/>
            </a:pPr>
            <a:r>
              <a:rPr lang="fr-FR" sz="1000" dirty="0"/>
              <a:t>Conteneuriser l'application (ex: Docker / Docker Compose) pour garantir une portabilité et une isolation parfaites du système, facilitant ainsi son déploiement dans un environnement de production simulé.</a:t>
            </a:r>
            <a:endParaRPr lang="fr-CM"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2151"/>
            <a:ext cx="9144000" cy="914400"/>
          </a:xfrm>
          <a:prstGeom prst="rect">
            <a:avLst/>
          </a:prstGeom>
          <a:solidFill>
            <a:srgbClr val="1E2761"/>
          </a:solidFill>
          <a:ln w="12700">
            <a:solidFill>
              <a:srgbClr val="1E2761"/>
            </a:solidFill>
            <a:prstDash val="solid"/>
          </a:ln>
        </p:spPr>
      </p:sp>
      <p:sp>
        <p:nvSpPr>
          <p:cNvPr id="3" name="Text 1"/>
          <p:cNvSpPr/>
          <p:nvPr/>
        </p:nvSpPr>
        <p:spPr>
          <a:xfrm>
            <a:off x="571500" y="128867"/>
            <a:ext cx="7772400" cy="640080"/>
          </a:xfrm>
          <a:prstGeom prst="rect">
            <a:avLst/>
          </a:prstGeom>
          <a:noFill/>
          <a:ln/>
        </p:spPr>
        <p:txBody>
          <a:bodyPr wrap="square" lIns="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Calibri" panose="020F0502020204030204"/>
                <a:ea typeface="+mn-ea"/>
                <a:cs typeface="+mn-cs"/>
              </a:rPr>
              <a:t>03</a:t>
            </a:r>
            <a:r>
              <a:rPr kumimoji="0" lang="en-US" sz="2100" b="1" i="0" u="none" strike="noStrike" kern="1200" cap="none" spc="0" normalizeH="0" noProof="0" dirty="0">
                <a:ln>
                  <a:noFill/>
                </a:ln>
                <a:solidFill>
                  <a:srgbClr val="FFFFFF"/>
                </a:solidFill>
                <a:effectLst/>
                <a:uLnTx/>
                <a:uFillTx/>
                <a:latin typeface="Calibri" panose="020F0502020204030204"/>
                <a:ea typeface="+mn-ea"/>
                <a:cs typeface="+mn-cs"/>
              </a:rPr>
              <a:t> -</a:t>
            </a:r>
            <a:r>
              <a:rPr kumimoji="0" lang="en-US" sz="2100" b="1" i="0" u="none" strike="noStrike" kern="1200" cap="none" spc="0" normalizeH="0" baseline="0" noProof="0" dirty="0">
                <a:ln>
                  <a:noFill/>
                </a:ln>
                <a:solidFill>
                  <a:srgbClr val="FFFFFF"/>
                </a:solidFill>
                <a:effectLst/>
                <a:uLnTx/>
                <a:uFillTx/>
                <a:latin typeface="Calibri" panose="020F0502020204030204"/>
                <a:ea typeface="+mn-ea"/>
                <a:cs typeface="+mn-cs"/>
              </a:rPr>
              <a:t>Périmètre</a:t>
            </a:r>
            <a:r>
              <a:rPr kumimoji="0" lang="en-US" sz="2100" b="1" i="0" u="none" strike="noStrike" kern="1200" cap="none" spc="0" normalizeH="0" noProof="0" dirty="0">
                <a:ln>
                  <a:noFill/>
                </a:ln>
                <a:solidFill>
                  <a:srgbClr val="FFFFFF"/>
                </a:solidFill>
                <a:effectLst/>
                <a:uLnTx/>
                <a:uFillTx/>
                <a:latin typeface="Calibri" panose="020F0502020204030204"/>
                <a:ea typeface="+mn-ea"/>
                <a:cs typeface="+mn-cs"/>
              </a:rPr>
              <a:t> fonctionnel</a:t>
            </a:r>
            <a:endPar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5" name="Rectangle 4"/>
          <p:cNvSpPr/>
          <p:nvPr/>
        </p:nvSpPr>
        <p:spPr>
          <a:xfrm>
            <a:off x="425301" y="1105919"/>
            <a:ext cx="8208335" cy="57708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rPr>
              <a:t>La réussite de ce projet repose sur la définition d'exigences rigoureuses garantissant à la fois la fluidité de l'expérience utilisateur et l'invulnérabilité du système. Les besoins fonctionnels décrivent les actions directes que l'application doit exécuter, tandis que les besoins non fonctionnels spécifient les critères de qualité, de performance et de sécurité indispensables au durcissement de la solution. </a:t>
            </a:r>
            <a:endParaRPr kumimoji="0" lang="fr-CM"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9"/>
          <p:cNvSpPr/>
          <p:nvPr/>
        </p:nvSpPr>
        <p:spPr>
          <a:xfrm>
            <a:off x="320041" y="1917391"/>
            <a:ext cx="8503919" cy="70409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8" name="Rectangle 7"/>
          <p:cNvSpPr/>
          <p:nvPr/>
        </p:nvSpPr>
        <p:spPr>
          <a:xfrm>
            <a:off x="715927" y="1883159"/>
            <a:ext cx="6838506" cy="58663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1200" b="1" i="0" u="none" strike="noStrike" kern="1200" cap="none" spc="0" normalizeH="0" baseline="0" noProof="0" dirty="0">
                <a:ln>
                  <a:noFill/>
                </a:ln>
                <a:solidFill>
                  <a:prstClr val="black"/>
                </a:solidFill>
                <a:effectLst/>
                <a:uLnTx/>
                <a:uFillTx/>
                <a:latin typeface="Calibri" panose="020F0502020204030204"/>
                <a:ea typeface="+mn-ea"/>
                <a:cs typeface="+mn-cs"/>
              </a:rPr>
              <a:t>1. Besoins Fonctionnels (BF)</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rPr>
              <a:t>Ils représentent les fonctionnalités métier que le système </a:t>
            </a:r>
            <a:r>
              <a:rPr kumimoji="0" lang="fr-FR" sz="1050" b="0" i="1" u="none" strike="noStrike" kern="1200" cap="none" spc="0" normalizeH="0" baseline="0" noProof="0" dirty="0">
                <a:ln>
                  <a:noFill/>
                </a:ln>
                <a:solidFill>
                  <a:prstClr val="black"/>
                </a:solidFill>
                <a:effectLst/>
                <a:uLnTx/>
                <a:uFillTx/>
                <a:latin typeface="Calibri" panose="020F0502020204030204"/>
                <a:ea typeface="+mn-ea"/>
                <a:cs typeface="+mn-cs"/>
              </a:rPr>
              <a:t>doit</a:t>
            </a:r>
            <a:r>
              <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rPr>
              <a:t> intégrer:</a:t>
            </a:r>
          </a:p>
        </p:txBody>
      </p:sp>
      <p:sp>
        <p:nvSpPr>
          <p:cNvPr id="17" name="Shape 9"/>
          <p:cNvSpPr/>
          <p:nvPr/>
        </p:nvSpPr>
        <p:spPr>
          <a:xfrm>
            <a:off x="1230836" y="2901298"/>
            <a:ext cx="2211199"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8" name="Shape 11"/>
          <p:cNvSpPr/>
          <p:nvPr/>
        </p:nvSpPr>
        <p:spPr>
          <a:xfrm flipV="1">
            <a:off x="1390475" y="3217351"/>
            <a:ext cx="1833321" cy="45719"/>
          </a:xfrm>
          <a:prstGeom prst="rect">
            <a:avLst/>
          </a:prstGeom>
          <a:solidFill>
            <a:srgbClr val="CADCFC"/>
          </a:solidFill>
          <a:ln w="12700">
            <a:solidFill>
              <a:srgbClr val="CADCFC"/>
            </a:solidFill>
            <a:prstDash val="solid"/>
          </a:ln>
        </p:spPr>
      </p:sp>
      <p:sp>
        <p:nvSpPr>
          <p:cNvPr id="19" name="ZoneTexte 18"/>
          <p:cNvSpPr txBox="1"/>
          <p:nvPr/>
        </p:nvSpPr>
        <p:spPr>
          <a:xfrm>
            <a:off x="1229551" y="2977296"/>
            <a:ext cx="241199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dirty="0">
                <a:ln>
                  <a:noFill/>
                </a:ln>
                <a:solidFill>
                  <a:prstClr val="black"/>
                </a:solidFill>
                <a:effectLst/>
                <a:uLnTx/>
                <a:uFillTx/>
                <a:latin typeface="Calibri" panose="020F0502020204030204"/>
                <a:ea typeface="+mn-ea"/>
                <a:cs typeface="+mn-cs"/>
              </a:rPr>
              <a:t>BF1 – Authentifier utilisateur</a:t>
            </a:r>
            <a:endParaRPr kumimoji="0" lang="fr-CM" sz="10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ZoneTexte 23"/>
          <p:cNvSpPr txBox="1"/>
          <p:nvPr/>
        </p:nvSpPr>
        <p:spPr>
          <a:xfrm>
            <a:off x="1230837" y="3329256"/>
            <a:ext cx="1923062" cy="1169551"/>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rPr>
              <a:t>Le système doit impérativement analyser les signes de vie (clignements d'yeux, mouvements) et soumettre un défi (challenge-réponse) pour valider que le sujet est bien présent.</a:t>
            </a:r>
            <a:endParaRPr kumimoji="0" lang="fr-CM"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9"/>
          <p:cNvSpPr/>
          <p:nvPr/>
        </p:nvSpPr>
        <p:spPr>
          <a:xfrm>
            <a:off x="3961314"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36" name="Shape 11"/>
          <p:cNvSpPr/>
          <p:nvPr/>
        </p:nvSpPr>
        <p:spPr>
          <a:xfrm flipV="1">
            <a:off x="4065226" y="3219395"/>
            <a:ext cx="1833321" cy="45719"/>
          </a:xfrm>
          <a:prstGeom prst="rect">
            <a:avLst/>
          </a:prstGeom>
          <a:solidFill>
            <a:srgbClr val="CADCFC"/>
          </a:solidFill>
          <a:ln w="12700">
            <a:solidFill>
              <a:srgbClr val="CADCFC"/>
            </a:solidFill>
            <a:prstDash val="solid"/>
          </a:ln>
        </p:spPr>
      </p:sp>
      <p:sp>
        <p:nvSpPr>
          <p:cNvPr id="37" name="ZoneTexte 36"/>
          <p:cNvSpPr txBox="1"/>
          <p:nvPr/>
        </p:nvSpPr>
        <p:spPr>
          <a:xfrm>
            <a:off x="3961316" y="2951516"/>
            <a:ext cx="241199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BF2 – Gérer Utilisateurs </a:t>
            </a:r>
            <a:endParaRPr kumimoji="0" lang="fr-CM" sz="10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ZoneTexte 37"/>
          <p:cNvSpPr txBox="1"/>
          <p:nvPr/>
        </p:nvSpPr>
        <p:spPr>
          <a:xfrm>
            <a:off x="3961316" y="3268244"/>
            <a:ext cx="1833321" cy="39241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libri" panose="020F0502020204030204"/>
                <a:ea typeface="+mn-ea"/>
                <a:cs typeface="+mn-cs"/>
              </a:rPr>
              <a:t>Le système doit permettre à un administrateur </a:t>
            </a:r>
            <a:r>
              <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rPr>
              <a:t>de </a:t>
            </a:r>
            <a:endParaRPr kumimoji="0" lang="fr-CM"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9">
            <a:extLst>
              <a:ext uri="{FF2B5EF4-FFF2-40B4-BE49-F238E27FC236}">
                <a16:creationId xmlns:a16="http://schemas.microsoft.com/office/drawing/2014/main" id="{489CDE42-70D3-4603-85E2-C7B79BF4169D}"/>
              </a:ext>
            </a:extLst>
          </p:cNvPr>
          <p:cNvSpPr/>
          <p:nvPr/>
        </p:nvSpPr>
        <p:spPr>
          <a:xfrm>
            <a:off x="6521736"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8" name="Shape 11">
            <a:extLst>
              <a:ext uri="{FF2B5EF4-FFF2-40B4-BE49-F238E27FC236}">
                <a16:creationId xmlns:a16="http://schemas.microsoft.com/office/drawing/2014/main" id="{D03894CA-2A29-42EC-848A-10FD2C88BBBE}"/>
              </a:ext>
            </a:extLst>
          </p:cNvPr>
          <p:cNvSpPr/>
          <p:nvPr/>
        </p:nvSpPr>
        <p:spPr>
          <a:xfrm flipV="1">
            <a:off x="6625648" y="3219395"/>
            <a:ext cx="1833321" cy="45719"/>
          </a:xfrm>
          <a:prstGeom prst="rect">
            <a:avLst/>
          </a:prstGeom>
          <a:solidFill>
            <a:srgbClr val="CADCFC"/>
          </a:solidFill>
          <a:ln w="12700">
            <a:solidFill>
              <a:srgbClr val="CADCFC"/>
            </a:solidFill>
            <a:prstDash val="solid"/>
          </a:ln>
        </p:spPr>
      </p:sp>
      <p:sp>
        <p:nvSpPr>
          <p:cNvPr id="29" name="ZoneTexte 28">
            <a:extLst>
              <a:ext uri="{FF2B5EF4-FFF2-40B4-BE49-F238E27FC236}">
                <a16:creationId xmlns:a16="http://schemas.microsoft.com/office/drawing/2014/main" id="{4B447FE6-FF04-4780-8A08-49745F91265C}"/>
              </a:ext>
            </a:extLst>
          </p:cNvPr>
          <p:cNvSpPr txBox="1"/>
          <p:nvPr/>
        </p:nvSpPr>
        <p:spPr>
          <a:xfrm>
            <a:off x="6521738" y="2951516"/>
            <a:ext cx="241199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Calibri" panose="020F0502020204030204"/>
                <a:ea typeface="+mn-ea"/>
                <a:cs typeface="+mn-cs"/>
              </a:rPr>
              <a:t>BF3 – Enroller utilisateur </a:t>
            </a:r>
            <a:endParaRPr kumimoji="0" lang="fr-CM" sz="10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ZoneTexte 29">
            <a:extLst>
              <a:ext uri="{FF2B5EF4-FFF2-40B4-BE49-F238E27FC236}">
                <a16:creationId xmlns:a16="http://schemas.microsoft.com/office/drawing/2014/main" id="{F19ACE26-BC01-466E-82DC-CCADFCDB85F0}"/>
              </a:ext>
            </a:extLst>
          </p:cNvPr>
          <p:cNvSpPr txBox="1"/>
          <p:nvPr/>
        </p:nvSpPr>
        <p:spPr>
          <a:xfrm>
            <a:off x="6625647" y="3377019"/>
            <a:ext cx="1833321" cy="738664"/>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050" b="0" i="0" u="none" strike="noStrike" kern="1200" cap="none" spc="0" normalizeH="0" baseline="0" noProof="0" dirty="0">
                <a:ln>
                  <a:noFill/>
                </a:ln>
                <a:solidFill>
                  <a:prstClr val="black"/>
                </a:solidFill>
                <a:effectLst/>
                <a:uLnTx/>
                <a:uFillTx/>
                <a:latin typeface="Calibri" panose="020F0502020204030204"/>
                <a:ea typeface="+mn-ea"/>
                <a:cs typeface="+mn-cs"/>
              </a:rPr>
              <a:t>Inscrire l’utilisateur dans le système biométrique pour qu’il puisse être reconnue ultérieurement.</a:t>
            </a:r>
            <a:endParaRPr kumimoji="0" lang="fr-CM"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3">
            <a:extLst>
              <a:ext uri="{FF2B5EF4-FFF2-40B4-BE49-F238E27FC236}">
                <a16:creationId xmlns:a16="http://schemas.microsoft.com/office/drawing/2014/main" id="{3EDA65D6-688F-4EBF-930C-26032ADA3FC6}"/>
              </a:ext>
            </a:extLst>
          </p:cNvPr>
          <p:cNvSpPr>
            <a:spLocks noChangeArrowheads="1"/>
          </p:cNvSpPr>
          <p:nvPr/>
        </p:nvSpPr>
        <p:spPr bwMode="auto">
          <a:xfrm>
            <a:off x="3985179" y="3606745"/>
            <a:ext cx="2038773"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900" b="1" i="0" u="none" strike="noStrike" kern="1200" cap="none" spc="0" normalizeH="0" baseline="0" noProof="0" dirty="0">
                <a:ln>
                  <a:noFill/>
                </a:ln>
                <a:solidFill>
                  <a:prstClr val="black"/>
                </a:solidFill>
                <a:effectLst/>
                <a:uLnTx/>
                <a:uFillTx/>
                <a:latin typeface="Calibri Light" panose="020F0302020204030204"/>
                <a:ea typeface="+mn-ea"/>
                <a:cs typeface="+mn-cs"/>
              </a:rPr>
              <a:t>Modifier</a:t>
            </a:r>
            <a:r>
              <a:rPr kumimoji="0" lang="fr-FR" altLang="fr-FR" sz="900" b="0" i="0" u="none" strike="noStrike" kern="1200" cap="none" spc="0" normalizeH="0" baseline="0" noProof="0" dirty="0">
                <a:ln>
                  <a:noFill/>
                </a:ln>
                <a:solidFill>
                  <a:prstClr val="black"/>
                </a:solidFill>
                <a:effectLst/>
                <a:uLnTx/>
                <a:uFillTx/>
                <a:latin typeface="Calibri Light" panose="020F0302020204030204"/>
                <a:ea typeface="+mn-ea"/>
                <a:cs typeface="+mn-cs"/>
              </a:rPr>
              <a:t> les informations d'un utilisateur (nom, </a:t>
            </a:r>
            <a:r>
              <a:rPr kumimoji="0" lang="fr-FR" altLang="fr-FR" sz="900" b="0" i="0" u="none" strike="noStrike" kern="1200" cap="none" spc="0" normalizeH="0" baseline="0" noProof="0" dirty="0" err="1">
                <a:ln>
                  <a:noFill/>
                </a:ln>
                <a:solidFill>
                  <a:prstClr val="black"/>
                </a:solidFill>
                <a:effectLst/>
                <a:uLnTx/>
                <a:uFillTx/>
                <a:latin typeface="Calibri Light" panose="020F0302020204030204"/>
                <a:ea typeface="+mn-ea"/>
                <a:cs typeface="+mn-cs"/>
              </a:rPr>
              <a:t>matricule,etc</a:t>
            </a:r>
            <a:r>
              <a:rPr kumimoji="0" lang="fr-FR" altLang="fr-FR" sz="900" b="0" i="0" u="none" strike="noStrike" kern="1200" cap="none" spc="0" normalizeH="0" baseline="0" noProof="0" dirty="0">
                <a:ln>
                  <a:noFill/>
                </a:ln>
                <a:solidFill>
                  <a:prstClr val="black"/>
                </a:solidFill>
                <a:effectLst/>
                <a:uLnTx/>
                <a:uFillTx/>
                <a:latin typeface="Calibri Light" panose="020F0302020204030204"/>
                <a:ea typeface="+mn-ea"/>
                <a:cs typeface="+mn-cs"/>
              </a:rPr>
              <a:t>.). </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900" b="1" i="0" u="none" strike="noStrike" kern="1200" cap="none" spc="0" normalizeH="0" baseline="0" noProof="0" dirty="0">
                <a:ln>
                  <a:noFill/>
                </a:ln>
                <a:solidFill>
                  <a:prstClr val="black"/>
                </a:solidFill>
                <a:effectLst/>
                <a:uLnTx/>
                <a:uFillTx/>
                <a:latin typeface="Calibri Light" panose="020F0302020204030204"/>
                <a:ea typeface="+mn-ea"/>
                <a:cs typeface="+mn-cs"/>
              </a:rPr>
              <a:t>Supprimer</a:t>
            </a:r>
            <a:r>
              <a:rPr kumimoji="0" lang="fr-FR" altLang="fr-FR" sz="900" b="0" i="0" u="none" strike="noStrike" kern="1200" cap="none" spc="0" normalizeH="0" baseline="0" noProof="0" dirty="0">
                <a:ln>
                  <a:noFill/>
                </a:ln>
                <a:solidFill>
                  <a:prstClr val="black"/>
                </a:solidFill>
                <a:effectLst/>
                <a:uLnTx/>
                <a:uFillTx/>
                <a:latin typeface="Calibri Light" panose="020F0302020204030204"/>
                <a:ea typeface="+mn-ea"/>
                <a:cs typeface="+mn-cs"/>
              </a:rPr>
              <a:t> un utilisateur du système. </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900" b="1" i="0" u="none" strike="noStrike" kern="1200" cap="none" spc="0" normalizeH="0" baseline="0" noProof="0" dirty="0">
                <a:ln>
                  <a:noFill/>
                </a:ln>
                <a:solidFill>
                  <a:prstClr val="black"/>
                </a:solidFill>
                <a:effectLst/>
                <a:uLnTx/>
                <a:uFillTx/>
                <a:latin typeface="Calibri Light" panose="020F0302020204030204"/>
                <a:ea typeface="+mn-ea"/>
                <a:cs typeface="+mn-cs"/>
              </a:rPr>
              <a:t>Consulter</a:t>
            </a:r>
            <a:r>
              <a:rPr kumimoji="0" lang="fr-FR" altLang="fr-FR" sz="900" b="0" i="0" u="none" strike="noStrike" kern="1200" cap="none" spc="0" normalizeH="0" baseline="0" noProof="0" dirty="0">
                <a:ln>
                  <a:noFill/>
                </a:ln>
                <a:solidFill>
                  <a:prstClr val="black"/>
                </a:solidFill>
                <a:effectLst/>
                <a:uLnTx/>
                <a:uFillTx/>
                <a:latin typeface="Calibri Light" panose="020F0302020204030204"/>
                <a:ea typeface="+mn-ea"/>
                <a:cs typeface="+mn-cs"/>
              </a:rPr>
              <a:t> la liste des utilisateurs enregistrés. </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fr-FR" altLang="fr-FR" sz="900" b="1" i="0" u="none" strike="noStrike" kern="1200" cap="none" spc="0" normalizeH="0" baseline="0" noProof="0" dirty="0">
                <a:ln>
                  <a:noFill/>
                </a:ln>
                <a:solidFill>
                  <a:prstClr val="black"/>
                </a:solidFill>
                <a:effectLst/>
                <a:uLnTx/>
                <a:uFillTx/>
                <a:latin typeface="Calibri Light" panose="020F0302020204030204"/>
                <a:ea typeface="+mn-ea"/>
                <a:cs typeface="+mn-cs"/>
              </a:rPr>
              <a:t>Activer ou désactiver</a:t>
            </a:r>
            <a:r>
              <a:rPr kumimoji="0" lang="fr-FR" altLang="fr-FR" sz="900" b="0" i="0" u="none" strike="noStrike" kern="1200" cap="none" spc="0" normalizeH="0" baseline="0" noProof="0" dirty="0">
                <a:ln>
                  <a:noFill/>
                </a:ln>
                <a:solidFill>
                  <a:prstClr val="black"/>
                </a:solidFill>
                <a:effectLst/>
                <a:uLnTx/>
                <a:uFillTx/>
                <a:latin typeface="Calibri Light" panose="020F0302020204030204"/>
                <a:ea typeface="+mn-ea"/>
                <a:cs typeface="+mn-cs"/>
              </a:rPr>
              <a:t> un compte utilisateur. </a:t>
            </a:r>
          </a:p>
        </p:txBody>
      </p:sp>
    </p:spTree>
    <p:extLst>
      <p:ext uri="{BB962C8B-B14F-4D97-AF65-F5344CB8AC3E}">
        <p14:creationId xmlns:p14="http://schemas.microsoft.com/office/powerpoint/2010/main" val="2190876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EF3FA"/>
        </a:solidFill>
        <a:effectLst/>
      </p:bgPr>
    </p:bg>
    <p:spTree>
      <p:nvGrpSpPr>
        <p:cNvPr id="1" name=""/>
        <p:cNvGrpSpPr/>
        <p:nvPr/>
      </p:nvGrpSpPr>
      <p:grpSpPr>
        <a:xfrm>
          <a:off x="0" y="0"/>
          <a:ext cx="0" cy="0"/>
          <a:chOff x="0" y="0"/>
          <a:chExt cx="0" cy="0"/>
        </a:xfrm>
      </p:grpSpPr>
      <p:sp>
        <p:nvSpPr>
          <p:cNvPr id="2" name="Shape 0"/>
          <p:cNvSpPr/>
          <p:nvPr/>
        </p:nvSpPr>
        <p:spPr>
          <a:xfrm>
            <a:off x="9357" y="2286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03  ·  Diagramme de Séquence</a:t>
            </a:r>
            <a:endParaRPr lang="en-US" sz="2200" dirty="0"/>
          </a:p>
        </p:txBody>
      </p:sp>
      <p:sp>
        <p:nvSpPr>
          <p:cNvPr id="126" name="Shape 124"/>
          <p:cNvSpPr/>
          <p:nvPr/>
        </p:nvSpPr>
        <p:spPr>
          <a:xfrm>
            <a:off x="0" y="4846320"/>
            <a:ext cx="9144000" cy="297180"/>
          </a:xfrm>
          <a:prstGeom prst="rect">
            <a:avLst/>
          </a:prstGeom>
          <a:solidFill>
            <a:srgbClr val="0B1F35"/>
          </a:solidFill>
          <a:ln/>
        </p:spPr>
      </p:sp>
      <p:sp>
        <p:nvSpPr>
          <p:cNvPr id="135" name="Shape 0"/>
          <p:cNvSpPr/>
          <p:nvPr/>
        </p:nvSpPr>
        <p:spPr>
          <a:xfrm>
            <a:off x="33741" y="22860"/>
            <a:ext cx="9144000" cy="804672"/>
          </a:xfrm>
          <a:prstGeom prst="rect">
            <a:avLst/>
          </a:prstGeom>
          <a:solidFill>
            <a:srgbClr val="0B1F35"/>
          </a:solidFill>
          <a:ln/>
        </p:spPr>
      </p:sp>
      <p:sp>
        <p:nvSpPr>
          <p:cNvPr id="136" name="Shape 1"/>
          <p:cNvSpPr/>
          <p:nvPr/>
        </p:nvSpPr>
        <p:spPr>
          <a:xfrm>
            <a:off x="24384" y="786384"/>
            <a:ext cx="9144000" cy="41148"/>
          </a:xfrm>
          <a:prstGeom prst="rect">
            <a:avLst/>
          </a:prstGeom>
          <a:solidFill>
            <a:srgbClr val="00C8FF"/>
          </a:solidFill>
          <a:ln/>
        </p:spPr>
      </p:sp>
      <p:sp>
        <p:nvSpPr>
          <p:cNvPr id="137" name="Text 2"/>
          <p:cNvSpPr/>
          <p:nvPr/>
        </p:nvSpPr>
        <p:spPr>
          <a:xfrm>
            <a:off x="371856"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03  ·  Diagramme de Séquence (présentation)</a:t>
            </a:r>
            <a:endParaRPr lang="en-US" sz="2200" dirty="0"/>
          </a:p>
        </p:txBody>
      </p:sp>
      <p:sp>
        <p:nvSpPr>
          <p:cNvPr id="259" name="Shape 124"/>
          <p:cNvSpPr/>
          <p:nvPr/>
        </p:nvSpPr>
        <p:spPr>
          <a:xfrm>
            <a:off x="24384" y="4846320"/>
            <a:ext cx="9144000" cy="297180"/>
          </a:xfrm>
          <a:prstGeom prst="rect">
            <a:avLst/>
          </a:prstGeom>
          <a:solidFill>
            <a:srgbClr val="0B1F35"/>
          </a:solidFill>
          <a:ln/>
        </p:spPr>
      </p:sp>
      <p:sp>
        <p:nvSpPr>
          <p:cNvPr id="268" name="Shape 3"/>
          <p:cNvSpPr/>
          <p:nvPr/>
        </p:nvSpPr>
        <p:spPr>
          <a:xfrm>
            <a:off x="188976" y="960120"/>
            <a:ext cx="8595360" cy="1480674"/>
          </a:xfrm>
          <a:prstGeom prst="rect">
            <a:avLst/>
          </a:prstGeom>
          <a:solidFill>
            <a:srgbClr val="0B1F35"/>
          </a:solidFill>
          <a:ln/>
          <a:effectLst>
            <a:outerShdw blurRad="88900" dist="38100" dir="8100000" algn="bl" rotWithShape="0">
              <a:srgbClr val="000000">
                <a:alpha val="13000"/>
              </a:srgbClr>
            </a:outerShdw>
          </a:effectLst>
        </p:spPr>
      </p:sp>
      <p:sp>
        <p:nvSpPr>
          <p:cNvPr id="269" name="ZoneTexte 268"/>
          <p:cNvSpPr txBox="1"/>
          <p:nvPr/>
        </p:nvSpPr>
        <p:spPr>
          <a:xfrm>
            <a:off x="652130" y="1100292"/>
            <a:ext cx="7803022" cy="1200329"/>
          </a:xfrm>
          <a:prstGeom prst="rect">
            <a:avLst/>
          </a:prstGeom>
          <a:noFill/>
        </p:spPr>
        <p:txBody>
          <a:bodyPr wrap="square" rtlCol="0">
            <a:spAutoFit/>
          </a:bodyPr>
          <a:lstStyle/>
          <a:p>
            <a:pPr algn="just"/>
            <a:r>
              <a:rPr lang="fr-FR" dirty="0">
                <a:solidFill>
                  <a:schemeClr val="bg1"/>
                </a:solidFill>
                <a:latin typeface="Times New Roman" panose="02020603050405020304" pitchFamily="18" charset="0"/>
                <a:cs typeface="Times New Roman" panose="02020603050405020304" pitchFamily="18" charset="0"/>
              </a:rPr>
              <a:t>Les diagrammes de séquences permettent de représenter les interactions entre les objets selon un point de vue temporel, on y met l’accent sur la chronologie des envois des messages entre objets.</a:t>
            </a:r>
            <a:endParaRPr lang="fr-CM" dirty="0">
              <a:solidFill>
                <a:schemeClr val="bg1"/>
              </a:solidFill>
              <a:latin typeface="Times New Roman" panose="02020603050405020304" pitchFamily="18" charset="0"/>
              <a:cs typeface="Times New Roman" panose="02020603050405020304" pitchFamily="18" charset="0"/>
            </a:endParaRPr>
          </a:p>
          <a:p>
            <a:endParaRPr lang="fr-CM"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r>
              <a:rPr lang="en-US" sz="2200" b="1" dirty="0">
                <a:solidFill>
                  <a:srgbClr val="FFFFFF"/>
                </a:solidFill>
              </a:rPr>
              <a:t>04  ·  Diagramme de Séquence  —  enroler utilisateur</a:t>
            </a:r>
            <a:endParaRPr lang="en-US" sz="2200" dirty="0"/>
          </a:p>
        </p:txBody>
      </p:sp>
      <p:pic>
        <p:nvPicPr>
          <p:cNvPr id="5" name="Image 4"/>
          <p:cNvPicPr>
            <a:picLocks noChangeAspect="1"/>
          </p:cNvPicPr>
          <p:nvPr/>
        </p:nvPicPr>
        <p:blipFill>
          <a:blip r:embed="rId3"/>
          <a:stretch>
            <a:fillRect/>
          </a:stretch>
        </p:blipFill>
        <p:spPr>
          <a:xfrm>
            <a:off x="493776" y="896112"/>
            <a:ext cx="11273800" cy="66786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E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29107"/>
          </a:xfrm>
          <a:prstGeom prst="rect">
            <a:avLst/>
          </a:prstGeom>
          <a:solidFill>
            <a:srgbClr val="0B1F35"/>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05  ·  Diagramme de Séquence — Authentification</a:t>
            </a:r>
            <a:endParaRPr lang="en-US" sz="2200" dirty="0"/>
          </a:p>
        </p:txBody>
      </p:sp>
      <p:sp>
        <p:nvSpPr>
          <p:cNvPr id="64" name="Text 62"/>
          <p:cNvSpPr/>
          <p:nvPr/>
        </p:nvSpPr>
        <p:spPr>
          <a:xfrm>
            <a:off x="274320" y="4882896"/>
            <a:ext cx="8595360" cy="201168"/>
          </a:xfrm>
          <a:prstGeom prst="rect">
            <a:avLst/>
          </a:prstGeom>
          <a:noFill/>
          <a:ln/>
        </p:spPr>
        <p:txBody>
          <a:bodyPr wrap="square" lIns="0" tIns="0" rIns="0" bIns="0" rtlCol="0" anchor="ctr"/>
          <a:lstStyle/>
          <a:p>
            <a:pPr marL="0" indent="0">
              <a:buNone/>
            </a:pPr>
            <a:r>
              <a:rPr lang="en-US" sz="750" dirty="0">
                <a:solidFill>
                  <a:srgbClr val="90CAF9"/>
                </a:solidFill>
              </a:rPr>
              <a:t>Cahier de Conception — Système Biométrique  ·  05 — Séquence : Authentification</a:t>
            </a:r>
            <a:endParaRPr lang="en-US" sz="750" dirty="0"/>
          </a:p>
        </p:txBody>
      </p:sp>
      <p:pic>
        <p:nvPicPr>
          <p:cNvPr id="5" name="Image 4"/>
          <p:cNvPicPr>
            <a:picLocks noChangeAspect="1"/>
          </p:cNvPicPr>
          <p:nvPr/>
        </p:nvPicPr>
        <p:blipFill>
          <a:blip r:embed="rId3"/>
          <a:stretch>
            <a:fillRect/>
          </a:stretch>
        </p:blipFill>
        <p:spPr>
          <a:xfrm>
            <a:off x="965607" y="629107"/>
            <a:ext cx="10413188" cy="90216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07  ·  </a:t>
            </a:r>
            <a:r>
              <a:rPr lang="en-US" sz="2200" b="1" dirty="0" err="1">
                <a:solidFill>
                  <a:srgbClr val="FFFFFF"/>
                </a:solidFill>
              </a:rPr>
              <a:t>Diagramme</a:t>
            </a:r>
            <a:r>
              <a:rPr lang="en-US" sz="2200" b="1" dirty="0">
                <a:solidFill>
                  <a:srgbClr val="FFFFFF"/>
                </a:solidFill>
              </a:rPr>
              <a:t> de </a:t>
            </a:r>
            <a:r>
              <a:rPr lang="en-US" sz="2200" b="1" dirty="0" err="1">
                <a:solidFill>
                  <a:srgbClr val="FFFFFF"/>
                </a:solidFill>
              </a:rPr>
              <a:t>Classe</a:t>
            </a:r>
            <a:r>
              <a:rPr lang="en-US" sz="2200" b="1" dirty="0">
                <a:solidFill>
                  <a:srgbClr val="FFFFFF"/>
                </a:solidFill>
              </a:rPr>
              <a:t> (MCD)</a:t>
            </a:r>
            <a:endParaRPr lang="en-US" sz="2200" dirty="0"/>
          </a:p>
        </p:txBody>
      </p:sp>
      <p:sp>
        <p:nvSpPr>
          <p:cNvPr id="54" name="Shape 52"/>
          <p:cNvSpPr/>
          <p:nvPr/>
        </p:nvSpPr>
        <p:spPr>
          <a:xfrm>
            <a:off x="0" y="4846320"/>
            <a:ext cx="9144000" cy="297180"/>
          </a:xfrm>
          <a:prstGeom prst="rect">
            <a:avLst/>
          </a:prstGeom>
          <a:solidFill>
            <a:srgbClr val="0B1F35"/>
          </a:solidFill>
          <a:ln/>
        </p:spPr>
      </p:sp>
      <p:sp>
        <p:nvSpPr>
          <p:cNvPr id="55" name="Text 53"/>
          <p:cNvSpPr/>
          <p:nvPr/>
        </p:nvSpPr>
        <p:spPr>
          <a:xfrm>
            <a:off x="274320" y="4882896"/>
            <a:ext cx="8595360" cy="201168"/>
          </a:xfrm>
          <a:prstGeom prst="rect">
            <a:avLst/>
          </a:prstGeom>
          <a:noFill/>
          <a:ln/>
        </p:spPr>
        <p:txBody>
          <a:bodyPr wrap="square" lIns="0" tIns="0" rIns="0" bIns="0" rtlCol="0" anchor="ctr"/>
          <a:lstStyle/>
          <a:p>
            <a:pPr marL="0" indent="0">
              <a:buNone/>
            </a:pPr>
            <a:r>
              <a:rPr lang="en-US" sz="750" dirty="0">
                <a:solidFill>
                  <a:srgbClr val="90CAF9"/>
                </a:solidFill>
              </a:rPr>
              <a:t>Cahier de Conception — Système Biométrique  ·  07 — Séquence : Attaque Spoofing</a:t>
            </a:r>
            <a:endParaRPr lang="en-US" sz="750" dirty="0"/>
          </a:p>
        </p:txBody>
      </p:sp>
      <p:pic>
        <p:nvPicPr>
          <p:cNvPr id="6" name="Image 5"/>
          <p:cNvPicPr>
            <a:picLocks noChangeAspect="1"/>
          </p:cNvPicPr>
          <p:nvPr/>
        </p:nvPicPr>
        <p:blipFill>
          <a:blip r:embed="rId3"/>
          <a:stretch>
            <a:fillRect/>
          </a:stretch>
        </p:blipFill>
        <p:spPr>
          <a:xfrm>
            <a:off x="1219201" y="1210340"/>
            <a:ext cx="8759952" cy="4887468"/>
          </a:xfrm>
          <a:prstGeom prst="rect">
            <a:avLst/>
          </a:prstGeom>
        </p:spPr>
      </p:pic>
    </p:spTree>
    <p:extLst>
      <p:ext uri="{BB962C8B-B14F-4D97-AF65-F5344CB8AC3E}">
        <p14:creationId xmlns:p14="http://schemas.microsoft.com/office/powerpoint/2010/main" val="1559773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3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1F35"/>
          </a:solidFill>
          <a:ln/>
        </p:spPr>
      </p:sp>
      <p:sp>
        <p:nvSpPr>
          <p:cNvPr id="3" name="Shape 1"/>
          <p:cNvSpPr/>
          <p:nvPr/>
        </p:nvSpPr>
        <p:spPr>
          <a:xfrm>
            <a:off x="0" y="786384"/>
            <a:ext cx="9144000" cy="41148"/>
          </a:xfrm>
          <a:prstGeom prst="rect">
            <a:avLst/>
          </a:prstGeom>
          <a:solidFill>
            <a:srgbClr val="00C8FF"/>
          </a:solidFill>
          <a:ln/>
        </p:spPr>
      </p:sp>
      <p:sp>
        <p:nvSpPr>
          <p:cNvPr id="4" name="Text 2"/>
          <p:cNvSpPr/>
          <p:nvPr/>
        </p:nvSpPr>
        <p:spPr>
          <a:xfrm>
            <a:off x="347472" y="91440"/>
            <a:ext cx="8412480" cy="594360"/>
          </a:xfrm>
          <a:prstGeom prst="rect">
            <a:avLst/>
          </a:prstGeom>
          <a:noFill/>
          <a:ln/>
        </p:spPr>
        <p:txBody>
          <a:bodyPr wrap="square" lIns="0" tIns="0" rIns="0" bIns="0" rtlCol="0" anchor="ctr"/>
          <a:lstStyle/>
          <a:p>
            <a:pPr marL="0" indent="0">
              <a:buNone/>
            </a:pPr>
            <a:r>
              <a:rPr lang="en-US" sz="2200" b="1" dirty="0">
                <a:solidFill>
                  <a:srgbClr val="FFFFFF"/>
                </a:solidFill>
              </a:rPr>
              <a:t>07  ·  </a:t>
            </a:r>
            <a:r>
              <a:rPr lang="en-US" sz="2200" b="1" dirty="0" err="1">
                <a:solidFill>
                  <a:srgbClr val="FFFFFF"/>
                </a:solidFill>
              </a:rPr>
              <a:t>Diagramme</a:t>
            </a:r>
            <a:r>
              <a:rPr lang="en-US" sz="2200" b="1" dirty="0">
                <a:solidFill>
                  <a:srgbClr val="FFFFFF"/>
                </a:solidFill>
              </a:rPr>
              <a:t> de </a:t>
            </a:r>
            <a:r>
              <a:rPr lang="en-US" sz="2200" b="1" dirty="0" err="1">
                <a:solidFill>
                  <a:srgbClr val="FFFFFF"/>
                </a:solidFill>
              </a:rPr>
              <a:t>Classe</a:t>
            </a:r>
            <a:r>
              <a:rPr lang="en-US" sz="2200" b="1" dirty="0">
                <a:solidFill>
                  <a:srgbClr val="FFFFFF"/>
                </a:solidFill>
              </a:rPr>
              <a:t> (MLD)</a:t>
            </a:r>
            <a:endParaRPr lang="en-US" sz="2200" dirty="0"/>
          </a:p>
        </p:txBody>
      </p:sp>
      <p:sp>
        <p:nvSpPr>
          <p:cNvPr id="54" name="Shape 52"/>
          <p:cNvSpPr/>
          <p:nvPr/>
        </p:nvSpPr>
        <p:spPr>
          <a:xfrm>
            <a:off x="0" y="4846320"/>
            <a:ext cx="9144000" cy="297180"/>
          </a:xfrm>
          <a:prstGeom prst="rect">
            <a:avLst/>
          </a:prstGeom>
          <a:solidFill>
            <a:srgbClr val="0B1F35"/>
          </a:solidFill>
          <a:ln/>
        </p:spPr>
      </p:sp>
      <p:sp>
        <p:nvSpPr>
          <p:cNvPr id="55" name="Text 53"/>
          <p:cNvSpPr/>
          <p:nvPr/>
        </p:nvSpPr>
        <p:spPr>
          <a:xfrm>
            <a:off x="274320" y="4882896"/>
            <a:ext cx="8595360" cy="201168"/>
          </a:xfrm>
          <a:prstGeom prst="rect">
            <a:avLst/>
          </a:prstGeom>
          <a:noFill/>
          <a:ln/>
        </p:spPr>
        <p:txBody>
          <a:bodyPr wrap="square" lIns="0" tIns="0" rIns="0" bIns="0" rtlCol="0" anchor="ctr"/>
          <a:lstStyle/>
          <a:p>
            <a:pPr marL="0" indent="0">
              <a:buNone/>
            </a:pPr>
            <a:r>
              <a:rPr lang="en-US" sz="750" dirty="0">
                <a:solidFill>
                  <a:srgbClr val="90CAF9"/>
                </a:solidFill>
              </a:rPr>
              <a:t>Cahier de Conception — Système Biométrique  ·  07 — Séquence : Attaque Spoofing</a:t>
            </a:r>
            <a:endParaRPr lang="en-US" sz="750" dirty="0"/>
          </a:p>
        </p:txBody>
      </p:sp>
      <p:pic>
        <p:nvPicPr>
          <p:cNvPr id="5" name="Image 4"/>
          <p:cNvPicPr>
            <a:picLocks noChangeAspect="1"/>
          </p:cNvPicPr>
          <p:nvPr/>
        </p:nvPicPr>
        <p:blipFill>
          <a:blip r:embed="rId3"/>
          <a:stretch>
            <a:fillRect/>
          </a:stretch>
        </p:blipFill>
        <p:spPr>
          <a:xfrm>
            <a:off x="1474382" y="1049080"/>
            <a:ext cx="8600676" cy="5289627"/>
          </a:xfrm>
          <a:prstGeom prst="rect">
            <a:avLst/>
          </a:prstGeom>
        </p:spPr>
      </p:pic>
    </p:spTree>
    <p:extLst>
      <p:ext uri="{BB962C8B-B14F-4D97-AF65-F5344CB8AC3E}">
        <p14:creationId xmlns:p14="http://schemas.microsoft.com/office/powerpoint/2010/main" val="4081244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0B1F35"/>
        </a:solidFill>
        <a:effectLst/>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0C8FF"/>
          </a:solidFill>
          <a:ln/>
        </p:spPr>
      </p:sp>
      <p:sp>
        <p:nvSpPr>
          <p:cNvPr id="3" name="Shape 1"/>
          <p:cNvSpPr/>
          <p:nvPr/>
        </p:nvSpPr>
        <p:spPr>
          <a:xfrm>
            <a:off x="128016" y="4407408"/>
            <a:ext cx="9015984" cy="736092"/>
          </a:xfrm>
          <a:prstGeom prst="rect">
            <a:avLst/>
          </a:prstGeom>
          <a:solidFill>
            <a:srgbClr val="1455A4"/>
          </a:solidFill>
          <a:ln/>
        </p:spPr>
      </p:sp>
      <p:sp>
        <p:nvSpPr>
          <p:cNvPr id="4" name="Shape 2"/>
          <p:cNvSpPr/>
          <p:nvPr/>
        </p:nvSpPr>
        <p:spPr>
          <a:xfrm>
            <a:off x="6675120" y="914400"/>
            <a:ext cx="2926080" cy="2926080"/>
          </a:xfrm>
          <a:prstGeom prst="ellipse">
            <a:avLst/>
          </a:prstGeom>
          <a:solidFill>
            <a:srgbClr val="1B3A5C"/>
          </a:solidFill>
          <a:ln/>
        </p:spPr>
      </p:sp>
      <p:sp>
        <p:nvSpPr>
          <p:cNvPr id="5" name="Shape 3"/>
          <p:cNvSpPr/>
          <p:nvPr/>
        </p:nvSpPr>
        <p:spPr>
          <a:xfrm>
            <a:off x="7040880" y="1280160"/>
            <a:ext cx="2194560" cy="2194560"/>
          </a:xfrm>
          <a:prstGeom prst="ellipse">
            <a:avLst/>
          </a:prstGeom>
          <a:solidFill>
            <a:srgbClr val="224B7A"/>
          </a:solidFill>
          <a:ln/>
        </p:spPr>
      </p:sp>
      <p:sp>
        <p:nvSpPr>
          <p:cNvPr id="6" name="Shape 4"/>
          <p:cNvSpPr/>
          <p:nvPr/>
        </p:nvSpPr>
        <p:spPr>
          <a:xfrm>
            <a:off x="7406640" y="1645920"/>
            <a:ext cx="1463040" cy="1463040"/>
          </a:xfrm>
          <a:prstGeom prst="ellipse">
            <a:avLst/>
          </a:prstGeom>
          <a:solidFill>
            <a:srgbClr val="1455A4"/>
          </a:solidFill>
          <a:ln/>
        </p:spPr>
      </p:sp>
      <p:sp>
        <p:nvSpPr>
          <p:cNvPr id="7" name="Shape 5"/>
          <p:cNvSpPr/>
          <p:nvPr/>
        </p:nvSpPr>
        <p:spPr>
          <a:xfrm>
            <a:off x="7726680" y="1965960"/>
            <a:ext cx="822960" cy="822960"/>
          </a:xfrm>
          <a:prstGeom prst="ellipse">
            <a:avLst/>
          </a:prstGeom>
          <a:solidFill>
            <a:srgbClr val="1976D2"/>
          </a:solidFill>
          <a:ln/>
        </p:spPr>
      </p:sp>
      <p:sp>
        <p:nvSpPr>
          <p:cNvPr id="8" name="Shape 6"/>
          <p:cNvSpPr/>
          <p:nvPr/>
        </p:nvSpPr>
        <p:spPr>
          <a:xfrm>
            <a:off x="7946136" y="2185416"/>
            <a:ext cx="384048" cy="384048"/>
          </a:xfrm>
          <a:prstGeom prst="ellipse">
            <a:avLst/>
          </a:prstGeom>
          <a:solidFill>
            <a:srgbClr val="00C8FF"/>
          </a:solidFill>
          <a:ln/>
        </p:spPr>
      </p:sp>
      <p:sp>
        <p:nvSpPr>
          <p:cNvPr id="9" name="Text 7"/>
          <p:cNvSpPr/>
          <p:nvPr/>
        </p:nvSpPr>
        <p:spPr>
          <a:xfrm>
            <a:off x="347472" y="914400"/>
            <a:ext cx="5943600" cy="822960"/>
          </a:xfrm>
          <a:prstGeom prst="rect">
            <a:avLst/>
          </a:prstGeom>
          <a:noFill/>
          <a:ln/>
        </p:spPr>
        <p:txBody>
          <a:bodyPr wrap="square" lIns="0" tIns="0" rIns="0" bIns="0" rtlCol="0" anchor="ctr"/>
          <a:lstStyle/>
          <a:p>
            <a:pPr marL="0" indent="0">
              <a:buNone/>
            </a:pPr>
            <a:r>
              <a:rPr lang="en-US" sz="3600" b="1" dirty="0">
                <a:solidFill>
                  <a:srgbClr val="FFFFFF"/>
                </a:solidFill>
              </a:rPr>
              <a:t>Cahier de Conception</a:t>
            </a:r>
            <a:endParaRPr lang="en-US" sz="3600" dirty="0"/>
          </a:p>
        </p:txBody>
      </p:sp>
      <p:sp>
        <p:nvSpPr>
          <p:cNvPr id="10" name="Text 8"/>
          <p:cNvSpPr/>
          <p:nvPr/>
        </p:nvSpPr>
        <p:spPr>
          <a:xfrm>
            <a:off x="347472" y="1810512"/>
            <a:ext cx="5943600" cy="749808"/>
          </a:xfrm>
          <a:prstGeom prst="rect">
            <a:avLst/>
          </a:prstGeom>
          <a:noFill/>
          <a:ln/>
        </p:spPr>
        <p:txBody>
          <a:bodyPr wrap="square" lIns="0" tIns="0" rIns="0" bIns="0" rtlCol="0" anchor="ctr"/>
          <a:lstStyle/>
          <a:p>
            <a:pPr marL="0" indent="0">
              <a:buNone/>
            </a:pPr>
            <a:r>
              <a:rPr lang="en-US" sz="1500" dirty="0">
                <a:solidFill>
                  <a:srgbClr val="90CAF9"/>
                </a:solidFill>
              </a:rPr>
              <a:t>Système d'Authentification Biométrique</a:t>
            </a:r>
            <a:endParaRPr lang="en-US" sz="1500" dirty="0"/>
          </a:p>
          <a:p>
            <a:pPr marL="0" indent="0">
              <a:buNone/>
            </a:pPr>
            <a:r>
              <a:rPr lang="en-US" sz="1500" dirty="0">
                <a:solidFill>
                  <a:srgbClr val="90CAF9"/>
                </a:solidFill>
              </a:rPr>
              <a:t>par Reconnaissance Faciale</a:t>
            </a:r>
            <a:endParaRPr lang="en-US" sz="1500" dirty="0"/>
          </a:p>
        </p:txBody>
      </p:sp>
      <p:sp>
        <p:nvSpPr>
          <p:cNvPr id="11" name="Shape 9"/>
          <p:cNvSpPr/>
          <p:nvPr/>
        </p:nvSpPr>
        <p:spPr>
          <a:xfrm>
            <a:off x="347472" y="2697480"/>
            <a:ext cx="4114800" cy="36576"/>
          </a:xfrm>
          <a:prstGeom prst="rect">
            <a:avLst/>
          </a:prstGeom>
          <a:solidFill>
            <a:srgbClr val="00C8FF"/>
          </a:solidFill>
          <a:ln/>
        </p:spPr>
      </p:sp>
      <p:sp>
        <p:nvSpPr>
          <p:cNvPr id="12" name="Text 10"/>
          <p:cNvSpPr/>
          <p:nvPr/>
        </p:nvSpPr>
        <p:spPr>
          <a:xfrm>
            <a:off x="347472" y="2816352"/>
            <a:ext cx="5760720" cy="1325880"/>
          </a:xfrm>
          <a:prstGeom prst="rect">
            <a:avLst/>
          </a:prstGeom>
          <a:noFill/>
          <a:ln/>
        </p:spPr>
        <p:txBody>
          <a:bodyPr wrap="square" lIns="0" tIns="0" rIns="0" bIns="0" rtlCol="0" anchor="ctr"/>
          <a:lstStyle/>
          <a:p>
            <a:pPr marL="342900" indent="-342900">
              <a:buSzPct val="100000"/>
              <a:buChar char="•"/>
            </a:pPr>
            <a:r>
              <a:rPr lang="en-US" sz="950" dirty="0">
                <a:solidFill>
                  <a:srgbClr val="D0E8FF"/>
                </a:solidFill>
              </a:rPr>
              <a:t>Architecture en couches — MVC — Python 3.10+</a:t>
            </a:r>
            <a:endParaRPr lang="en-US" sz="950" dirty="0"/>
          </a:p>
          <a:p>
            <a:pPr marL="342900" indent="-342900">
              <a:buSzPct val="100000"/>
              <a:buChar char="•"/>
            </a:pPr>
            <a:r>
              <a:rPr lang="en-US" sz="950" dirty="0">
                <a:solidFill>
                  <a:srgbClr val="D0E8FF"/>
                </a:solidFill>
              </a:rPr>
              <a:t>Diagramme de classes — 6 classes métier</a:t>
            </a:r>
            <a:endParaRPr lang="en-US" sz="950" dirty="0"/>
          </a:p>
          <a:p>
            <a:pPr marL="342900" indent="-342900">
              <a:buSzPct val="100000"/>
              <a:buChar char="•"/>
            </a:pPr>
            <a:r>
              <a:rPr lang="en-US" sz="950" dirty="0">
                <a:solidFill>
                  <a:srgbClr val="D0E8FF"/>
                </a:solidFill>
              </a:rPr>
              <a:t>3 diagrammes de </a:t>
            </a:r>
            <a:r>
              <a:rPr lang="en-US" sz="950" dirty="0" err="1">
                <a:solidFill>
                  <a:srgbClr val="D0E8FF"/>
                </a:solidFill>
              </a:rPr>
              <a:t>séquence</a:t>
            </a:r>
            <a:r>
              <a:rPr lang="en-US" sz="950" dirty="0">
                <a:solidFill>
                  <a:srgbClr val="D0E8FF"/>
                </a:solidFill>
              </a:rPr>
              <a:t> (Auth · CRUD · Attaque)</a:t>
            </a:r>
            <a:endParaRPr lang="en-US" sz="950" dirty="0"/>
          </a:p>
          <a:p>
            <a:pPr marL="342900" indent="-342900">
              <a:buSzPct val="100000"/>
              <a:buChar char="•"/>
            </a:pPr>
            <a:r>
              <a:rPr lang="en-US" sz="950" dirty="0">
                <a:solidFill>
                  <a:srgbClr val="D0E8FF"/>
                </a:solidFill>
              </a:rPr>
              <a:t>Modèle de données SQLite — chiffrement AES-256</a:t>
            </a:r>
            <a:endParaRPr lang="en-US" sz="950" dirty="0"/>
          </a:p>
          <a:p>
            <a:pPr marL="342900" indent="-342900">
              <a:buSzPct val="100000"/>
              <a:buChar char="•"/>
            </a:pPr>
            <a:r>
              <a:rPr lang="en-US" sz="950" dirty="0">
                <a:solidFill>
                  <a:srgbClr val="D0E8FF"/>
                </a:solidFill>
              </a:rPr>
              <a:t>Stratégie de tests — contraintes techniques</a:t>
            </a:r>
            <a:endParaRPr lang="en-US" sz="950" dirty="0"/>
          </a:p>
        </p:txBody>
      </p:sp>
      <p:sp>
        <p:nvSpPr>
          <p:cNvPr id="13" name="Text 11"/>
          <p:cNvSpPr/>
          <p:nvPr/>
        </p:nvSpPr>
        <p:spPr>
          <a:xfrm>
            <a:off x="347472" y="4498848"/>
            <a:ext cx="8503920" cy="256032"/>
          </a:xfrm>
          <a:prstGeom prst="rect">
            <a:avLst/>
          </a:prstGeom>
          <a:noFill/>
          <a:ln/>
        </p:spPr>
        <p:txBody>
          <a:bodyPr wrap="square" lIns="0" tIns="0" rIns="0" bIns="0" rtlCol="0" anchor="ctr"/>
          <a:lstStyle/>
          <a:p>
            <a:pPr marL="0" indent="0">
              <a:buNone/>
            </a:pPr>
            <a:r>
              <a:rPr lang="en-US" sz="850" dirty="0">
                <a:solidFill>
                  <a:srgbClr val="B0BEC5"/>
                </a:solidFill>
              </a:rPr>
              <a:t>Livrable L3  ·  Version 1.0  ·  Projet Académique  ·  2025–2026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1911</TotalTime>
  <Words>869</Words>
  <Application>Microsoft Office PowerPoint</Application>
  <PresentationFormat>Affichage à l'écran (16:9)</PresentationFormat>
  <Paragraphs>107</Paragraphs>
  <Slides>11</Slides>
  <Notes>9</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 Conception — Système Biométrique</dc:title>
  <dc:subject>PptxGenJS Presentation</dc:subject>
  <dc:creator>PptxGenJS</dc:creator>
  <cp:lastModifiedBy>Jason BARDE</cp:lastModifiedBy>
  <cp:revision>23</cp:revision>
  <dcterms:created xsi:type="dcterms:W3CDTF">2026-05-14T09:51:03Z</dcterms:created>
  <dcterms:modified xsi:type="dcterms:W3CDTF">2026-07-10T20:16:03Z</dcterms:modified>
</cp:coreProperties>
</file>