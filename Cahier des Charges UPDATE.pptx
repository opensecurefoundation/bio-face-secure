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72" r:id="rId5"/>
    <p:sldId id="273" r:id="rId6"/>
    <p:sldId id="274" r:id="rId7"/>
    <p:sldId id="260" r:id="rId8"/>
    <p:sldId id="266" r:id="rId9"/>
    <p:sldId id="267" r:id="rId10"/>
    <p:sldId id="268" r:id="rId11"/>
    <p:sldId id="269" r:id="rId12"/>
    <p:sldId id="270" r:id="rId13"/>
    <p:sldId id="265" r:id="rId14"/>
    <p:sldId id="271"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1708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535"/>
        </a:solidFill>
        <a:effectLst/>
      </p:bgPr>
    </p:bg>
    <p:spTree>
      <p:nvGrpSpPr>
        <p:cNvPr id="1" name=""/>
        <p:cNvGrpSpPr/>
        <p:nvPr/>
      </p:nvGrpSpPr>
      <p:grpSpPr>
        <a:xfrm>
          <a:off x="0" y="0"/>
          <a:ext cx="0" cy="0"/>
          <a:chOff x="0" y="0"/>
          <a:chExt cx="0" cy="0"/>
        </a:xfrm>
      </p:grpSpPr>
      <p:sp>
        <p:nvSpPr>
          <p:cNvPr id="2" name="Shape 0"/>
          <p:cNvSpPr/>
          <p:nvPr/>
        </p:nvSpPr>
        <p:spPr>
          <a:xfrm rot="1200000">
            <a:off x="-457200" y="-457200"/>
            <a:ext cx="457200" cy="6400800"/>
          </a:xfrm>
          <a:prstGeom prst="rect">
            <a:avLst/>
          </a:prstGeom>
          <a:solidFill>
            <a:srgbClr val="FFFFFF">
              <a:alpha val="5000"/>
            </a:srgbClr>
          </a:solidFill>
          <a:ln w="12700">
            <a:solidFill>
              <a:srgbClr val="0F1535"/>
            </a:solidFill>
            <a:prstDash val="solid"/>
          </a:ln>
        </p:spPr>
      </p:sp>
      <p:sp>
        <p:nvSpPr>
          <p:cNvPr id="3" name="Shape 1"/>
          <p:cNvSpPr/>
          <p:nvPr/>
        </p:nvSpPr>
        <p:spPr>
          <a:xfrm rot="1200000">
            <a:off x="1325874" y="-508408"/>
            <a:ext cx="457200" cy="6400800"/>
          </a:xfrm>
          <a:prstGeom prst="rect">
            <a:avLst/>
          </a:prstGeom>
          <a:solidFill>
            <a:srgbClr val="FFFFFF">
              <a:alpha val="5000"/>
            </a:srgbClr>
          </a:solidFill>
          <a:ln w="12700">
            <a:solidFill>
              <a:srgbClr val="0F1535"/>
            </a:solidFill>
            <a:prstDash val="solid"/>
          </a:ln>
        </p:spPr>
      </p:sp>
      <p:sp>
        <p:nvSpPr>
          <p:cNvPr id="4" name="Shape 2"/>
          <p:cNvSpPr/>
          <p:nvPr/>
        </p:nvSpPr>
        <p:spPr>
          <a:xfrm rot="1200000">
            <a:off x="3090677" y="-1196992"/>
            <a:ext cx="457200" cy="6400800"/>
          </a:xfrm>
          <a:prstGeom prst="rect">
            <a:avLst/>
          </a:prstGeom>
          <a:solidFill>
            <a:srgbClr val="FFFFFF">
              <a:alpha val="5000"/>
            </a:srgbClr>
          </a:solidFill>
          <a:ln w="12700">
            <a:solidFill>
              <a:srgbClr val="0F1535"/>
            </a:solidFill>
            <a:prstDash val="solid"/>
          </a:ln>
        </p:spPr>
      </p:sp>
      <p:sp>
        <p:nvSpPr>
          <p:cNvPr id="5" name="Shape 3"/>
          <p:cNvSpPr/>
          <p:nvPr/>
        </p:nvSpPr>
        <p:spPr>
          <a:xfrm rot="1200000">
            <a:off x="4480560" y="-457200"/>
            <a:ext cx="457200" cy="6400800"/>
          </a:xfrm>
          <a:prstGeom prst="rect">
            <a:avLst/>
          </a:prstGeom>
          <a:solidFill>
            <a:srgbClr val="FFFFFF">
              <a:alpha val="5000"/>
            </a:srgbClr>
          </a:solidFill>
          <a:ln w="12700">
            <a:solidFill>
              <a:srgbClr val="0F1535"/>
            </a:solidFill>
            <a:prstDash val="solid"/>
          </a:ln>
        </p:spPr>
      </p:sp>
      <p:sp>
        <p:nvSpPr>
          <p:cNvPr id="6" name="Shape 4"/>
          <p:cNvSpPr/>
          <p:nvPr/>
        </p:nvSpPr>
        <p:spPr>
          <a:xfrm rot="1200000">
            <a:off x="6126480" y="-457200"/>
            <a:ext cx="457200" cy="6400800"/>
          </a:xfrm>
          <a:prstGeom prst="rect">
            <a:avLst/>
          </a:prstGeom>
          <a:solidFill>
            <a:srgbClr val="FFFFFF">
              <a:alpha val="5000"/>
            </a:srgbClr>
          </a:solidFill>
          <a:ln w="12700">
            <a:solidFill>
              <a:srgbClr val="0F1535"/>
            </a:solidFill>
            <a:prstDash val="solid"/>
          </a:ln>
        </p:spPr>
      </p:sp>
      <p:sp>
        <p:nvSpPr>
          <p:cNvPr id="7" name="Shape 5"/>
          <p:cNvSpPr/>
          <p:nvPr/>
        </p:nvSpPr>
        <p:spPr>
          <a:xfrm rot="1200000">
            <a:off x="7772400" y="-457200"/>
            <a:ext cx="457200" cy="6400800"/>
          </a:xfrm>
          <a:prstGeom prst="rect">
            <a:avLst/>
          </a:prstGeom>
          <a:solidFill>
            <a:srgbClr val="FFFFFF">
              <a:alpha val="5000"/>
            </a:srgbClr>
          </a:solidFill>
          <a:ln w="12700">
            <a:solidFill>
              <a:srgbClr val="0F1535"/>
            </a:solidFill>
            <a:prstDash val="solid"/>
          </a:ln>
        </p:spPr>
      </p:sp>
      <p:sp>
        <p:nvSpPr>
          <p:cNvPr id="8" name="Shape 6"/>
          <p:cNvSpPr/>
          <p:nvPr/>
        </p:nvSpPr>
        <p:spPr>
          <a:xfrm>
            <a:off x="-16465" y="0"/>
            <a:ext cx="181057" cy="5143500"/>
          </a:xfrm>
          <a:prstGeom prst="rect">
            <a:avLst/>
          </a:prstGeom>
          <a:solidFill>
            <a:srgbClr val="00A8E8"/>
          </a:solidFill>
          <a:ln w="12700">
            <a:solidFill>
              <a:srgbClr val="00A8E8"/>
            </a:solidFill>
            <a:prstDash val="solid"/>
          </a:ln>
        </p:spPr>
      </p:sp>
      <p:pic>
        <p:nvPicPr>
          <p:cNvPr id="9" name="Image 0" descr="preencoded.png"/>
          <p:cNvPicPr>
            <a:picLocks noChangeAspect="1"/>
          </p:cNvPicPr>
          <p:nvPr/>
        </p:nvPicPr>
        <p:blipFill>
          <a:blip r:embed="rId3"/>
          <a:stretch>
            <a:fillRect/>
          </a:stretch>
        </p:blipFill>
        <p:spPr>
          <a:xfrm>
            <a:off x="548640" y="685800"/>
            <a:ext cx="1097280" cy="1097280"/>
          </a:xfrm>
          <a:prstGeom prst="rect">
            <a:avLst/>
          </a:prstGeom>
        </p:spPr>
      </p:pic>
      <p:sp>
        <p:nvSpPr>
          <p:cNvPr id="10" name="Text 7"/>
          <p:cNvSpPr/>
          <p:nvPr/>
        </p:nvSpPr>
        <p:spPr>
          <a:xfrm>
            <a:off x="2154313" y="83780"/>
            <a:ext cx="8229600" cy="457200"/>
          </a:xfrm>
          <a:prstGeom prst="rect">
            <a:avLst/>
          </a:prstGeom>
          <a:noFill/>
          <a:ln/>
        </p:spPr>
        <p:txBody>
          <a:bodyPr wrap="square" rtlCol="0" anchor="ctr"/>
          <a:lstStyle/>
          <a:p>
            <a:pPr marL="0" indent="0">
              <a:buNone/>
            </a:pPr>
            <a:r>
              <a:rPr lang="en-US" sz="2400" b="1" kern="0" spc="500" dirty="0">
                <a:solidFill>
                  <a:srgbClr val="00A8E8"/>
                </a:solidFill>
                <a:latin typeface="Times New Roman" panose="02020603050405020304" pitchFamily="18" charset="0"/>
                <a:cs typeface="Times New Roman" panose="02020603050405020304" pitchFamily="18" charset="0"/>
              </a:rPr>
              <a:t>CAHIER DES CHARGES</a:t>
            </a:r>
            <a:endParaRPr lang="en-US" sz="2400" dirty="0">
              <a:latin typeface="Times New Roman" panose="02020603050405020304" pitchFamily="18" charset="0"/>
              <a:cs typeface="Times New Roman" panose="02020603050405020304" pitchFamily="18" charset="0"/>
            </a:endParaRPr>
          </a:p>
        </p:txBody>
      </p:sp>
      <p:sp>
        <p:nvSpPr>
          <p:cNvPr id="11" name="Text 8"/>
          <p:cNvSpPr/>
          <p:nvPr/>
        </p:nvSpPr>
        <p:spPr>
          <a:xfrm>
            <a:off x="501090" y="933441"/>
            <a:ext cx="8185710" cy="1280160"/>
          </a:xfrm>
          <a:prstGeom prst="rect">
            <a:avLst/>
          </a:prstGeom>
          <a:noFill/>
          <a:ln/>
        </p:spPr>
        <p:txBody>
          <a:bodyPr wrap="square" rtlCol="0" anchor="ctr"/>
          <a:lstStyle/>
          <a:p>
            <a:pPr algn="ctr">
              <a:lnSpc>
                <a:spcPct val="150000"/>
              </a:lnSpc>
            </a:pPr>
            <a:r>
              <a:rPr lang="fr-FR" b="1" dirty="0">
                <a:solidFill>
                  <a:srgbClr val="FFFFFF"/>
                </a:solidFill>
                <a:latin typeface="Times New Roman" panose="02020603050405020304" pitchFamily="18" charset="0"/>
                <a:cs typeface="Times New Roman" panose="02020603050405020304" pitchFamily="18" charset="0"/>
              </a:rPr>
              <a:t>CONCEPTION, DÉVELOPPEMENT ET DÉPLOIEMENT D’UN SYSTÈME SÉCURISÉ D’AUTHENTIFICATION BIOMÉTRIQUE PAR RECONNAISSANCE FACIALE AVEC DÉTECTION D’ATTAQUES ET PROTECTION DES DONNÉES SENSIBLES</a:t>
            </a:r>
            <a:endParaRPr lang="en-US" dirty="0">
              <a:latin typeface="Times New Roman" panose="02020603050405020304" pitchFamily="18" charset="0"/>
              <a:cs typeface="Times New Roman" panose="02020603050405020304" pitchFamily="18" charset="0"/>
            </a:endParaRPr>
          </a:p>
        </p:txBody>
      </p:sp>
      <p:sp>
        <p:nvSpPr>
          <p:cNvPr id="13" name="Shape 10"/>
          <p:cNvSpPr/>
          <p:nvPr/>
        </p:nvSpPr>
        <p:spPr>
          <a:xfrm>
            <a:off x="590244" y="4400810"/>
            <a:ext cx="8229600" cy="566928"/>
          </a:xfrm>
          <a:prstGeom prst="rect">
            <a:avLst/>
          </a:prstGeom>
          <a:solidFill>
            <a:srgbClr val="1E2761"/>
          </a:solidFill>
          <a:ln w="12700">
            <a:solidFill>
              <a:srgbClr val="1E2761"/>
            </a:solidFill>
            <a:prstDash val="solid"/>
          </a:ln>
        </p:spPr>
      </p:sp>
      <p:sp>
        <p:nvSpPr>
          <p:cNvPr id="14" name="Text 11"/>
          <p:cNvSpPr/>
          <p:nvPr/>
        </p:nvSpPr>
        <p:spPr>
          <a:xfrm>
            <a:off x="457200" y="4455674"/>
            <a:ext cx="8229600" cy="457200"/>
          </a:xfrm>
          <a:prstGeom prst="rect">
            <a:avLst/>
          </a:prstGeom>
          <a:noFill/>
          <a:ln/>
        </p:spPr>
        <p:txBody>
          <a:bodyPr wrap="square" rtlCol="0" anchor="ctr"/>
          <a:lstStyle/>
          <a:p>
            <a:pPr marL="0" indent="0" algn="ctr">
              <a:buNone/>
            </a:pPr>
            <a:r>
              <a:rPr lang="en-US" sz="1100" b="1" dirty="0">
                <a:solidFill>
                  <a:srgbClr val="8899BB"/>
                </a:solidFill>
                <a:latin typeface="Times New Roman" panose="02020603050405020304" pitchFamily="18" charset="0"/>
                <a:cs typeface="Times New Roman" panose="02020603050405020304" pitchFamily="18" charset="0"/>
              </a:rPr>
              <a:t>  </a:t>
            </a:r>
            <a:r>
              <a:rPr lang="en-US" sz="1600" b="1" dirty="0" err="1">
                <a:solidFill>
                  <a:srgbClr val="CADCFC"/>
                </a:solidFill>
                <a:latin typeface="Times New Roman" panose="02020603050405020304" pitchFamily="18" charset="0"/>
                <a:cs typeface="Times New Roman" panose="02020603050405020304" pitchFamily="18" charset="0"/>
              </a:rPr>
              <a:t>Projet</a:t>
            </a:r>
            <a:r>
              <a:rPr lang="en-US" sz="1600" b="1" dirty="0">
                <a:solidFill>
                  <a:srgbClr val="CADCFC"/>
                </a:solidFill>
                <a:latin typeface="Times New Roman" panose="02020603050405020304" pitchFamily="18" charset="0"/>
                <a:cs typeface="Times New Roman" panose="02020603050405020304" pitchFamily="18" charset="0"/>
              </a:rPr>
              <a:t> académique de Sécurité des Systèmes d’exploitation année 2025-2026</a:t>
            </a:r>
            <a:r>
              <a:rPr lang="en-US" sz="1600" b="1" dirty="0">
                <a:solidFill>
                  <a:srgbClr val="8899BB"/>
                </a:solidFill>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sp>
        <p:nvSpPr>
          <p:cNvPr id="15" name="ZoneTexte 14"/>
          <p:cNvSpPr txBox="1"/>
          <p:nvPr/>
        </p:nvSpPr>
        <p:spPr>
          <a:xfrm>
            <a:off x="548640" y="1688871"/>
            <a:ext cx="3540760" cy="3139321"/>
          </a:xfrm>
          <a:prstGeom prst="rect">
            <a:avLst/>
          </a:prstGeom>
          <a:noFill/>
        </p:spPr>
        <p:txBody>
          <a:bodyPr wrap="square" rtlCol="0">
            <a:spAutoFit/>
          </a:bodyPr>
          <a:lstStyle/>
          <a:p>
            <a:endParaRPr lang="fr-CM" dirty="0">
              <a:solidFill>
                <a:schemeClr val="bg1"/>
              </a:solidFill>
            </a:endParaRPr>
          </a:p>
          <a:p>
            <a:endParaRPr lang="fr-CM" dirty="0">
              <a:solidFill>
                <a:schemeClr val="bg1"/>
              </a:solidFill>
            </a:endParaRPr>
          </a:p>
          <a:p>
            <a:endParaRPr lang="fr-CM" sz="1200" dirty="0">
              <a:solidFill>
                <a:schemeClr val="bg1"/>
              </a:solidFill>
            </a:endParaRPr>
          </a:p>
          <a:p>
            <a:r>
              <a:rPr lang="fr-CM" sz="1200" dirty="0">
                <a:solidFill>
                  <a:schemeClr val="bg1"/>
                </a:solidFill>
                <a:latin typeface="Times New Roman" panose="02020603050405020304" pitchFamily="18" charset="0"/>
                <a:cs typeface="Times New Roman" panose="02020603050405020304" pitchFamily="18" charset="0"/>
              </a:rPr>
              <a:t>Rédigé et présenté par:</a:t>
            </a:r>
          </a:p>
          <a:p>
            <a:endParaRPr lang="fr-CM" sz="1200" dirty="0">
              <a:solidFill>
                <a:schemeClr val="bg1"/>
              </a:solidFill>
              <a:latin typeface="Times New Roman" panose="02020603050405020304" pitchFamily="18" charset="0"/>
              <a:cs typeface="Times New Roman" panose="02020603050405020304" pitchFamily="18" charset="0"/>
            </a:endParaRPr>
          </a:p>
          <a:p>
            <a:pPr>
              <a:lnSpc>
                <a:spcPct val="150000"/>
              </a:lnSpc>
            </a:pPr>
            <a:r>
              <a:rPr lang="fr-CM" sz="1200" b="1" dirty="0">
                <a:solidFill>
                  <a:schemeClr val="bg1"/>
                </a:solidFill>
                <a:latin typeface="Times New Roman" panose="02020603050405020304" pitchFamily="18" charset="0"/>
                <a:cs typeface="Times New Roman" panose="02020603050405020304" pitchFamily="18" charset="0"/>
              </a:rPr>
              <a:t>BARDE </a:t>
            </a:r>
            <a:r>
              <a:rPr lang="fr-CM" sz="1200" b="1" dirty="0" err="1">
                <a:solidFill>
                  <a:schemeClr val="bg1"/>
                </a:solidFill>
                <a:latin typeface="Times New Roman" panose="02020603050405020304" pitchFamily="18" charset="0"/>
                <a:cs typeface="Times New Roman" panose="02020603050405020304" pitchFamily="18" charset="0"/>
              </a:rPr>
              <a:t>BARDE</a:t>
            </a:r>
            <a:r>
              <a:rPr lang="fr-CM" sz="1200" b="1" dirty="0">
                <a:solidFill>
                  <a:schemeClr val="bg1"/>
                </a:solidFill>
                <a:latin typeface="Times New Roman" panose="02020603050405020304" pitchFamily="18" charset="0"/>
                <a:cs typeface="Times New Roman" panose="02020603050405020304" pitchFamily="18" charset="0"/>
              </a:rPr>
              <a:t> B. Jason</a:t>
            </a:r>
          </a:p>
          <a:p>
            <a:pPr>
              <a:lnSpc>
                <a:spcPct val="150000"/>
              </a:lnSpc>
            </a:pPr>
            <a:r>
              <a:rPr lang="fr-CM" sz="1200" b="1" dirty="0">
                <a:solidFill>
                  <a:schemeClr val="bg1"/>
                </a:solidFill>
                <a:latin typeface="Times New Roman" panose="02020603050405020304" pitchFamily="18" charset="0"/>
                <a:cs typeface="Times New Roman" panose="02020603050405020304" pitchFamily="18" charset="0"/>
              </a:rPr>
              <a:t>TEMGOUA Lionel</a:t>
            </a:r>
          </a:p>
          <a:p>
            <a:pPr>
              <a:lnSpc>
                <a:spcPct val="150000"/>
              </a:lnSpc>
            </a:pPr>
            <a:r>
              <a:rPr lang="fr-CM" sz="1200" b="1" dirty="0">
                <a:solidFill>
                  <a:schemeClr val="bg1"/>
                </a:solidFill>
                <a:latin typeface="Times New Roman" panose="02020603050405020304" pitchFamily="18" charset="0"/>
                <a:cs typeface="Times New Roman" panose="02020603050405020304" pitchFamily="18" charset="0"/>
              </a:rPr>
              <a:t>YOSSI </a:t>
            </a:r>
          </a:p>
          <a:p>
            <a:endParaRPr lang="fr-CM" sz="1200" dirty="0">
              <a:solidFill>
                <a:schemeClr val="bg1"/>
              </a:solidFill>
            </a:endParaRPr>
          </a:p>
          <a:p>
            <a:endParaRPr lang="fr-CM" sz="1200" dirty="0">
              <a:solidFill>
                <a:schemeClr val="bg1"/>
              </a:solidFill>
              <a:latin typeface="Times New Roman" panose="02020603050405020304" pitchFamily="18" charset="0"/>
              <a:cs typeface="Times New Roman" panose="02020603050405020304" pitchFamily="18" charset="0"/>
            </a:endParaRPr>
          </a:p>
          <a:p>
            <a:r>
              <a:rPr lang="fr-CM" sz="1200" dirty="0">
                <a:solidFill>
                  <a:schemeClr val="bg1"/>
                </a:solidFill>
                <a:latin typeface="Times New Roman" panose="02020603050405020304" pitchFamily="18" charset="0"/>
                <a:cs typeface="Times New Roman" panose="02020603050405020304" pitchFamily="18" charset="0"/>
              </a:rPr>
              <a:t>Étudiants en M1 SSI</a:t>
            </a:r>
          </a:p>
          <a:p>
            <a:endParaRPr lang="fr-CM" dirty="0"/>
          </a:p>
          <a:p>
            <a:endParaRPr lang="fr-CM" dirty="0"/>
          </a:p>
        </p:txBody>
      </p:sp>
      <p:sp>
        <p:nvSpPr>
          <p:cNvPr id="16" name="ZoneTexte 15"/>
          <p:cNvSpPr txBox="1"/>
          <p:nvPr/>
        </p:nvSpPr>
        <p:spPr>
          <a:xfrm>
            <a:off x="5330554" y="3852422"/>
            <a:ext cx="5567680" cy="276999"/>
          </a:xfrm>
          <a:prstGeom prst="rect">
            <a:avLst/>
          </a:prstGeom>
          <a:noFill/>
        </p:spPr>
        <p:txBody>
          <a:bodyPr wrap="square" rtlCol="0">
            <a:spAutoFit/>
          </a:bodyPr>
          <a:lstStyle/>
          <a:p>
            <a:r>
              <a:rPr lang="fr-FR" sz="1200" b="1" dirty="0">
                <a:solidFill>
                  <a:schemeClr val="bg1"/>
                </a:solidFill>
                <a:latin typeface="Times New Roman" panose="02020603050405020304" pitchFamily="18" charset="0"/>
                <a:cs typeface="Times New Roman" panose="02020603050405020304" pitchFamily="18" charset="0"/>
              </a:rPr>
              <a:t>Sous la supervision de : M. NGUIMBUS Emmanuel</a:t>
            </a:r>
            <a:endParaRPr lang="en-US" sz="12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Sommaire du Cahier des Charges</a:t>
            </a:r>
            <a:endParaRPr lang="en-US" sz="2100" dirty="0"/>
          </a:p>
        </p:txBody>
      </p:sp>
      <p:sp>
        <p:nvSpPr>
          <p:cNvPr id="5" name="Shape 2"/>
          <p:cNvSpPr/>
          <p:nvPr/>
        </p:nvSpPr>
        <p:spPr>
          <a:xfrm>
            <a:off x="320040" y="1051560"/>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6" name="Shape 3"/>
          <p:cNvSpPr/>
          <p:nvPr/>
        </p:nvSpPr>
        <p:spPr>
          <a:xfrm>
            <a:off x="320040" y="1051560"/>
            <a:ext cx="502920" cy="621792"/>
          </a:xfrm>
          <a:prstGeom prst="rect">
            <a:avLst/>
          </a:prstGeom>
          <a:solidFill>
            <a:srgbClr val="00A8E8"/>
          </a:solidFill>
          <a:ln w="12700">
            <a:solidFill>
              <a:srgbClr val="00A8E8"/>
            </a:solidFill>
            <a:prstDash val="solid"/>
          </a:ln>
        </p:spPr>
      </p:sp>
      <p:sp>
        <p:nvSpPr>
          <p:cNvPr id="7" name="Text 4"/>
          <p:cNvSpPr/>
          <p:nvPr/>
        </p:nvSpPr>
        <p:spPr>
          <a:xfrm>
            <a:off x="320040" y="1051560"/>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8" name="Text 5"/>
          <p:cNvSpPr/>
          <p:nvPr/>
        </p:nvSpPr>
        <p:spPr>
          <a:xfrm>
            <a:off x="914400" y="1051560"/>
            <a:ext cx="3383280" cy="621792"/>
          </a:xfrm>
          <a:prstGeom prst="rect">
            <a:avLst/>
          </a:prstGeom>
          <a:noFill/>
          <a:ln/>
        </p:spPr>
        <p:txBody>
          <a:bodyPr wrap="square" lIns="0" tIns="0" rIns="0" bIns="0" rtlCol="0" anchor="ctr"/>
          <a:lstStyle/>
          <a:p>
            <a:pPr marL="0" indent="0">
              <a:buNone/>
            </a:pPr>
            <a:r>
              <a:rPr lang="en-US" sz="1200" b="1" dirty="0">
                <a:solidFill>
                  <a:srgbClr val="1E2761"/>
                </a:solidFill>
              </a:rPr>
              <a:t>Contexte &amp; Objectifs</a:t>
            </a:r>
            <a:endParaRPr lang="en-US" sz="1200" dirty="0"/>
          </a:p>
        </p:txBody>
      </p:sp>
      <p:sp>
        <p:nvSpPr>
          <p:cNvPr id="9" name="Shape 6"/>
          <p:cNvSpPr/>
          <p:nvPr/>
        </p:nvSpPr>
        <p:spPr>
          <a:xfrm>
            <a:off x="4617720" y="1051560"/>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10" name="Shape 7"/>
          <p:cNvSpPr/>
          <p:nvPr/>
        </p:nvSpPr>
        <p:spPr>
          <a:xfrm>
            <a:off x="4617720" y="1051560"/>
            <a:ext cx="502920" cy="621792"/>
          </a:xfrm>
          <a:prstGeom prst="rect">
            <a:avLst/>
          </a:prstGeom>
          <a:solidFill>
            <a:srgbClr val="00C9A7"/>
          </a:solidFill>
          <a:ln w="12700">
            <a:solidFill>
              <a:srgbClr val="00C9A7"/>
            </a:solidFill>
            <a:prstDash val="solid"/>
          </a:ln>
        </p:spPr>
      </p:sp>
      <p:sp>
        <p:nvSpPr>
          <p:cNvPr id="11" name="Text 8"/>
          <p:cNvSpPr/>
          <p:nvPr/>
        </p:nvSpPr>
        <p:spPr>
          <a:xfrm>
            <a:off x="4617720" y="1051560"/>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2" name="Text 9"/>
          <p:cNvSpPr/>
          <p:nvPr/>
        </p:nvSpPr>
        <p:spPr>
          <a:xfrm>
            <a:off x="5212080" y="1051560"/>
            <a:ext cx="3383280" cy="621792"/>
          </a:xfrm>
          <a:prstGeom prst="rect">
            <a:avLst/>
          </a:prstGeom>
          <a:noFill/>
          <a:ln/>
        </p:spPr>
        <p:txBody>
          <a:bodyPr wrap="square" lIns="0" tIns="0" rIns="0" bIns="0" rtlCol="0" anchor="ctr"/>
          <a:lstStyle/>
          <a:p>
            <a:pPr marL="0" indent="0">
              <a:buNone/>
            </a:pPr>
            <a:r>
              <a:rPr lang="en-US" sz="1200" b="1" dirty="0">
                <a:solidFill>
                  <a:srgbClr val="1E2761"/>
                </a:solidFill>
              </a:rPr>
              <a:t>Expressions des besoins utilisateurs (besions fonctionnels et non fonctionnels</a:t>
            </a:r>
            <a:endParaRPr lang="en-US" sz="1200" dirty="0"/>
          </a:p>
        </p:txBody>
      </p:sp>
      <p:sp>
        <p:nvSpPr>
          <p:cNvPr id="13" name="Shape 10"/>
          <p:cNvSpPr/>
          <p:nvPr/>
        </p:nvSpPr>
        <p:spPr>
          <a:xfrm>
            <a:off x="320040" y="2358336"/>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14" name="Shape 11"/>
          <p:cNvSpPr/>
          <p:nvPr/>
        </p:nvSpPr>
        <p:spPr>
          <a:xfrm>
            <a:off x="320040" y="2367072"/>
            <a:ext cx="502920" cy="621792"/>
          </a:xfrm>
          <a:prstGeom prst="rect">
            <a:avLst/>
          </a:prstGeom>
          <a:solidFill>
            <a:srgbClr val="00A8E8"/>
          </a:solidFill>
          <a:ln w="12700">
            <a:solidFill>
              <a:srgbClr val="00A8E8"/>
            </a:solidFill>
            <a:prstDash val="solid"/>
          </a:ln>
        </p:spPr>
      </p:sp>
      <p:sp>
        <p:nvSpPr>
          <p:cNvPr id="15" name="Text 12"/>
          <p:cNvSpPr/>
          <p:nvPr/>
        </p:nvSpPr>
        <p:spPr>
          <a:xfrm>
            <a:off x="297180" y="2310007"/>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16" name="Text 13"/>
          <p:cNvSpPr/>
          <p:nvPr/>
        </p:nvSpPr>
        <p:spPr>
          <a:xfrm>
            <a:off x="937260" y="2375808"/>
            <a:ext cx="3383280" cy="621792"/>
          </a:xfrm>
          <a:prstGeom prst="rect">
            <a:avLst/>
          </a:prstGeom>
          <a:noFill/>
          <a:ln/>
        </p:spPr>
        <p:txBody>
          <a:bodyPr wrap="square" lIns="0" tIns="0" rIns="0" bIns="0" rtlCol="0" anchor="ctr"/>
          <a:lstStyle/>
          <a:p>
            <a:pPr marL="0" indent="0">
              <a:buNone/>
            </a:pPr>
            <a:r>
              <a:rPr lang="en-US" sz="1200" b="1" dirty="0">
                <a:solidFill>
                  <a:srgbClr val="1E2761"/>
                </a:solidFill>
              </a:rPr>
              <a:t>Fonctionnalités attendues</a:t>
            </a:r>
            <a:endParaRPr lang="en-US" sz="1200" dirty="0"/>
          </a:p>
        </p:txBody>
      </p:sp>
      <p:sp>
        <p:nvSpPr>
          <p:cNvPr id="33" name="Shape 30"/>
          <p:cNvSpPr/>
          <p:nvPr/>
        </p:nvSpPr>
        <p:spPr>
          <a:xfrm>
            <a:off x="4572000" y="2358336"/>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34" name="Shape 31"/>
          <p:cNvSpPr/>
          <p:nvPr/>
        </p:nvSpPr>
        <p:spPr>
          <a:xfrm>
            <a:off x="4573693" y="2358336"/>
            <a:ext cx="502920" cy="621792"/>
          </a:xfrm>
          <a:prstGeom prst="rect">
            <a:avLst/>
          </a:prstGeom>
          <a:solidFill>
            <a:srgbClr val="00A8E8"/>
          </a:solidFill>
          <a:ln w="12700">
            <a:solidFill>
              <a:srgbClr val="00A8E8"/>
            </a:solidFill>
            <a:prstDash val="solid"/>
          </a:ln>
        </p:spPr>
      </p:sp>
      <p:sp>
        <p:nvSpPr>
          <p:cNvPr id="35" name="Text 32"/>
          <p:cNvSpPr/>
          <p:nvPr/>
        </p:nvSpPr>
        <p:spPr>
          <a:xfrm>
            <a:off x="4572000" y="2358336"/>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36" name="Text 33"/>
          <p:cNvSpPr/>
          <p:nvPr/>
        </p:nvSpPr>
        <p:spPr>
          <a:xfrm>
            <a:off x="5212080" y="2620572"/>
            <a:ext cx="3383280" cy="621792"/>
          </a:xfrm>
          <a:prstGeom prst="rect">
            <a:avLst/>
          </a:prstGeom>
          <a:noFill/>
          <a:ln/>
        </p:spPr>
        <p:txBody>
          <a:bodyPr wrap="square" lIns="0" tIns="0" rIns="0" bIns="0" rtlCol="0" anchor="ctr"/>
          <a:lstStyle/>
          <a:p>
            <a:pPr marL="0" indent="0">
              <a:buNone/>
            </a:pPr>
            <a:endParaRPr lang="en-US" sz="1200" dirty="0"/>
          </a:p>
        </p:txBody>
      </p:sp>
      <p:sp>
        <p:nvSpPr>
          <p:cNvPr id="37" name="Shape 34"/>
          <p:cNvSpPr/>
          <p:nvPr/>
        </p:nvSpPr>
        <p:spPr>
          <a:xfrm>
            <a:off x="433631" y="3345888"/>
            <a:ext cx="4069080"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38" name="Shape 35"/>
          <p:cNvSpPr/>
          <p:nvPr/>
        </p:nvSpPr>
        <p:spPr>
          <a:xfrm>
            <a:off x="320040" y="3328416"/>
            <a:ext cx="502920" cy="621792"/>
          </a:xfrm>
          <a:prstGeom prst="rect">
            <a:avLst/>
          </a:prstGeom>
          <a:solidFill>
            <a:srgbClr val="6C3FC7"/>
          </a:solidFill>
          <a:ln w="12700">
            <a:solidFill>
              <a:srgbClr val="6C3FC7"/>
            </a:solidFill>
            <a:prstDash val="solid"/>
          </a:ln>
        </p:spPr>
      </p:sp>
      <p:sp>
        <p:nvSpPr>
          <p:cNvPr id="39" name="Text 36"/>
          <p:cNvSpPr/>
          <p:nvPr/>
        </p:nvSpPr>
        <p:spPr>
          <a:xfrm>
            <a:off x="320040" y="3328416"/>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05</a:t>
            </a:r>
            <a:endParaRPr lang="en-US" sz="1300" dirty="0"/>
          </a:p>
        </p:txBody>
      </p:sp>
      <p:sp>
        <p:nvSpPr>
          <p:cNvPr id="40" name="Text 37"/>
          <p:cNvSpPr/>
          <p:nvPr/>
        </p:nvSpPr>
        <p:spPr>
          <a:xfrm>
            <a:off x="914400" y="3328416"/>
            <a:ext cx="3822759" cy="621792"/>
          </a:xfrm>
          <a:prstGeom prst="rect">
            <a:avLst/>
          </a:prstGeom>
          <a:noFill/>
          <a:ln/>
        </p:spPr>
        <p:txBody>
          <a:bodyPr wrap="square" lIns="0" tIns="0" rIns="0" bIns="0" rtlCol="0" anchor="ctr"/>
          <a:lstStyle/>
          <a:p>
            <a:pPr marL="0" indent="0">
              <a:buNone/>
            </a:pPr>
            <a:r>
              <a:rPr lang="en-US" sz="1200" b="1" dirty="0">
                <a:solidFill>
                  <a:srgbClr val="1E2761"/>
                </a:solidFill>
              </a:rPr>
              <a:t>Planification du projet</a:t>
            </a:r>
            <a:endParaRPr lang="en-US" sz="1200" dirty="0"/>
          </a:p>
        </p:txBody>
      </p:sp>
      <p:sp>
        <p:nvSpPr>
          <p:cNvPr id="41" name="Shape 38"/>
          <p:cNvSpPr/>
          <p:nvPr/>
        </p:nvSpPr>
        <p:spPr>
          <a:xfrm>
            <a:off x="4856421" y="3345888"/>
            <a:ext cx="3830379" cy="621792"/>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sp>
      <p:sp>
        <p:nvSpPr>
          <p:cNvPr id="42" name="Shape 39"/>
          <p:cNvSpPr/>
          <p:nvPr/>
        </p:nvSpPr>
        <p:spPr>
          <a:xfrm>
            <a:off x="4617720" y="3345888"/>
            <a:ext cx="502920" cy="621792"/>
          </a:xfrm>
          <a:prstGeom prst="rect">
            <a:avLst/>
          </a:prstGeom>
          <a:solidFill>
            <a:srgbClr val="006644"/>
          </a:solidFill>
          <a:ln w="12700">
            <a:solidFill>
              <a:srgbClr val="006644"/>
            </a:solidFill>
            <a:prstDash val="solid"/>
          </a:ln>
        </p:spPr>
      </p:sp>
      <p:sp>
        <p:nvSpPr>
          <p:cNvPr id="43" name="Text 40"/>
          <p:cNvSpPr/>
          <p:nvPr/>
        </p:nvSpPr>
        <p:spPr>
          <a:xfrm>
            <a:off x="4617720" y="3345888"/>
            <a:ext cx="502920" cy="621792"/>
          </a:xfrm>
          <a:prstGeom prst="rect">
            <a:avLst/>
          </a:prstGeom>
          <a:noFill/>
          <a:ln/>
        </p:spPr>
        <p:txBody>
          <a:bodyPr wrap="square" lIns="0" tIns="0" rIns="0" bIns="0" rtlCol="0" anchor="ctr"/>
          <a:lstStyle/>
          <a:p>
            <a:pPr marL="0" indent="0" algn="ctr">
              <a:buNone/>
            </a:pPr>
            <a:r>
              <a:rPr lang="en-US" sz="1300" b="1" dirty="0">
                <a:solidFill>
                  <a:srgbClr val="FFFFFF"/>
                </a:solidFill>
              </a:rPr>
              <a:t>06</a:t>
            </a:r>
            <a:endParaRPr lang="en-US" sz="1300" dirty="0"/>
          </a:p>
        </p:txBody>
      </p:sp>
      <p:sp>
        <p:nvSpPr>
          <p:cNvPr id="44" name="Text 41"/>
          <p:cNvSpPr/>
          <p:nvPr/>
        </p:nvSpPr>
        <p:spPr>
          <a:xfrm>
            <a:off x="5212080" y="3430632"/>
            <a:ext cx="3383280" cy="537048"/>
          </a:xfrm>
          <a:prstGeom prst="rect">
            <a:avLst/>
          </a:prstGeom>
          <a:noFill/>
          <a:ln/>
        </p:spPr>
        <p:txBody>
          <a:bodyPr wrap="square" lIns="0" tIns="0" rIns="0" bIns="0" rtlCol="0" anchor="ctr"/>
          <a:lstStyle/>
          <a:p>
            <a:r>
              <a:rPr lang="en-US" sz="1200" b="1" dirty="0">
                <a:solidFill>
                  <a:srgbClr val="1E2761"/>
                </a:solidFill>
              </a:rPr>
              <a:t>Livrables attendus</a:t>
            </a:r>
            <a:endParaRPr lang="en-US" sz="1200" dirty="0"/>
          </a:p>
          <a:p>
            <a:pPr marL="0" indent="0">
              <a:buNone/>
            </a:pPr>
            <a:endParaRPr lang="en-US" sz="1200" dirty="0"/>
          </a:p>
        </p:txBody>
      </p:sp>
      <p:sp>
        <p:nvSpPr>
          <p:cNvPr id="45" name="Text 41"/>
          <p:cNvSpPr/>
          <p:nvPr/>
        </p:nvSpPr>
        <p:spPr>
          <a:xfrm>
            <a:off x="5166360" y="2401202"/>
            <a:ext cx="3383280" cy="621792"/>
          </a:xfrm>
          <a:prstGeom prst="rect">
            <a:avLst/>
          </a:prstGeom>
          <a:noFill/>
          <a:ln/>
        </p:spPr>
        <p:txBody>
          <a:bodyPr wrap="square" lIns="0" tIns="0" rIns="0" bIns="0" rtlCol="0" anchor="ctr"/>
          <a:lstStyle/>
          <a:p>
            <a:r>
              <a:rPr lang="en-US" sz="1200" b="1" dirty="0">
                <a:solidFill>
                  <a:srgbClr val="1E2761"/>
                </a:solidFill>
              </a:rPr>
              <a:t>Budgétisation du projet</a:t>
            </a:r>
            <a:endParaRPr lang="en-US" sz="1200" dirty="0"/>
          </a:p>
          <a:p>
            <a:pPr marL="0" indent="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01 · Contexte &amp; Objectifs</a:t>
            </a:r>
            <a:endParaRPr lang="en-US" sz="2100" dirty="0"/>
          </a:p>
        </p:txBody>
      </p:sp>
      <p:sp>
        <p:nvSpPr>
          <p:cNvPr id="5"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6" name="Text 3"/>
          <p:cNvSpPr/>
          <p:nvPr/>
        </p:nvSpPr>
        <p:spPr>
          <a:xfrm>
            <a:off x="457200" y="1033272"/>
            <a:ext cx="1828800" cy="256032"/>
          </a:xfrm>
          <a:prstGeom prst="rect">
            <a:avLst/>
          </a:prstGeom>
          <a:noFill/>
          <a:ln/>
        </p:spPr>
        <p:txBody>
          <a:bodyPr wrap="square" rtlCol="0" anchor="ctr"/>
          <a:lstStyle/>
          <a:p>
            <a:pPr marL="0" indent="0">
              <a:buNone/>
            </a:pPr>
            <a:r>
              <a:rPr lang="en-US" sz="1100" b="1" dirty="0">
                <a:solidFill>
                  <a:srgbClr val="00A8E8"/>
                </a:solidFill>
              </a:rPr>
              <a:t>Contexte</a:t>
            </a:r>
            <a:endParaRPr lang="en-US" sz="1100" dirty="0"/>
          </a:p>
        </p:txBody>
      </p:sp>
      <p:sp>
        <p:nvSpPr>
          <p:cNvPr id="7" name="Text 4"/>
          <p:cNvSpPr/>
          <p:nvPr/>
        </p:nvSpPr>
        <p:spPr>
          <a:xfrm>
            <a:off x="457200" y="1280160"/>
            <a:ext cx="8321040" cy="457200"/>
          </a:xfrm>
          <a:prstGeom prst="rect">
            <a:avLst/>
          </a:prstGeom>
          <a:noFill/>
          <a:ln/>
        </p:spPr>
        <p:txBody>
          <a:bodyPr wrap="square" rtlCol="0" anchor="ctr"/>
          <a:lstStyle/>
          <a:p>
            <a:pPr marL="0" indent="0" algn="just">
              <a:buNone/>
            </a:pPr>
            <a:r>
              <a:rPr lang="en-US" sz="1050" dirty="0">
                <a:solidFill>
                  <a:srgbClr val="2A2A4A"/>
                </a:solidFill>
              </a:rPr>
              <a:t>Les mécanismes d'authentification classiques (mot de passe, PIN) présentent des vulnérabilités structurelles. La biométrie faciale constitue une alternative robuste si elle intègre dès la conception des mécanismes anti-spoofing et de protection des données sensibles. Ce projet vise à concevoir, développer et déployer un tel système complet.</a:t>
            </a:r>
            <a:endParaRPr lang="en-US" sz="1050" dirty="0"/>
          </a:p>
        </p:txBody>
      </p:sp>
      <p:sp>
        <p:nvSpPr>
          <p:cNvPr id="8" name="Shape 5"/>
          <p:cNvSpPr/>
          <p:nvPr/>
        </p:nvSpPr>
        <p:spPr>
          <a:xfrm>
            <a:off x="1572147" y="1989210"/>
            <a:ext cx="5809907" cy="297180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9" name="Image 1" descr="preencoded.png"/>
          <p:cNvPicPr>
            <a:picLocks noChangeAspect="1"/>
          </p:cNvPicPr>
          <p:nvPr/>
        </p:nvPicPr>
        <p:blipFill>
          <a:blip r:embed="rId4"/>
          <a:stretch>
            <a:fillRect/>
          </a:stretch>
        </p:blipFill>
        <p:spPr>
          <a:xfrm>
            <a:off x="1626781" y="2103120"/>
            <a:ext cx="471378" cy="320040"/>
          </a:xfrm>
          <a:prstGeom prst="rect">
            <a:avLst/>
          </a:prstGeom>
        </p:spPr>
      </p:pic>
      <p:sp>
        <p:nvSpPr>
          <p:cNvPr id="10" name="Text 6"/>
          <p:cNvSpPr/>
          <p:nvPr/>
        </p:nvSpPr>
        <p:spPr>
          <a:xfrm>
            <a:off x="3416371" y="2098725"/>
            <a:ext cx="4688697" cy="320040"/>
          </a:xfrm>
          <a:prstGeom prst="rect">
            <a:avLst/>
          </a:prstGeom>
          <a:noFill/>
          <a:ln/>
        </p:spPr>
        <p:txBody>
          <a:bodyPr wrap="square" lIns="0" tIns="0" rIns="0" bIns="0" rtlCol="0" anchor="ctr"/>
          <a:lstStyle/>
          <a:p>
            <a:pPr marL="0" indent="0">
              <a:buNone/>
            </a:pPr>
            <a:r>
              <a:rPr lang="en-US" sz="1400" b="1" dirty="0">
                <a:solidFill>
                  <a:srgbClr val="1E2761"/>
                </a:solidFill>
              </a:rPr>
              <a:t>Objectif principal</a:t>
            </a:r>
            <a:endParaRPr lang="en-US" sz="1400" dirty="0"/>
          </a:p>
        </p:txBody>
      </p:sp>
      <p:sp>
        <p:nvSpPr>
          <p:cNvPr id="11" name="Shape 7"/>
          <p:cNvSpPr/>
          <p:nvPr/>
        </p:nvSpPr>
        <p:spPr>
          <a:xfrm>
            <a:off x="1725039" y="2475281"/>
            <a:ext cx="5504122" cy="11887"/>
          </a:xfrm>
          <a:prstGeom prst="rect">
            <a:avLst/>
          </a:prstGeom>
          <a:solidFill>
            <a:srgbClr val="CADCFC"/>
          </a:solidFill>
          <a:ln w="12700">
            <a:solidFill>
              <a:srgbClr val="CADCFC"/>
            </a:solidFill>
            <a:prstDash val="solid"/>
          </a:ln>
        </p:spPr>
      </p:sp>
      <p:sp>
        <p:nvSpPr>
          <p:cNvPr id="12" name="Text 8"/>
          <p:cNvSpPr/>
          <p:nvPr/>
        </p:nvSpPr>
        <p:spPr>
          <a:xfrm>
            <a:off x="1626781" y="2487168"/>
            <a:ext cx="5504122" cy="2377440"/>
          </a:xfrm>
          <a:prstGeom prst="rect">
            <a:avLst/>
          </a:prstGeom>
          <a:noFill/>
          <a:ln/>
        </p:spPr>
        <p:txBody>
          <a:bodyPr wrap="square" rtlCol="0" anchor="t"/>
          <a:lstStyle/>
          <a:p>
            <a:pPr marL="342900" indent="-342900" algn="just">
              <a:buSzPct val="100000"/>
              <a:buChar char="•"/>
            </a:pPr>
            <a:r>
              <a:rPr lang="fr-FR" sz="1400" dirty="0"/>
              <a:t>Concevoir, développer et déployer un système sécurisé d’authentification biométrique par reconnaissance faciale capable d’identifier les utilisateurs, de détecter les tentatives de fraude et de protéger les données sensibles.</a:t>
            </a:r>
            <a:endParaRPr lang="en-US" sz="1400" dirty="0">
              <a:latin typeface="+mj-lt"/>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2151"/>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2"/>
          <a:stretch>
            <a:fillRect/>
          </a:stretch>
        </p:blipFill>
        <p:spPr>
          <a:xfrm>
            <a:off x="320040" y="182880"/>
            <a:ext cx="502920" cy="502920"/>
          </a:xfrm>
          <a:prstGeom prst="rect">
            <a:avLst/>
          </a:prstGeom>
        </p:spPr>
      </p:pic>
      <p:sp>
        <p:nvSpPr>
          <p:cNvPr id="4" name="Text 1"/>
          <p:cNvSpPr/>
          <p:nvPr/>
        </p:nvSpPr>
        <p:spPr>
          <a:xfrm>
            <a:off x="571500" y="128867"/>
            <a:ext cx="7772400" cy="640080"/>
          </a:xfrm>
          <a:prstGeom prst="rect">
            <a:avLst/>
          </a:prstGeom>
          <a:noFill/>
          <a:ln/>
        </p:spPr>
        <p:txBody>
          <a:bodyPr wrap="square" lIns="0" tIns="0" rIns="0" bIns="0" rtlCol="0" anchor="ctr"/>
          <a:lstStyle/>
          <a:p>
            <a:pPr marL="0" indent="0" algn="ctr">
              <a:buNone/>
            </a:pPr>
            <a:r>
              <a:rPr lang="en-US" sz="2100" b="1" dirty="0">
                <a:solidFill>
                  <a:srgbClr val="FFFFFF"/>
                </a:solidFill>
              </a:rPr>
              <a:t>02 ·  </a:t>
            </a:r>
            <a:r>
              <a:rPr lang="en-US" sz="2100" b="1" dirty="0" err="1">
                <a:solidFill>
                  <a:srgbClr val="FFFFFF"/>
                </a:solidFill>
              </a:rPr>
              <a:t>Objectifs</a:t>
            </a:r>
            <a:r>
              <a:rPr lang="en-US" sz="2100" b="1" dirty="0">
                <a:solidFill>
                  <a:srgbClr val="FFFFFF"/>
                </a:solidFill>
              </a:rPr>
              <a:t> </a:t>
            </a:r>
            <a:r>
              <a:rPr lang="en-US" sz="2100" b="1" dirty="0" err="1">
                <a:solidFill>
                  <a:srgbClr val="FFFFFF"/>
                </a:solidFill>
              </a:rPr>
              <a:t>Spécifiques</a:t>
            </a:r>
            <a:endParaRPr lang="en-US" sz="2100" dirty="0"/>
          </a:p>
        </p:txBody>
      </p:sp>
      <p:sp>
        <p:nvSpPr>
          <p:cNvPr id="5" name="Shape 9"/>
          <p:cNvSpPr/>
          <p:nvPr/>
        </p:nvSpPr>
        <p:spPr>
          <a:xfrm>
            <a:off x="3131820" y="1920240"/>
            <a:ext cx="2743200" cy="1872039"/>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6" name="Image 2" descr="preencoded.png"/>
          <p:cNvPicPr>
            <a:picLocks noChangeAspect="1"/>
          </p:cNvPicPr>
          <p:nvPr/>
        </p:nvPicPr>
        <p:blipFill>
          <a:blip r:embed="rId3"/>
          <a:stretch>
            <a:fillRect/>
          </a:stretch>
        </p:blipFill>
        <p:spPr>
          <a:xfrm>
            <a:off x="3291840" y="2039112"/>
            <a:ext cx="320040" cy="320040"/>
          </a:xfrm>
          <a:prstGeom prst="rect">
            <a:avLst/>
          </a:prstGeom>
        </p:spPr>
      </p:pic>
      <p:sp>
        <p:nvSpPr>
          <p:cNvPr id="7" name="Text 10"/>
          <p:cNvSpPr/>
          <p:nvPr/>
        </p:nvSpPr>
        <p:spPr>
          <a:xfrm>
            <a:off x="365760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sécurité</a:t>
            </a:r>
            <a:endParaRPr lang="en-US" sz="1150" dirty="0"/>
          </a:p>
        </p:txBody>
      </p:sp>
      <p:sp>
        <p:nvSpPr>
          <p:cNvPr id="8" name="Shape 11"/>
          <p:cNvSpPr/>
          <p:nvPr/>
        </p:nvSpPr>
        <p:spPr>
          <a:xfrm>
            <a:off x="3291840" y="2377440"/>
            <a:ext cx="2468880" cy="11887"/>
          </a:xfrm>
          <a:prstGeom prst="rect">
            <a:avLst/>
          </a:prstGeom>
          <a:solidFill>
            <a:srgbClr val="CADCFC"/>
          </a:solidFill>
          <a:ln w="12700">
            <a:solidFill>
              <a:srgbClr val="CADCFC"/>
            </a:solidFill>
            <a:prstDash val="solid"/>
          </a:ln>
        </p:spPr>
      </p:sp>
      <p:sp>
        <p:nvSpPr>
          <p:cNvPr id="9" name="Text 12"/>
          <p:cNvSpPr/>
          <p:nvPr/>
        </p:nvSpPr>
        <p:spPr>
          <a:xfrm>
            <a:off x="3291840" y="2423160"/>
            <a:ext cx="2468880" cy="2377440"/>
          </a:xfrm>
          <a:prstGeom prst="rect">
            <a:avLst/>
          </a:prstGeom>
          <a:noFill/>
          <a:ln/>
        </p:spPr>
        <p:txBody>
          <a:bodyPr wrap="square" rtlCol="0" anchor="t"/>
          <a:lstStyle/>
          <a:p>
            <a:pPr marL="342900" indent="-342900">
              <a:buSzPct val="100000"/>
              <a:buChar char="•"/>
            </a:pPr>
            <a:r>
              <a:rPr lang="en-US" sz="1000" dirty="0">
                <a:solidFill>
                  <a:srgbClr val="2A2A4A"/>
                </a:solidFill>
              </a:rPr>
              <a:t>Résister aux attaques par photo et vidéo (spoofing)</a:t>
            </a:r>
            <a:endParaRPr lang="en-US" sz="1000" dirty="0"/>
          </a:p>
          <a:p>
            <a:pPr marL="342900" indent="-342900">
              <a:buSzPct val="100000"/>
              <a:buChar char="•"/>
            </a:pPr>
            <a:r>
              <a:rPr lang="en-US" sz="1000" dirty="0">
                <a:solidFill>
                  <a:srgbClr val="2A2A4A"/>
                </a:solidFill>
              </a:rPr>
              <a:t>Détecter la vivacité réelle (liveness detection)</a:t>
            </a:r>
            <a:endParaRPr lang="en-US" sz="1000" dirty="0"/>
          </a:p>
          <a:p>
            <a:pPr marL="342900" indent="-342900">
              <a:buSzPct val="100000"/>
              <a:buChar char="•"/>
            </a:pPr>
            <a:r>
              <a:rPr lang="en-US" sz="1000" dirty="0">
                <a:solidFill>
                  <a:srgbClr val="2A2A4A"/>
                </a:solidFill>
              </a:rPr>
              <a:t>Chiffrer toutes les données biométriques au repos</a:t>
            </a:r>
            <a:endParaRPr lang="en-US" sz="1000" dirty="0"/>
          </a:p>
        </p:txBody>
      </p:sp>
      <p:sp>
        <p:nvSpPr>
          <p:cNvPr id="10" name="Shape 13"/>
          <p:cNvSpPr/>
          <p:nvPr/>
        </p:nvSpPr>
        <p:spPr>
          <a:xfrm>
            <a:off x="5989320" y="1920240"/>
            <a:ext cx="2743200" cy="1872039"/>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11" name="Image 3" descr="preencoded.png"/>
          <p:cNvPicPr>
            <a:picLocks noChangeAspect="1"/>
          </p:cNvPicPr>
          <p:nvPr/>
        </p:nvPicPr>
        <p:blipFill>
          <a:blip r:embed="rId4"/>
          <a:stretch>
            <a:fillRect/>
          </a:stretch>
        </p:blipFill>
        <p:spPr>
          <a:xfrm>
            <a:off x="6126480" y="2039112"/>
            <a:ext cx="320040" cy="320040"/>
          </a:xfrm>
          <a:prstGeom prst="rect">
            <a:avLst/>
          </a:prstGeom>
        </p:spPr>
      </p:pic>
      <p:sp>
        <p:nvSpPr>
          <p:cNvPr id="12" name="Text 14"/>
          <p:cNvSpPr/>
          <p:nvPr/>
        </p:nvSpPr>
        <p:spPr>
          <a:xfrm>
            <a:off x="649224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gestion</a:t>
            </a:r>
            <a:endParaRPr lang="en-US" sz="1150" dirty="0"/>
          </a:p>
        </p:txBody>
      </p:sp>
      <p:sp>
        <p:nvSpPr>
          <p:cNvPr id="13" name="Shape 15"/>
          <p:cNvSpPr/>
          <p:nvPr/>
        </p:nvSpPr>
        <p:spPr>
          <a:xfrm>
            <a:off x="6126480" y="2377440"/>
            <a:ext cx="2468880" cy="11887"/>
          </a:xfrm>
          <a:prstGeom prst="rect">
            <a:avLst/>
          </a:prstGeom>
          <a:solidFill>
            <a:srgbClr val="CADCFC"/>
          </a:solidFill>
          <a:ln w="12700">
            <a:solidFill>
              <a:srgbClr val="CADCFC"/>
            </a:solidFill>
            <a:prstDash val="solid"/>
          </a:ln>
        </p:spPr>
      </p:sp>
      <p:sp>
        <p:nvSpPr>
          <p:cNvPr id="14" name="Text 16"/>
          <p:cNvSpPr/>
          <p:nvPr/>
        </p:nvSpPr>
        <p:spPr>
          <a:xfrm>
            <a:off x="6126480" y="2423160"/>
            <a:ext cx="2468880" cy="2377440"/>
          </a:xfrm>
          <a:prstGeom prst="rect">
            <a:avLst/>
          </a:prstGeom>
          <a:noFill/>
          <a:ln/>
        </p:spPr>
        <p:txBody>
          <a:bodyPr wrap="square" rtlCol="0" anchor="t"/>
          <a:lstStyle/>
          <a:p>
            <a:pPr marL="342900" indent="-342900">
              <a:buSzPct val="100000"/>
              <a:buChar char="•"/>
            </a:pPr>
            <a:r>
              <a:rPr lang="en-US" sz="1000" dirty="0">
                <a:solidFill>
                  <a:srgbClr val="2A2A4A"/>
                </a:solidFill>
              </a:rPr>
              <a:t>Gérer les profils utilisateurs (enregistrement, suppression)</a:t>
            </a:r>
            <a:endParaRPr lang="en-US" sz="1000" dirty="0"/>
          </a:p>
          <a:p>
            <a:pPr marL="342900" indent="-342900">
              <a:buSzPct val="100000"/>
              <a:buChar char="•"/>
            </a:pPr>
            <a:r>
              <a:rPr lang="en-US" sz="1000" dirty="0">
                <a:solidFill>
                  <a:srgbClr val="2A2A4A"/>
                </a:solidFill>
              </a:rPr>
              <a:t>Interface graphique claire et intuitive</a:t>
            </a:r>
            <a:endParaRPr lang="en-US" sz="1000" dirty="0"/>
          </a:p>
          <a:p>
            <a:pPr marL="342900" indent="-342900">
              <a:buSzPct val="100000"/>
              <a:buChar char="•"/>
            </a:pPr>
            <a:r>
              <a:rPr lang="en-US" sz="1000" dirty="0">
                <a:solidFill>
                  <a:srgbClr val="2A2A4A"/>
                </a:solidFill>
              </a:rPr>
              <a:t>Portabilité Ubuntu → Windows sans recompilation</a:t>
            </a:r>
            <a:endParaRPr lang="en-US" sz="1000" dirty="0"/>
          </a:p>
        </p:txBody>
      </p:sp>
      <p:sp>
        <p:nvSpPr>
          <p:cNvPr id="15"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17" name="Text 4"/>
          <p:cNvSpPr/>
          <p:nvPr/>
        </p:nvSpPr>
        <p:spPr>
          <a:xfrm>
            <a:off x="457200" y="1148423"/>
            <a:ext cx="8321040" cy="457200"/>
          </a:xfrm>
          <a:prstGeom prst="rect">
            <a:avLst/>
          </a:prstGeom>
          <a:noFill/>
          <a:ln/>
        </p:spPr>
        <p:txBody>
          <a:bodyPr wrap="square" rtlCol="0" anchor="ctr"/>
          <a:lstStyle/>
          <a:p>
            <a:r>
              <a:rPr lang="fr-FR" sz="1200" dirty="0"/>
              <a:t>La réalisation de ce projet s'appuie sur des objectifs spécifiques. L'enjeu technique réside dans le développement d'algorithmes de détection de vivacité pour contrer le </a:t>
            </a:r>
            <a:r>
              <a:rPr lang="fr-FR" sz="1200" dirty="0" err="1"/>
              <a:t>spoofing</a:t>
            </a:r>
            <a:r>
              <a:rPr lang="fr-FR" sz="1200" dirty="0"/>
              <a:t>, le calibrage mathématique des seuils de décision et l'implémentation d'une couche cryptographique robuste pour sécuriser les empreintes biométriques. </a:t>
            </a:r>
            <a:endParaRPr lang="en-US" sz="1200" dirty="0"/>
          </a:p>
        </p:txBody>
      </p:sp>
      <p:sp>
        <p:nvSpPr>
          <p:cNvPr id="18" name="Shape 9"/>
          <p:cNvSpPr/>
          <p:nvPr/>
        </p:nvSpPr>
        <p:spPr>
          <a:xfrm>
            <a:off x="119174" y="1881329"/>
            <a:ext cx="284651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19" name="Image 2" descr="preencoded.png"/>
          <p:cNvPicPr>
            <a:picLocks noChangeAspect="1"/>
          </p:cNvPicPr>
          <p:nvPr/>
        </p:nvPicPr>
        <p:blipFill>
          <a:blip r:embed="rId3"/>
          <a:stretch>
            <a:fillRect/>
          </a:stretch>
        </p:blipFill>
        <p:spPr>
          <a:xfrm>
            <a:off x="297180" y="2039112"/>
            <a:ext cx="320040" cy="320040"/>
          </a:xfrm>
          <a:prstGeom prst="rect">
            <a:avLst/>
          </a:prstGeom>
        </p:spPr>
      </p:pic>
      <p:sp>
        <p:nvSpPr>
          <p:cNvPr id="20" name="Text 10"/>
          <p:cNvSpPr/>
          <p:nvPr/>
        </p:nvSpPr>
        <p:spPr>
          <a:xfrm>
            <a:off x="662940" y="2029968"/>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dirty="0"/>
              <a:t> </a:t>
            </a:r>
            <a:r>
              <a:rPr lang="en-US" sz="1150" b="1" dirty="0" err="1">
                <a:solidFill>
                  <a:srgbClr val="1E2761"/>
                </a:solidFill>
              </a:rPr>
              <a:t>applicatif</a:t>
            </a:r>
            <a:endParaRPr lang="en-US" sz="1150" dirty="0"/>
          </a:p>
        </p:txBody>
      </p:sp>
      <p:sp>
        <p:nvSpPr>
          <p:cNvPr id="21" name="Shape 11"/>
          <p:cNvSpPr/>
          <p:nvPr/>
        </p:nvSpPr>
        <p:spPr>
          <a:xfrm>
            <a:off x="297180" y="2377440"/>
            <a:ext cx="2468880" cy="11887"/>
          </a:xfrm>
          <a:prstGeom prst="rect">
            <a:avLst/>
          </a:prstGeom>
          <a:solidFill>
            <a:srgbClr val="CADCFC"/>
          </a:solidFill>
          <a:ln w="12700">
            <a:solidFill>
              <a:srgbClr val="CADCFC"/>
            </a:solidFill>
            <a:prstDash val="solid"/>
          </a:ln>
        </p:spPr>
      </p:sp>
      <p:sp>
        <p:nvSpPr>
          <p:cNvPr id="22" name="Rectangle 1"/>
          <p:cNvSpPr>
            <a:spLocks noChangeArrowheads="1"/>
          </p:cNvSpPr>
          <p:nvPr/>
        </p:nvSpPr>
        <p:spPr bwMode="auto">
          <a:xfrm rot="10800000" flipV="1">
            <a:off x="297180" y="2418001"/>
            <a:ext cx="217914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Développer</a:t>
            </a:r>
            <a:r>
              <a:rPr kumimoji="0" lang="en-US" altLang="en-US" sz="1000" b="0" i="0" u="none" strike="noStrike" cap="none" normalizeH="0" baseline="0" dirty="0">
                <a:ln>
                  <a:noFill/>
                </a:ln>
                <a:solidFill>
                  <a:schemeClr val="tx1"/>
                </a:solidFill>
                <a:effectLst/>
              </a:rPr>
              <a:t> un module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capture </a:t>
            </a:r>
            <a:r>
              <a:rPr kumimoji="0" lang="en-US" altLang="en-US" sz="1000" b="0" i="0" u="none" strike="noStrike" cap="none" normalizeH="0" baseline="0" dirty="0" err="1">
                <a:ln>
                  <a:noFill/>
                </a:ln>
                <a:solidFill>
                  <a:schemeClr val="tx1"/>
                </a:solidFill>
                <a:effectLst/>
              </a:rPr>
              <a:t>fluide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en</a:t>
            </a:r>
            <a:r>
              <a:rPr kumimoji="0" lang="en-US" altLang="en-US" sz="1000" b="0" i="0" u="none" strike="noStrike" cap="none" normalizeH="0" baseline="0" dirty="0">
                <a:ln>
                  <a:noFill/>
                </a:ln>
                <a:solidFill>
                  <a:schemeClr val="tx1"/>
                </a:solidFill>
                <a:effectLst/>
              </a:rPr>
              <a:t> temps </a:t>
            </a:r>
            <a:r>
              <a:rPr kumimoji="0" lang="en-US" altLang="en-US" sz="1000" b="0" i="0" u="none" strike="noStrike" cap="none" normalizeH="0" baseline="0" dirty="0" err="1">
                <a:ln>
                  <a:noFill/>
                </a:ln>
                <a:solidFill>
                  <a:schemeClr val="tx1"/>
                </a:solidFill>
                <a:effectLst/>
              </a:rPr>
              <a:t>réel</a:t>
            </a:r>
            <a:r>
              <a:rPr kumimoji="0" lang="en-US" altLang="en-US" sz="1000" b="0" i="0" u="none" strike="noStrike" cap="none" normalizeH="0" baseline="0" dirty="0">
                <a:ln>
                  <a:noFill/>
                </a:ln>
                <a:solidFill>
                  <a:schemeClr val="tx1"/>
                </a:solidFill>
                <a:effectLst/>
              </a:rPr>
              <a:t> via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webcam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Mettre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en</a:t>
            </a:r>
            <a:r>
              <a:rPr kumimoji="0" lang="en-US" altLang="en-US" sz="1000" b="0" i="0" u="none" strike="noStrike" cap="none" normalizeH="0" baseline="0" dirty="0">
                <a:ln>
                  <a:noFill/>
                </a:ln>
                <a:solidFill>
                  <a:schemeClr val="tx1"/>
                </a:solidFill>
                <a:effectLst/>
              </a:rPr>
              <a:t> place </a:t>
            </a:r>
            <a:r>
              <a:rPr kumimoji="0" lang="en-US" altLang="en-US" sz="1000" b="0" i="0" u="none" strike="noStrike" cap="none" normalizeH="0" baseline="0" dirty="0" err="1">
                <a:ln>
                  <a:noFill/>
                </a:ln>
                <a:solidFill>
                  <a:schemeClr val="tx1"/>
                </a:solidFill>
                <a:effectLst/>
              </a:rPr>
              <a:t>une</a:t>
            </a:r>
            <a:r>
              <a:rPr kumimoji="0" lang="en-US" altLang="en-US" sz="1000" b="0" i="0" u="none" strike="noStrike" cap="none" normalizeH="0" baseline="0" dirty="0">
                <a:ln>
                  <a:noFill/>
                </a:ln>
                <a:solidFill>
                  <a:schemeClr val="tx1"/>
                </a:solidFill>
                <a:effectLst/>
              </a:rPr>
              <a:t> base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err="1">
                <a:ln>
                  <a:noFill/>
                </a:ln>
                <a:solidFill>
                  <a:schemeClr val="tx1"/>
                </a:solidFill>
                <a:effectLst/>
              </a:rPr>
              <a:t>données</a:t>
            </a:r>
            <a:r>
              <a:rPr kumimoji="0" lang="en-US" altLang="en-US" sz="1000" b="0" i="0" u="none" strike="noStrike" cap="none" normalizeH="0" baseline="0" dirty="0">
                <a:ln>
                  <a:noFill/>
                </a:ln>
                <a:solidFill>
                  <a:schemeClr val="tx1"/>
                </a:solidFill>
                <a:effectLst/>
              </a:rPr>
              <a:t> utilisateurs (ex: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PostgreSQL, SQLite) </a:t>
            </a:r>
            <a:r>
              <a:rPr kumimoji="0" lang="en-US" altLang="en-US" sz="1000" b="0" i="0" u="none" strike="noStrike" cap="none" normalizeH="0" baseline="0" dirty="0" err="1">
                <a:ln>
                  <a:noFill/>
                </a:ln>
                <a:solidFill>
                  <a:schemeClr val="tx1"/>
                </a:solidFill>
                <a:effectLst/>
              </a:rPr>
              <a:t>stockant</a:t>
            </a:r>
            <a:r>
              <a:rPr kumimoji="0" lang="en-US" altLang="en-US" sz="1000" b="0" i="0" u="none" strike="noStrike" cap="none" normalizeH="0" baseline="0" dirty="0">
                <a:ln>
                  <a:noFill/>
                </a:ln>
                <a:solidFill>
                  <a:schemeClr val="tx1"/>
                </a:solidFill>
                <a:effectLst/>
              </a:rPr>
              <a:t> de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err="1">
                <a:ln>
                  <a:noFill/>
                </a:ln>
                <a:solidFill>
                  <a:schemeClr val="tx1"/>
                </a:solidFill>
                <a:effectLst/>
              </a:rPr>
              <a:t>manière</a:t>
            </a:r>
            <a:r>
              <a:rPr kumimoji="0" lang="en-US" altLang="en-US" sz="10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rPr>
              <a:t>sécurisée</a:t>
            </a:r>
            <a:r>
              <a:rPr kumimoji="0" lang="en-US" altLang="en-US" sz="1000" b="0" i="0" u="none" strike="noStrike" cap="none" normalizeH="0" baseline="0" dirty="0">
                <a:ln>
                  <a:noFill/>
                </a:ln>
                <a:solidFill>
                  <a:schemeClr val="tx1"/>
                </a:solidFill>
                <a:effectLst/>
              </a:rPr>
              <a:t> les </a:t>
            </a:r>
            <a:r>
              <a:rPr kumimoji="0" lang="en-US" altLang="en-US" sz="1000" b="0" i="0" u="none" strike="noStrike" cap="none" normalizeH="0" baseline="0" dirty="0" err="1">
                <a:ln>
                  <a:noFill/>
                </a:ln>
                <a:solidFill>
                  <a:schemeClr val="tx1"/>
                </a:solidFill>
                <a:effectLst/>
              </a:rPr>
              <a:t>profils</a:t>
            </a:r>
            <a:r>
              <a:rPr kumimoji="0" lang="en-US" altLang="en-US" sz="1000" b="0" i="0" u="none" strike="noStrike" cap="none" normalizeH="0" baseline="0" dirty="0">
                <a:ln>
                  <a:noFill/>
                </a:ln>
                <a:solidFill>
                  <a:schemeClr val="tx1"/>
                </a:solidFill>
                <a:effectLst/>
              </a:rPr>
              <a:t> et  </a:t>
            </a:r>
          </a:p>
          <a:p>
            <a:pPr marL="0" marR="0" lvl="0" indent="0" defTabSz="914400" rtl="0" eaLnBrk="0" fontAlgn="base" latinLnBrk="0" hangingPunct="0">
              <a:lnSpc>
                <a:spcPct val="100000"/>
              </a:lnSpc>
              <a:spcBef>
                <a:spcPct val="0"/>
              </a:spcBef>
              <a:spcAft>
                <a:spcPct val="0"/>
              </a:spcAft>
              <a:buClrTx/>
              <a:buSzTx/>
              <a:tabLst/>
            </a:pPr>
            <a:r>
              <a:rPr lang="en-US" altLang="en-US" sz="1000" dirty="0"/>
              <a:t>         </a:t>
            </a:r>
            <a:r>
              <a:rPr kumimoji="0" lang="en-US" altLang="en-US" sz="1000" b="0" i="0" u="none" strike="noStrike" cap="none" normalizeH="0" baseline="0" dirty="0">
                <a:ln>
                  <a:noFill/>
                </a:ln>
                <a:solidFill>
                  <a:schemeClr val="tx1"/>
                </a:solidFill>
                <a:effectLst/>
              </a:rPr>
              <a:t>les signatures </a:t>
            </a:r>
            <a:r>
              <a:rPr kumimoji="0" lang="en-US" altLang="en-US" sz="1000" b="0" i="0" u="none" strike="noStrike" cap="none" normalizeH="0" baseline="0" dirty="0" err="1">
                <a:ln>
                  <a:noFill/>
                </a:ln>
                <a:solidFill>
                  <a:schemeClr val="tx1"/>
                </a:solidFill>
                <a:effectLst/>
              </a:rPr>
              <a:t>biométriques</a:t>
            </a:r>
            <a:r>
              <a:rPr kumimoji="0" lang="en-US" altLang="en-US" sz="1000" b="0" i="0" u="none" strike="noStrike" cap="none" normalizeH="0" baseline="0" dirty="0">
                <a:ln>
                  <a:noFill/>
                </a:ln>
                <a:solidFill>
                  <a:schemeClr val="tx1"/>
                </a:solidFill>
                <a:effectLst/>
              </a:rPr>
              <a:t>.</a:t>
            </a:r>
          </a:p>
        </p:txBody>
      </p:sp>
      <p:sp>
        <p:nvSpPr>
          <p:cNvPr id="23" name="Shape 9"/>
          <p:cNvSpPr/>
          <p:nvPr/>
        </p:nvSpPr>
        <p:spPr>
          <a:xfrm>
            <a:off x="1013637" y="4054291"/>
            <a:ext cx="6960782" cy="102407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24" name="Text 10"/>
          <p:cNvSpPr/>
          <p:nvPr/>
        </p:nvSpPr>
        <p:spPr>
          <a:xfrm>
            <a:off x="3406140" y="4012019"/>
            <a:ext cx="2103120" cy="320040"/>
          </a:xfrm>
          <a:prstGeom prst="rect">
            <a:avLst/>
          </a:prstGeom>
          <a:noFill/>
          <a:ln/>
        </p:spPr>
        <p:txBody>
          <a:bodyPr wrap="square" lIns="0" tIns="0" rIns="0" bIns="0" rtlCol="0" anchor="ctr"/>
          <a:lstStyle/>
          <a:p>
            <a:r>
              <a:rPr lang="en-US" sz="1200" b="1" dirty="0" err="1">
                <a:solidFill>
                  <a:schemeClr val="accent1">
                    <a:lumMod val="50000"/>
                  </a:schemeClr>
                </a:solidFill>
              </a:rPr>
              <a:t>Côté</a:t>
            </a:r>
            <a:r>
              <a:rPr lang="en-US" sz="1200" b="1" dirty="0">
                <a:solidFill>
                  <a:schemeClr val="accent1">
                    <a:lumMod val="50000"/>
                  </a:schemeClr>
                </a:solidFill>
              </a:rPr>
              <a:t> </a:t>
            </a:r>
            <a:r>
              <a:rPr lang="en-US" sz="1200" b="1" dirty="0" err="1">
                <a:solidFill>
                  <a:schemeClr val="accent1">
                    <a:lumMod val="50000"/>
                  </a:schemeClr>
                </a:solidFill>
              </a:rPr>
              <a:t>Déploiement</a:t>
            </a:r>
            <a:r>
              <a:rPr lang="en-US" sz="1200" b="1" dirty="0">
                <a:solidFill>
                  <a:schemeClr val="accent1">
                    <a:lumMod val="50000"/>
                  </a:schemeClr>
                </a:solidFill>
              </a:rPr>
              <a:t> </a:t>
            </a:r>
            <a:endParaRPr lang="en-US" sz="1150" b="1" dirty="0">
              <a:solidFill>
                <a:schemeClr val="accent1">
                  <a:lumMod val="50000"/>
                </a:schemeClr>
              </a:solidFill>
            </a:endParaRPr>
          </a:p>
        </p:txBody>
      </p:sp>
      <p:sp>
        <p:nvSpPr>
          <p:cNvPr id="25" name="Shape 11"/>
          <p:cNvSpPr/>
          <p:nvPr/>
        </p:nvSpPr>
        <p:spPr>
          <a:xfrm>
            <a:off x="2766060" y="4320172"/>
            <a:ext cx="2468880" cy="11887"/>
          </a:xfrm>
          <a:prstGeom prst="rect">
            <a:avLst/>
          </a:prstGeom>
          <a:solidFill>
            <a:srgbClr val="CADCFC"/>
          </a:solidFill>
          <a:ln w="12700">
            <a:solidFill>
              <a:srgbClr val="CADCFC"/>
            </a:solidFill>
            <a:prstDash val="solid"/>
          </a:ln>
        </p:spPr>
      </p:sp>
      <p:sp>
        <p:nvSpPr>
          <p:cNvPr id="26" name="ZoneTexte 25"/>
          <p:cNvSpPr txBox="1"/>
          <p:nvPr/>
        </p:nvSpPr>
        <p:spPr>
          <a:xfrm>
            <a:off x="1105786" y="4430308"/>
            <a:ext cx="6556743" cy="400110"/>
          </a:xfrm>
          <a:prstGeom prst="rect">
            <a:avLst/>
          </a:prstGeom>
          <a:noFill/>
        </p:spPr>
        <p:txBody>
          <a:bodyPr wrap="square" rtlCol="0">
            <a:spAutoFit/>
          </a:bodyPr>
          <a:lstStyle/>
          <a:p>
            <a:pPr marL="171450" indent="-171450">
              <a:buFont typeface="Arial" panose="020B0604020202020204" pitchFamily="34" charset="0"/>
              <a:buChar char="•"/>
            </a:pPr>
            <a:r>
              <a:rPr lang="fr-FR" sz="1000" dirty="0"/>
              <a:t>Conteneuriser l'application (ex: Docker / Docker Compose) pour garantir une portabilité et une isolation parfaites du système, facilitant ainsi son déploiement dans un environnement de production simulé.</a:t>
            </a:r>
            <a:endParaRPr lang="fr-CM" sz="1000" dirty="0"/>
          </a:p>
        </p:txBody>
      </p:sp>
    </p:spTree>
    <p:extLst>
      <p:ext uri="{BB962C8B-B14F-4D97-AF65-F5344CB8AC3E}">
        <p14:creationId xmlns:p14="http://schemas.microsoft.com/office/powerpoint/2010/main" val="1304473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2151"/>
            <a:ext cx="9144000" cy="914400"/>
          </a:xfrm>
          <a:prstGeom prst="rect">
            <a:avLst/>
          </a:prstGeom>
          <a:solidFill>
            <a:srgbClr val="1E2761"/>
          </a:solidFill>
          <a:ln w="12700">
            <a:solidFill>
              <a:srgbClr val="1E2761"/>
            </a:solidFill>
            <a:prstDash val="solid"/>
          </a:ln>
        </p:spPr>
      </p:sp>
      <p:sp>
        <p:nvSpPr>
          <p:cNvPr id="3" name="Text 1"/>
          <p:cNvSpPr/>
          <p:nvPr/>
        </p:nvSpPr>
        <p:spPr>
          <a:xfrm>
            <a:off x="571500" y="128867"/>
            <a:ext cx="7772400" cy="640080"/>
          </a:xfrm>
          <a:prstGeom prst="rect">
            <a:avLst/>
          </a:prstGeom>
          <a:noFill/>
          <a:ln/>
        </p:spPr>
        <p:txBody>
          <a:bodyPr wrap="square" lIns="0" tIns="0" rIns="0" bIns="0" rtlCol="0" anchor="ctr"/>
          <a:lstStyle/>
          <a:p>
            <a:pPr algn="ctr"/>
            <a:r>
              <a:rPr lang="en-US" sz="2100" b="1" dirty="0">
                <a:solidFill>
                  <a:srgbClr val="FFFFFF"/>
                </a:solidFill>
              </a:rPr>
              <a:t>02 ·  </a:t>
            </a:r>
            <a:r>
              <a:rPr lang="en-US" sz="2400" b="1" dirty="0">
                <a:solidFill>
                  <a:schemeClr val="bg1"/>
                </a:solidFill>
              </a:rPr>
              <a:t>Expressions des besoins utilisateurs : besoins fonctionnels (BF)</a:t>
            </a:r>
            <a:endParaRPr lang="en-US" sz="2400" dirty="0">
              <a:solidFill>
                <a:schemeClr val="bg1"/>
              </a:solidFill>
            </a:endParaRPr>
          </a:p>
        </p:txBody>
      </p:sp>
      <p:sp>
        <p:nvSpPr>
          <p:cNvPr id="4"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5" name="Rectangle 4"/>
          <p:cNvSpPr/>
          <p:nvPr/>
        </p:nvSpPr>
        <p:spPr>
          <a:xfrm>
            <a:off x="425301" y="1105919"/>
            <a:ext cx="8208335" cy="577081"/>
          </a:xfrm>
          <a:prstGeom prst="rect">
            <a:avLst/>
          </a:prstGeom>
        </p:spPr>
        <p:txBody>
          <a:bodyPr wrap="square">
            <a:spAutoFit/>
          </a:bodyPr>
          <a:lstStyle/>
          <a:p>
            <a:r>
              <a:rPr lang="fr-FR" sz="1050" dirty="0"/>
              <a:t>La réussite de ce projet repose sur la définition d'exigences rigoureuses garantissant à la fois la fluidité de l'expérience utilisateur et l'invulnérabilité du système. Les besoins fonctionnels décrivent les actions directes que l'application doit exécuter, tandis que les besoins non fonctionnels spécifient les critères de qualité, de performance et de sécurité indispensables au durcissement de la solution. </a:t>
            </a:r>
            <a:endParaRPr lang="fr-CM" sz="1050" dirty="0"/>
          </a:p>
        </p:txBody>
      </p:sp>
      <p:sp>
        <p:nvSpPr>
          <p:cNvPr id="7" name="Shape 9"/>
          <p:cNvSpPr/>
          <p:nvPr/>
        </p:nvSpPr>
        <p:spPr>
          <a:xfrm>
            <a:off x="320041" y="1917391"/>
            <a:ext cx="8503919" cy="70409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8" name="Rectangle 7"/>
          <p:cNvSpPr/>
          <p:nvPr/>
        </p:nvSpPr>
        <p:spPr>
          <a:xfrm>
            <a:off x="715927" y="1883159"/>
            <a:ext cx="6838506" cy="586635"/>
          </a:xfrm>
          <a:prstGeom prst="rect">
            <a:avLst/>
          </a:prstGeom>
        </p:spPr>
        <p:txBody>
          <a:bodyPr wrap="square">
            <a:spAutoFit/>
          </a:bodyPr>
          <a:lstStyle/>
          <a:p>
            <a:pPr algn="ctr">
              <a:lnSpc>
                <a:spcPct val="150000"/>
              </a:lnSpc>
            </a:pPr>
            <a:r>
              <a:rPr lang="fr-FR" sz="1200" b="1" dirty="0"/>
              <a:t>1. Besoins Fonctionnels (BF)</a:t>
            </a:r>
          </a:p>
          <a:p>
            <a:pPr>
              <a:lnSpc>
                <a:spcPct val="150000"/>
              </a:lnSpc>
            </a:pPr>
            <a:r>
              <a:rPr lang="fr-FR" sz="1050" dirty="0"/>
              <a:t>Ils représentent les fonctionnalités métier que le système </a:t>
            </a:r>
            <a:r>
              <a:rPr lang="fr-FR" sz="1050" i="1" dirty="0"/>
              <a:t>doit</a:t>
            </a:r>
            <a:r>
              <a:rPr lang="fr-FR" sz="1050" dirty="0"/>
              <a:t> intégrer:</a:t>
            </a:r>
          </a:p>
        </p:txBody>
      </p:sp>
      <p:sp>
        <p:nvSpPr>
          <p:cNvPr id="17" name="Shape 9"/>
          <p:cNvSpPr/>
          <p:nvPr/>
        </p:nvSpPr>
        <p:spPr>
          <a:xfrm>
            <a:off x="1230836" y="2901298"/>
            <a:ext cx="2211199"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18" name="Shape 11"/>
          <p:cNvSpPr/>
          <p:nvPr/>
        </p:nvSpPr>
        <p:spPr>
          <a:xfrm flipV="1">
            <a:off x="1390475" y="3217351"/>
            <a:ext cx="1833321" cy="45719"/>
          </a:xfrm>
          <a:prstGeom prst="rect">
            <a:avLst/>
          </a:prstGeom>
          <a:solidFill>
            <a:srgbClr val="CADCFC"/>
          </a:solidFill>
          <a:ln w="12700">
            <a:solidFill>
              <a:srgbClr val="CADCFC"/>
            </a:solidFill>
            <a:prstDash val="solid"/>
          </a:ln>
        </p:spPr>
      </p:sp>
      <p:sp>
        <p:nvSpPr>
          <p:cNvPr id="19" name="ZoneTexte 18"/>
          <p:cNvSpPr txBox="1"/>
          <p:nvPr/>
        </p:nvSpPr>
        <p:spPr>
          <a:xfrm>
            <a:off x="1229551" y="2977296"/>
            <a:ext cx="2411996" cy="253916"/>
          </a:xfrm>
          <a:prstGeom prst="rect">
            <a:avLst/>
          </a:prstGeom>
          <a:noFill/>
        </p:spPr>
        <p:txBody>
          <a:bodyPr wrap="square" rtlCol="0">
            <a:spAutoFit/>
          </a:bodyPr>
          <a:lstStyle/>
          <a:p>
            <a:r>
              <a:rPr lang="fr-FR" sz="1050" b="1" dirty="0"/>
              <a:t>BF1 – Authentifier utilisateur</a:t>
            </a:r>
            <a:endParaRPr lang="fr-CM" sz="1050" b="1" dirty="0"/>
          </a:p>
        </p:txBody>
      </p:sp>
      <p:sp>
        <p:nvSpPr>
          <p:cNvPr id="24" name="ZoneTexte 23"/>
          <p:cNvSpPr txBox="1"/>
          <p:nvPr/>
        </p:nvSpPr>
        <p:spPr>
          <a:xfrm>
            <a:off x="1230837" y="3329256"/>
            <a:ext cx="1923062" cy="1169551"/>
          </a:xfrm>
          <a:prstGeom prst="rect">
            <a:avLst/>
          </a:prstGeom>
          <a:noFill/>
        </p:spPr>
        <p:txBody>
          <a:bodyPr wrap="square" rtlCol="0">
            <a:spAutoFit/>
          </a:bodyPr>
          <a:lstStyle/>
          <a:p>
            <a:pPr marL="171450" indent="-171450" algn="just">
              <a:buFont typeface="Arial" panose="020B0604020202020204" pitchFamily="34" charset="0"/>
              <a:buChar char="•"/>
            </a:pPr>
            <a:r>
              <a:rPr lang="fr-FR" sz="1000" dirty="0"/>
              <a:t>Le système doit impérativement analyser les signes de vie (clignements d'yeux, mouvements) et soumettre un défi (challenge-réponse) pour valider que le sujet est bien présent.</a:t>
            </a:r>
            <a:endParaRPr lang="fr-CM" sz="1000" dirty="0"/>
          </a:p>
        </p:txBody>
      </p:sp>
      <p:sp>
        <p:nvSpPr>
          <p:cNvPr id="35" name="Shape 9"/>
          <p:cNvSpPr/>
          <p:nvPr/>
        </p:nvSpPr>
        <p:spPr>
          <a:xfrm>
            <a:off x="3961314" y="2901298"/>
            <a:ext cx="204114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36" name="Shape 11"/>
          <p:cNvSpPr/>
          <p:nvPr/>
        </p:nvSpPr>
        <p:spPr>
          <a:xfrm flipV="1">
            <a:off x="4065226" y="3219395"/>
            <a:ext cx="1833321" cy="45719"/>
          </a:xfrm>
          <a:prstGeom prst="rect">
            <a:avLst/>
          </a:prstGeom>
          <a:solidFill>
            <a:srgbClr val="CADCFC"/>
          </a:solidFill>
          <a:ln w="12700">
            <a:solidFill>
              <a:srgbClr val="CADCFC"/>
            </a:solidFill>
            <a:prstDash val="solid"/>
          </a:ln>
        </p:spPr>
      </p:sp>
      <p:sp>
        <p:nvSpPr>
          <p:cNvPr id="37" name="ZoneTexte 36"/>
          <p:cNvSpPr txBox="1"/>
          <p:nvPr/>
        </p:nvSpPr>
        <p:spPr>
          <a:xfrm>
            <a:off x="3961316" y="2951516"/>
            <a:ext cx="2411996" cy="253916"/>
          </a:xfrm>
          <a:prstGeom prst="rect">
            <a:avLst/>
          </a:prstGeom>
          <a:noFill/>
        </p:spPr>
        <p:txBody>
          <a:bodyPr wrap="square" rtlCol="0">
            <a:spAutoFit/>
          </a:bodyPr>
          <a:lstStyle/>
          <a:p>
            <a:r>
              <a:rPr lang="en-US" sz="1050" b="1" dirty="0"/>
              <a:t>BF2 – Gérer Utilisateurs </a:t>
            </a:r>
            <a:endParaRPr lang="fr-CM" sz="1050" b="1" dirty="0"/>
          </a:p>
        </p:txBody>
      </p:sp>
      <p:sp>
        <p:nvSpPr>
          <p:cNvPr id="38" name="ZoneTexte 37"/>
          <p:cNvSpPr txBox="1"/>
          <p:nvPr/>
        </p:nvSpPr>
        <p:spPr>
          <a:xfrm>
            <a:off x="3961316" y="3268244"/>
            <a:ext cx="1833321" cy="392415"/>
          </a:xfrm>
          <a:prstGeom prst="rect">
            <a:avLst/>
          </a:prstGeom>
          <a:noFill/>
        </p:spPr>
        <p:txBody>
          <a:bodyPr wrap="square" rtlCol="0">
            <a:spAutoFit/>
          </a:bodyPr>
          <a:lstStyle/>
          <a:p>
            <a:pPr algn="just"/>
            <a:r>
              <a:rPr lang="fr-FR" sz="900" dirty="0"/>
              <a:t>Le système doit permettre à un administrateur </a:t>
            </a:r>
            <a:r>
              <a:rPr lang="fr-FR" sz="1050" dirty="0"/>
              <a:t>de </a:t>
            </a:r>
            <a:endParaRPr lang="fr-CM" sz="1050" dirty="0"/>
          </a:p>
        </p:txBody>
      </p:sp>
      <p:sp>
        <p:nvSpPr>
          <p:cNvPr id="27" name="Shape 9">
            <a:extLst>
              <a:ext uri="{FF2B5EF4-FFF2-40B4-BE49-F238E27FC236}">
                <a16:creationId xmlns:a16="http://schemas.microsoft.com/office/drawing/2014/main" id="{489CDE42-70D3-4603-85E2-C7B79BF4169D}"/>
              </a:ext>
            </a:extLst>
          </p:cNvPr>
          <p:cNvSpPr/>
          <p:nvPr/>
        </p:nvSpPr>
        <p:spPr>
          <a:xfrm>
            <a:off x="6521736" y="2901298"/>
            <a:ext cx="2041142"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28" name="Shape 11">
            <a:extLst>
              <a:ext uri="{FF2B5EF4-FFF2-40B4-BE49-F238E27FC236}">
                <a16:creationId xmlns:a16="http://schemas.microsoft.com/office/drawing/2014/main" id="{D03894CA-2A29-42EC-848A-10FD2C88BBBE}"/>
              </a:ext>
            </a:extLst>
          </p:cNvPr>
          <p:cNvSpPr/>
          <p:nvPr/>
        </p:nvSpPr>
        <p:spPr>
          <a:xfrm flipV="1">
            <a:off x="6625648" y="3219395"/>
            <a:ext cx="1833321" cy="45719"/>
          </a:xfrm>
          <a:prstGeom prst="rect">
            <a:avLst/>
          </a:prstGeom>
          <a:solidFill>
            <a:srgbClr val="CADCFC"/>
          </a:solidFill>
          <a:ln w="12700">
            <a:solidFill>
              <a:srgbClr val="CADCFC"/>
            </a:solidFill>
            <a:prstDash val="solid"/>
          </a:ln>
        </p:spPr>
      </p:sp>
      <p:sp>
        <p:nvSpPr>
          <p:cNvPr id="29" name="ZoneTexte 28">
            <a:extLst>
              <a:ext uri="{FF2B5EF4-FFF2-40B4-BE49-F238E27FC236}">
                <a16:creationId xmlns:a16="http://schemas.microsoft.com/office/drawing/2014/main" id="{4B447FE6-FF04-4780-8A08-49745F91265C}"/>
              </a:ext>
            </a:extLst>
          </p:cNvPr>
          <p:cNvSpPr txBox="1"/>
          <p:nvPr/>
        </p:nvSpPr>
        <p:spPr>
          <a:xfrm>
            <a:off x="6521738" y="2951516"/>
            <a:ext cx="2411996" cy="253916"/>
          </a:xfrm>
          <a:prstGeom prst="rect">
            <a:avLst/>
          </a:prstGeom>
          <a:noFill/>
        </p:spPr>
        <p:txBody>
          <a:bodyPr wrap="square" rtlCol="0">
            <a:spAutoFit/>
          </a:bodyPr>
          <a:lstStyle/>
          <a:p>
            <a:r>
              <a:rPr lang="en-US" sz="1050" b="1" dirty="0"/>
              <a:t>BF3 – Enroler utilisateur </a:t>
            </a:r>
            <a:endParaRPr lang="fr-CM" sz="1050" b="1" dirty="0"/>
          </a:p>
        </p:txBody>
      </p:sp>
      <p:sp>
        <p:nvSpPr>
          <p:cNvPr id="30" name="ZoneTexte 29">
            <a:extLst>
              <a:ext uri="{FF2B5EF4-FFF2-40B4-BE49-F238E27FC236}">
                <a16:creationId xmlns:a16="http://schemas.microsoft.com/office/drawing/2014/main" id="{F19ACE26-BC01-466E-82DC-CCADFCDB85F0}"/>
              </a:ext>
            </a:extLst>
          </p:cNvPr>
          <p:cNvSpPr txBox="1"/>
          <p:nvPr/>
        </p:nvSpPr>
        <p:spPr>
          <a:xfrm>
            <a:off x="6625647" y="3377019"/>
            <a:ext cx="1833321" cy="738664"/>
          </a:xfrm>
          <a:prstGeom prst="rect">
            <a:avLst/>
          </a:prstGeom>
          <a:noFill/>
        </p:spPr>
        <p:txBody>
          <a:bodyPr wrap="square" rtlCol="0">
            <a:spAutoFit/>
          </a:bodyPr>
          <a:lstStyle/>
          <a:p>
            <a:pPr marL="171450" indent="-171450" algn="just">
              <a:buFont typeface="Arial" panose="020B0604020202020204" pitchFamily="34" charset="0"/>
              <a:buChar char="•"/>
            </a:pPr>
            <a:r>
              <a:rPr lang="fr-FR" sz="1050" dirty="0"/>
              <a:t>Inscrire l’utilisateur dans le système biométrique pour qu’il puisse être reconnue ultérieurement.</a:t>
            </a:r>
            <a:endParaRPr lang="fr-CM" sz="1050" dirty="0"/>
          </a:p>
        </p:txBody>
      </p:sp>
      <p:sp>
        <p:nvSpPr>
          <p:cNvPr id="20" name="Rectangle 3">
            <a:extLst>
              <a:ext uri="{FF2B5EF4-FFF2-40B4-BE49-F238E27FC236}">
                <a16:creationId xmlns:a16="http://schemas.microsoft.com/office/drawing/2014/main" id="{3EDA65D6-688F-4EBF-930C-26032ADA3FC6}"/>
              </a:ext>
            </a:extLst>
          </p:cNvPr>
          <p:cNvSpPr>
            <a:spLocks noChangeArrowheads="1"/>
          </p:cNvSpPr>
          <p:nvPr/>
        </p:nvSpPr>
        <p:spPr bwMode="auto">
          <a:xfrm>
            <a:off x="3985179" y="3745244"/>
            <a:ext cx="2038773"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900" b="0" i="0" u="none" strike="noStrike" cap="none" normalizeH="0" baseline="0" dirty="0">
                <a:ln>
                  <a:noFill/>
                </a:ln>
                <a:solidFill>
                  <a:schemeClr val="tx1"/>
                </a:solidFill>
                <a:effectLst/>
                <a:latin typeface="+mj-lt"/>
              </a:rPr>
              <a:t>utilisateur (nom, matricule, etc.).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900" b="1" i="0" u="none" strike="noStrike" cap="none" normalizeH="0" baseline="0" dirty="0">
                <a:ln>
                  <a:noFill/>
                </a:ln>
                <a:solidFill>
                  <a:schemeClr val="tx1"/>
                </a:solidFill>
                <a:effectLst/>
                <a:latin typeface="+mj-lt"/>
              </a:rPr>
              <a:t>Consulter</a:t>
            </a:r>
            <a:r>
              <a:rPr kumimoji="0" lang="fr-FR" altLang="fr-FR" sz="900" b="0" i="0" u="none" strike="noStrike" cap="none" normalizeH="0" baseline="0" dirty="0">
                <a:ln>
                  <a:noFill/>
                </a:ln>
                <a:solidFill>
                  <a:schemeClr val="tx1"/>
                </a:solidFill>
                <a:effectLst/>
                <a:latin typeface="+mj-lt"/>
              </a:rPr>
              <a:t> la liste des utilisateurs enregistrés.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900" b="1" i="0" u="none" strike="noStrike" cap="none" normalizeH="0" baseline="0" dirty="0">
                <a:ln>
                  <a:noFill/>
                </a:ln>
                <a:solidFill>
                  <a:schemeClr val="tx1"/>
                </a:solidFill>
                <a:effectLst/>
                <a:latin typeface="+mj-lt"/>
              </a:rPr>
              <a:t>Activer ou désactiver</a:t>
            </a:r>
            <a:r>
              <a:rPr kumimoji="0" lang="fr-FR" altLang="fr-FR" sz="900" b="0" i="0" u="none" strike="noStrike" cap="none" normalizeH="0" baseline="0" dirty="0">
                <a:ln>
                  <a:noFill/>
                </a:ln>
                <a:solidFill>
                  <a:schemeClr val="tx1"/>
                </a:solidFill>
                <a:effectLst/>
                <a:latin typeface="+mj-lt"/>
              </a:rPr>
              <a:t> un compte utilisateur. </a:t>
            </a:r>
          </a:p>
        </p:txBody>
      </p:sp>
    </p:spTree>
    <p:extLst>
      <p:ext uri="{BB962C8B-B14F-4D97-AF65-F5344CB8AC3E}">
        <p14:creationId xmlns:p14="http://schemas.microsoft.com/office/powerpoint/2010/main" val="3921533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0"/>
          <p:cNvSpPr/>
          <p:nvPr/>
        </p:nvSpPr>
        <p:spPr>
          <a:xfrm>
            <a:off x="0" y="22151"/>
            <a:ext cx="9144000" cy="914400"/>
          </a:xfrm>
          <a:prstGeom prst="rect">
            <a:avLst/>
          </a:prstGeom>
          <a:solidFill>
            <a:srgbClr val="1E2761"/>
          </a:solidFill>
          <a:ln w="12700">
            <a:solidFill>
              <a:srgbClr val="1E2761"/>
            </a:solidFill>
            <a:prstDash val="solid"/>
          </a:ln>
        </p:spPr>
      </p:sp>
      <p:sp>
        <p:nvSpPr>
          <p:cNvPr id="13" name="Text 1"/>
          <p:cNvSpPr/>
          <p:nvPr/>
        </p:nvSpPr>
        <p:spPr>
          <a:xfrm>
            <a:off x="571500" y="128867"/>
            <a:ext cx="7772400" cy="640080"/>
          </a:xfrm>
          <a:prstGeom prst="rect">
            <a:avLst/>
          </a:prstGeom>
          <a:noFill/>
          <a:ln/>
        </p:spPr>
        <p:txBody>
          <a:bodyPr wrap="square" lIns="0" tIns="0" rIns="0" bIns="0" rtlCol="0" anchor="ctr"/>
          <a:lstStyle/>
          <a:p>
            <a:pPr algn="ctr"/>
            <a:r>
              <a:rPr lang="en-US" sz="2100" b="1" dirty="0">
                <a:solidFill>
                  <a:srgbClr val="FFFFFF"/>
                </a:solidFill>
              </a:rPr>
              <a:t>03 ·  </a:t>
            </a:r>
            <a:r>
              <a:rPr lang="en-US" sz="2400" b="1" dirty="0">
                <a:solidFill>
                  <a:schemeClr val="bg1"/>
                </a:solidFill>
              </a:rPr>
              <a:t>Expressions des besoins utilisateurs : besoins non fonctionnels (BF)</a:t>
            </a:r>
            <a:endParaRPr lang="en-US" sz="2400" dirty="0">
              <a:solidFill>
                <a:schemeClr val="bg1"/>
              </a:solidFill>
            </a:endParaRPr>
          </a:p>
        </p:txBody>
      </p:sp>
      <p:sp>
        <p:nvSpPr>
          <p:cNvPr id="14" name="Shape 2"/>
          <p:cNvSpPr/>
          <p:nvPr/>
        </p:nvSpPr>
        <p:spPr>
          <a:xfrm>
            <a:off x="320040" y="1005840"/>
            <a:ext cx="8503920" cy="777240"/>
          </a:xfrm>
          <a:prstGeom prst="rect">
            <a:avLst/>
          </a:prstGeom>
          <a:solidFill>
            <a:srgbClr val="E8EEFF"/>
          </a:solidFill>
          <a:ln w="12700">
            <a:solidFill>
              <a:srgbClr val="CADCFC"/>
            </a:solidFill>
            <a:prstDash val="solid"/>
          </a:ln>
        </p:spPr>
      </p:sp>
      <p:sp>
        <p:nvSpPr>
          <p:cNvPr id="15" name="Rectangle 14"/>
          <p:cNvSpPr/>
          <p:nvPr/>
        </p:nvSpPr>
        <p:spPr>
          <a:xfrm>
            <a:off x="425301" y="1105919"/>
            <a:ext cx="8208335" cy="577081"/>
          </a:xfrm>
          <a:prstGeom prst="rect">
            <a:avLst/>
          </a:prstGeom>
        </p:spPr>
        <p:txBody>
          <a:bodyPr wrap="square">
            <a:spAutoFit/>
          </a:bodyPr>
          <a:lstStyle/>
          <a:p>
            <a:r>
              <a:rPr lang="fr-FR" sz="1050" dirty="0"/>
              <a:t>La réussite de ce projet repose sur la définition d'exigences rigoureuses garantissant à la fois la fluidité de l'expérience utilisateur et l'invulnérabilité du système. Les besoins fonctionnels décrivent les actions directes que l'application doit exécuter, tandis que les besoins non fonctionnels spécifient les critères de qualité, de performance et de sécurité indispensables au durcissement de la solution. </a:t>
            </a:r>
            <a:endParaRPr lang="fr-CM" sz="1050" dirty="0"/>
          </a:p>
        </p:txBody>
      </p:sp>
      <p:sp>
        <p:nvSpPr>
          <p:cNvPr id="16" name="Shape 9"/>
          <p:cNvSpPr/>
          <p:nvPr/>
        </p:nvSpPr>
        <p:spPr>
          <a:xfrm>
            <a:off x="320041" y="1917391"/>
            <a:ext cx="8503919" cy="704097"/>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17" name="Rectangle 16"/>
          <p:cNvSpPr/>
          <p:nvPr/>
        </p:nvSpPr>
        <p:spPr>
          <a:xfrm>
            <a:off x="715927" y="1883159"/>
            <a:ext cx="6838506" cy="611706"/>
          </a:xfrm>
          <a:prstGeom prst="rect">
            <a:avLst/>
          </a:prstGeom>
        </p:spPr>
        <p:txBody>
          <a:bodyPr wrap="square">
            <a:spAutoFit/>
          </a:bodyPr>
          <a:lstStyle/>
          <a:p>
            <a:pPr algn="ctr">
              <a:lnSpc>
                <a:spcPct val="150000"/>
              </a:lnSpc>
            </a:pPr>
            <a:r>
              <a:rPr lang="fr-FR" sz="1200" b="1" dirty="0"/>
              <a:t>2. Besoins Fonctionnels (BNF)</a:t>
            </a:r>
          </a:p>
          <a:p>
            <a:pPr>
              <a:lnSpc>
                <a:spcPct val="150000"/>
              </a:lnSpc>
            </a:pPr>
            <a:r>
              <a:rPr lang="fr-FR" sz="1050" dirty="0"/>
              <a:t>Ils définissent les exigences de qualité et d'architecture du système</a:t>
            </a:r>
          </a:p>
        </p:txBody>
      </p:sp>
      <p:sp>
        <p:nvSpPr>
          <p:cNvPr id="18" name="Shape 9"/>
          <p:cNvSpPr/>
          <p:nvPr/>
        </p:nvSpPr>
        <p:spPr>
          <a:xfrm>
            <a:off x="425301" y="2816237"/>
            <a:ext cx="2218437"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19" name="Shape 11"/>
          <p:cNvSpPr/>
          <p:nvPr/>
        </p:nvSpPr>
        <p:spPr>
          <a:xfrm flipV="1">
            <a:off x="519708" y="3125020"/>
            <a:ext cx="1833321" cy="45719"/>
          </a:xfrm>
          <a:prstGeom prst="rect">
            <a:avLst/>
          </a:prstGeom>
          <a:solidFill>
            <a:srgbClr val="CADCFC"/>
          </a:solidFill>
          <a:ln w="12700">
            <a:solidFill>
              <a:srgbClr val="CADCFC"/>
            </a:solidFill>
            <a:prstDash val="solid"/>
          </a:ln>
        </p:spPr>
      </p:sp>
      <p:sp>
        <p:nvSpPr>
          <p:cNvPr id="20" name="ZoneTexte 19"/>
          <p:cNvSpPr txBox="1"/>
          <p:nvPr/>
        </p:nvSpPr>
        <p:spPr>
          <a:xfrm>
            <a:off x="519708" y="3283425"/>
            <a:ext cx="1950589" cy="1061829"/>
          </a:xfrm>
          <a:prstGeom prst="rect">
            <a:avLst/>
          </a:prstGeom>
          <a:noFill/>
        </p:spPr>
        <p:txBody>
          <a:bodyPr wrap="square" rtlCol="0">
            <a:spAutoFit/>
          </a:bodyPr>
          <a:lstStyle/>
          <a:p>
            <a:pPr marL="171450" indent="-171450" algn="just">
              <a:buFont typeface="Arial" panose="020B0604020202020204" pitchFamily="34" charset="0"/>
              <a:buChar char="•"/>
            </a:pPr>
            <a:r>
              <a:rPr lang="fr-FR" sz="1050" dirty="0"/>
              <a:t>Le temps de réponse global (capture + détection de vivacité + comparaison) ne doit pas excéder </a:t>
            </a:r>
            <a:r>
              <a:rPr lang="fr-FR" sz="1050" b="1" dirty="0"/>
              <a:t>1,5 seconde</a:t>
            </a:r>
            <a:r>
              <a:rPr lang="fr-FR" sz="1050" dirty="0"/>
              <a:t> pour ne pas impacter l'expérience utilisateur.</a:t>
            </a:r>
            <a:endParaRPr lang="fr-CM" sz="1050" dirty="0"/>
          </a:p>
        </p:txBody>
      </p:sp>
      <p:sp>
        <p:nvSpPr>
          <p:cNvPr id="21" name="ZoneTexte 20"/>
          <p:cNvSpPr txBox="1"/>
          <p:nvPr/>
        </p:nvSpPr>
        <p:spPr>
          <a:xfrm>
            <a:off x="425301" y="2884147"/>
            <a:ext cx="2411996" cy="253916"/>
          </a:xfrm>
          <a:prstGeom prst="rect">
            <a:avLst/>
          </a:prstGeom>
          <a:noFill/>
        </p:spPr>
        <p:txBody>
          <a:bodyPr wrap="square" rtlCol="0">
            <a:spAutoFit/>
          </a:bodyPr>
          <a:lstStyle/>
          <a:p>
            <a:r>
              <a:rPr lang="en-US" sz="1050" b="1" dirty="0"/>
              <a:t>BNF1 - Performance et </a:t>
            </a:r>
            <a:r>
              <a:rPr lang="en-US" sz="1050" b="1" dirty="0" err="1"/>
              <a:t>Disponibilité</a:t>
            </a:r>
            <a:endParaRPr lang="fr-CM" sz="1050" b="1" dirty="0"/>
          </a:p>
        </p:txBody>
      </p:sp>
      <p:sp>
        <p:nvSpPr>
          <p:cNvPr id="41" name="Shape 9"/>
          <p:cNvSpPr/>
          <p:nvPr/>
        </p:nvSpPr>
        <p:spPr>
          <a:xfrm>
            <a:off x="2883126" y="2834528"/>
            <a:ext cx="2903974"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42" name="Shape 11"/>
          <p:cNvSpPr/>
          <p:nvPr/>
        </p:nvSpPr>
        <p:spPr>
          <a:xfrm flipV="1">
            <a:off x="2935557" y="3152535"/>
            <a:ext cx="2605554" cy="45719"/>
          </a:xfrm>
          <a:prstGeom prst="rect">
            <a:avLst/>
          </a:prstGeom>
          <a:solidFill>
            <a:srgbClr val="CADCFC"/>
          </a:solidFill>
          <a:ln w="12700">
            <a:solidFill>
              <a:srgbClr val="CADCFC"/>
            </a:solidFill>
            <a:prstDash val="solid"/>
          </a:ln>
        </p:spPr>
      </p:sp>
      <p:sp>
        <p:nvSpPr>
          <p:cNvPr id="43" name="ZoneTexte 42"/>
          <p:cNvSpPr txBox="1"/>
          <p:nvPr/>
        </p:nvSpPr>
        <p:spPr>
          <a:xfrm>
            <a:off x="3002806" y="3239633"/>
            <a:ext cx="2578001" cy="1061829"/>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050" dirty="0">
                <a:latin typeface="+mj-lt"/>
              </a:rPr>
              <a:t>   Le </a:t>
            </a:r>
            <a:r>
              <a:rPr lang="en-US" altLang="en-US" sz="1050" dirty="0" err="1">
                <a:latin typeface="+mj-lt"/>
              </a:rPr>
              <a:t>système</a:t>
            </a:r>
            <a:r>
              <a:rPr lang="en-US" altLang="en-US" sz="1050" dirty="0">
                <a:latin typeface="+mj-lt"/>
              </a:rPr>
              <a:t> </a:t>
            </a:r>
            <a:r>
              <a:rPr lang="en-US" altLang="en-US" sz="1050" dirty="0" err="1">
                <a:latin typeface="+mj-lt"/>
              </a:rPr>
              <a:t>doit</a:t>
            </a:r>
            <a:r>
              <a:rPr lang="en-US" altLang="en-US" sz="1050" dirty="0">
                <a:latin typeface="+mj-lt"/>
              </a:rPr>
              <a:t> </a:t>
            </a:r>
            <a:r>
              <a:rPr lang="en-US" altLang="en-US" sz="1050" dirty="0" err="1">
                <a:latin typeface="+mj-lt"/>
              </a:rPr>
              <a:t>être</a:t>
            </a:r>
            <a:r>
              <a:rPr lang="en-US" altLang="en-US" sz="1050" dirty="0">
                <a:latin typeface="+mj-lt"/>
              </a:rPr>
              <a:t> </a:t>
            </a:r>
            <a:r>
              <a:rPr lang="en-US" altLang="en-US" sz="1050" dirty="0" err="1">
                <a:latin typeface="+mj-lt"/>
              </a:rPr>
              <a:t>entièrement</a:t>
            </a:r>
            <a:r>
              <a:rPr lang="en-US" altLang="en-US" sz="1050" dirty="0">
                <a:latin typeface="+mj-lt"/>
              </a:rPr>
              <a:t> </a:t>
            </a:r>
            <a:r>
              <a:rPr lang="en-US" altLang="en-US" sz="1050" dirty="0" err="1">
                <a:latin typeface="+mj-lt"/>
              </a:rPr>
              <a:t>conteneurisé</a:t>
            </a:r>
            <a:r>
              <a:rPr lang="en-US" altLang="en-US" sz="1050" dirty="0">
                <a:latin typeface="+mj-lt"/>
              </a:rPr>
              <a:t> sous </a:t>
            </a:r>
            <a:r>
              <a:rPr lang="en-US" altLang="en-US" sz="1050" b="1" dirty="0">
                <a:latin typeface="+mj-lt"/>
              </a:rPr>
              <a:t>Docker / Docker Compose</a:t>
            </a:r>
            <a:r>
              <a:rPr lang="en-US" altLang="en-US" sz="1050" dirty="0">
                <a:latin typeface="+mj-lt"/>
              </a:rPr>
              <a:t> </a:t>
            </a:r>
            <a:r>
              <a:rPr lang="en-US" altLang="en-US" sz="1050" dirty="0" err="1">
                <a:latin typeface="+mj-lt"/>
              </a:rPr>
              <a:t>afin</a:t>
            </a:r>
            <a:r>
              <a:rPr lang="en-US" altLang="en-US" sz="1050" dirty="0">
                <a:latin typeface="+mj-lt"/>
              </a:rPr>
              <a:t> d'être </a:t>
            </a:r>
            <a:r>
              <a:rPr lang="en-US" altLang="en-US" sz="1050" dirty="0" err="1">
                <a:latin typeface="+mj-lt"/>
              </a:rPr>
              <a:t>déployable</a:t>
            </a:r>
            <a:r>
              <a:rPr lang="en-US" altLang="en-US" sz="1050" dirty="0">
                <a:latin typeface="+mj-lt"/>
              </a:rPr>
              <a:t> </a:t>
            </a:r>
            <a:r>
              <a:rPr lang="en-US" altLang="en-US" sz="1050" dirty="0" err="1">
                <a:latin typeface="+mj-lt"/>
              </a:rPr>
              <a:t>rapidement</a:t>
            </a:r>
            <a:r>
              <a:rPr lang="en-US" altLang="en-US" sz="1050" dirty="0">
                <a:latin typeface="+mj-lt"/>
              </a:rPr>
              <a:t> sur </a:t>
            </a:r>
            <a:r>
              <a:rPr lang="en-US" altLang="en-US" sz="1050" dirty="0" err="1">
                <a:latin typeface="+mj-lt"/>
              </a:rPr>
              <a:t>n'importe</a:t>
            </a:r>
            <a:r>
              <a:rPr lang="en-US" altLang="en-US" sz="1050" dirty="0">
                <a:latin typeface="+mj-lt"/>
              </a:rPr>
              <a:t> </a:t>
            </a:r>
            <a:r>
              <a:rPr lang="en-US" altLang="en-US" sz="1050" dirty="0" err="1">
                <a:latin typeface="+mj-lt"/>
              </a:rPr>
              <a:t>quelle</a:t>
            </a:r>
            <a:r>
              <a:rPr lang="en-US" altLang="en-US" sz="1050" dirty="0">
                <a:latin typeface="+mj-lt"/>
              </a:rPr>
              <a:t> machine Linux (Kali, </a:t>
            </a:r>
            <a:r>
              <a:rPr lang="en-US" altLang="en-US" sz="1050" dirty="0" err="1">
                <a:latin typeface="+mj-lt"/>
              </a:rPr>
              <a:t>openSUSE</a:t>
            </a:r>
            <a:r>
              <a:rPr lang="en-US" altLang="en-US" sz="1050" dirty="0">
                <a:latin typeface="+mj-lt"/>
              </a:rPr>
              <a:t>, etc.) sans </a:t>
            </a:r>
            <a:r>
              <a:rPr lang="en-US" altLang="en-US" sz="1050" dirty="0" err="1">
                <a:latin typeface="+mj-lt"/>
              </a:rPr>
              <a:t>conflit</a:t>
            </a:r>
            <a:r>
              <a:rPr lang="en-US" altLang="en-US" sz="1050" dirty="0">
                <a:latin typeface="+mj-lt"/>
              </a:rPr>
              <a:t> de </a:t>
            </a:r>
            <a:r>
              <a:rPr lang="en-US" altLang="en-US" sz="1050" dirty="0" err="1">
                <a:latin typeface="+mj-lt"/>
              </a:rPr>
              <a:t>dépendances</a:t>
            </a:r>
            <a:r>
              <a:rPr lang="en-US" altLang="en-US" sz="1050" dirty="0">
                <a:latin typeface="+mj-lt"/>
              </a:rPr>
              <a:t>.</a:t>
            </a:r>
          </a:p>
        </p:txBody>
      </p:sp>
      <p:sp>
        <p:nvSpPr>
          <p:cNvPr id="44" name="ZoneTexte 43"/>
          <p:cNvSpPr txBox="1"/>
          <p:nvPr/>
        </p:nvSpPr>
        <p:spPr>
          <a:xfrm>
            <a:off x="2841150" y="2911663"/>
            <a:ext cx="2411996" cy="253916"/>
          </a:xfrm>
          <a:prstGeom prst="rect">
            <a:avLst/>
          </a:prstGeom>
          <a:noFill/>
        </p:spPr>
        <p:txBody>
          <a:bodyPr wrap="square" rtlCol="0">
            <a:spAutoFit/>
          </a:bodyPr>
          <a:lstStyle/>
          <a:p>
            <a:pPr algn="ctr"/>
            <a:r>
              <a:rPr lang="en-US" sz="1050" b="1" dirty="0"/>
              <a:t>BNF2 - </a:t>
            </a:r>
            <a:r>
              <a:rPr lang="en-US" sz="1050" b="1" dirty="0" err="1"/>
              <a:t>Portabilité</a:t>
            </a:r>
            <a:r>
              <a:rPr lang="en-US" sz="1050" b="1" dirty="0"/>
              <a:t> et Isolation</a:t>
            </a:r>
            <a:endParaRPr lang="fr-CM" sz="1050" b="1" dirty="0"/>
          </a:p>
        </p:txBody>
      </p:sp>
      <p:sp>
        <p:nvSpPr>
          <p:cNvPr id="45" name="Shape 9"/>
          <p:cNvSpPr/>
          <p:nvPr/>
        </p:nvSpPr>
        <p:spPr>
          <a:xfrm>
            <a:off x="5938683" y="2834528"/>
            <a:ext cx="2885278" cy="1872038"/>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sp>
        <p:nvSpPr>
          <p:cNvPr id="46" name="Shape 11"/>
          <p:cNvSpPr/>
          <p:nvPr/>
        </p:nvSpPr>
        <p:spPr>
          <a:xfrm flipV="1">
            <a:off x="6138183" y="3179037"/>
            <a:ext cx="2643162" cy="45719"/>
          </a:xfrm>
          <a:prstGeom prst="rect">
            <a:avLst/>
          </a:prstGeom>
          <a:solidFill>
            <a:srgbClr val="CADCFC"/>
          </a:solidFill>
          <a:ln w="12700">
            <a:solidFill>
              <a:srgbClr val="CADCFC"/>
            </a:solidFill>
            <a:prstDash val="solid"/>
          </a:ln>
        </p:spPr>
      </p:sp>
      <p:sp>
        <p:nvSpPr>
          <p:cNvPr id="47" name="ZoneTexte 46"/>
          <p:cNvSpPr txBox="1"/>
          <p:nvPr/>
        </p:nvSpPr>
        <p:spPr>
          <a:xfrm>
            <a:off x="6033089" y="3293162"/>
            <a:ext cx="2600547" cy="1061829"/>
          </a:xfrm>
          <a:prstGeom prst="rect">
            <a:avLst/>
          </a:prstGeom>
          <a:noFill/>
        </p:spPr>
        <p:txBody>
          <a:bodyPr wrap="square" rtlCol="0">
            <a:spAutoFit/>
          </a:bodyPr>
          <a:lstStyle/>
          <a:p>
            <a:pPr marL="171450" indent="-171450" algn="just">
              <a:buFont typeface="Arial" panose="020B0604020202020204" pitchFamily="34" charset="0"/>
              <a:buChar char="•"/>
            </a:pPr>
            <a:r>
              <a:rPr lang="fr-FR" sz="1050" dirty="0"/>
              <a:t>L'interface graphique (ou console) doit afficher des messages clairs en cas de refus (ex: "Attaque par photo détectée" ou "Échec d'authentification") tout en restant robuste face aux variations de luminosité ambiante.</a:t>
            </a:r>
            <a:endParaRPr lang="fr-CM" sz="1050" dirty="0"/>
          </a:p>
        </p:txBody>
      </p:sp>
      <p:sp>
        <p:nvSpPr>
          <p:cNvPr id="48" name="ZoneTexte 47"/>
          <p:cNvSpPr txBox="1"/>
          <p:nvPr/>
        </p:nvSpPr>
        <p:spPr>
          <a:xfrm>
            <a:off x="5938682" y="2902438"/>
            <a:ext cx="2411996" cy="253916"/>
          </a:xfrm>
          <a:prstGeom prst="rect">
            <a:avLst/>
          </a:prstGeom>
          <a:noFill/>
        </p:spPr>
        <p:txBody>
          <a:bodyPr wrap="square" rtlCol="0">
            <a:spAutoFit/>
          </a:bodyPr>
          <a:lstStyle/>
          <a:p>
            <a:pPr algn="ctr"/>
            <a:r>
              <a:rPr lang="en-US" sz="1050" b="1" dirty="0"/>
              <a:t>BNF3 - </a:t>
            </a:r>
            <a:r>
              <a:rPr lang="en-US" sz="1050" b="1" dirty="0" err="1"/>
              <a:t>Ergonomie</a:t>
            </a:r>
            <a:r>
              <a:rPr lang="en-US" sz="1050" b="1" dirty="0"/>
              <a:t> et </a:t>
            </a:r>
            <a:r>
              <a:rPr lang="en-US" sz="1050" b="1" dirty="0" err="1"/>
              <a:t>Robustesse</a:t>
            </a:r>
            <a:r>
              <a:rPr lang="en-US" sz="1050" b="1" dirty="0"/>
              <a:t> </a:t>
            </a:r>
            <a:endParaRPr lang="fr-CM" sz="1050" b="1" dirty="0"/>
          </a:p>
        </p:txBody>
      </p:sp>
    </p:spTree>
    <p:extLst>
      <p:ext uri="{BB962C8B-B14F-4D97-AF65-F5344CB8AC3E}">
        <p14:creationId xmlns:p14="http://schemas.microsoft.com/office/powerpoint/2010/main" val="2099560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03 · Fonctionnalités Attendues</a:t>
            </a:r>
            <a:endParaRPr lang="en-US" sz="2100" dirty="0"/>
          </a:p>
        </p:txBody>
      </p:sp>
      <p:sp>
        <p:nvSpPr>
          <p:cNvPr id="5" name="Shape 2"/>
          <p:cNvSpPr/>
          <p:nvPr/>
        </p:nvSpPr>
        <p:spPr>
          <a:xfrm>
            <a:off x="320040" y="1051560"/>
            <a:ext cx="2011680" cy="269748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6" name="Image 1" descr="preencoded.png"/>
          <p:cNvPicPr>
            <a:picLocks noChangeAspect="1"/>
          </p:cNvPicPr>
          <p:nvPr/>
        </p:nvPicPr>
        <p:blipFill>
          <a:blip r:embed="rId3"/>
          <a:stretch>
            <a:fillRect/>
          </a:stretch>
        </p:blipFill>
        <p:spPr>
          <a:xfrm>
            <a:off x="457200" y="1170432"/>
            <a:ext cx="320040" cy="320040"/>
          </a:xfrm>
          <a:prstGeom prst="rect">
            <a:avLst/>
          </a:prstGeom>
        </p:spPr>
      </p:pic>
      <p:sp>
        <p:nvSpPr>
          <p:cNvPr id="7" name="Text 3"/>
          <p:cNvSpPr/>
          <p:nvPr/>
        </p:nvSpPr>
        <p:spPr>
          <a:xfrm>
            <a:off x="822960" y="1161288"/>
            <a:ext cx="1371600" cy="320040"/>
          </a:xfrm>
          <a:prstGeom prst="rect">
            <a:avLst/>
          </a:prstGeom>
          <a:noFill/>
          <a:ln/>
        </p:spPr>
        <p:txBody>
          <a:bodyPr wrap="square" lIns="0" tIns="0" rIns="0" bIns="0" rtlCol="0" anchor="ctr"/>
          <a:lstStyle/>
          <a:p>
            <a:pPr marL="0" indent="0">
              <a:buNone/>
            </a:pPr>
            <a:r>
              <a:rPr lang="en-US" sz="1150" b="1" dirty="0">
                <a:solidFill>
                  <a:srgbClr val="1E2761"/>
                </a:solidFill>
              </a:rPr>
              <a:t>Capture d'image</a:t>
            </a:r>
            <a:endParaRPr lang="en-US" sz="1150" dirty="0"/>
          </a:p>
        </p:txBody>
      </p:sp>
      <p:sp>
        <p:nvSpPr>
          <p:cNvPr id="8" name="Shape 4"/>
          <p:cNvSpPr/>
          <p:nvPr/>
        </p:nvSpPr>
        <p:spPr>
          <a:xfrm>
            <a:off x="457200" y="1508760"/>
            <a:ext cx="1737360" cy="11887"/>
          </a:xfrm>
          <a:prstGeom prst="rect">
            <a:avLst/>
          </a:prstGeom>
          <a:solidFill>
            <a:srgbClr val="CADCFC"/>
          </a:solidFill>
          <a:ln w="12700">
            <a:solidFill>
              <a:srgbClr val="CADCFC"/>
            </a:solidFill>
            <a:prstDash val="solid"/>
          </a:ln>
        </p:spPr>
      </p:sp>
      <p:sp>
        <p:nvSpPr>
          <p:cNvPr id="9" name="Text 5"/>
          <p:cNvSpPr/>
          <p:nvPr/>
        </p:nvSpPr>
        <p:spPr>
          <a:xfrm>
            <a:off x="457200" y="1554480"/>
            <a:ext cx="1737360" cy="2103120"/>
          </a:xfrm>
          <a:prstGeom prst="rect">
            <a:avLst/>
          </a:prstGeom>
          <a:noFill/>
          <a:ln/>
        </p:spPr>
        <p:txBody>
          <a:bodyPr wrap="square" rtlCol="0" anchor="t"/>
          <a:lstStyle/>
          <a:p>
            <a:pPr marL="342900" indent="-342900">
              <a:buSzPct val="100000"/>
              <a:buChar char="•"/>
            </a:pPr>
            <a:r>
              <a:rPr lang="en-US" sz="1000" dirty="0">
                <a:solidFill>
                  <a:srgbClr val="2A2A4A"/>
                </a:solidFill>
              </a:rPr>
              <a:t>Flux webcam en temps réel</a:t>
            </a:r>
            <a:endParaRPr lang="en-US" sz="1000" dirty="0"/>
          </a:p>
          <a:p>
            <a:pPr marL="342900" indent="-342900">
              <a:buSzPct val="100000"/>
              <a:buChar char="•"/>
            </a:pPr>
            <a:r>
              <a:rPr lang="en-US" sz="1000" dirty="0">
                <a:solidFill>
                  <a:srgbClr val="2A2A4A"/>
                </a:solidFill>
              </a:rPr>
              <a:t>Déclenchement manuel ou automatique</a:t>
            </a:r>
            <a:endParaRPr lang="en-US" sz="1000" dirty="0"/>
          </a:p>
          <a:p>
            <a:pPr marL="342900" indent="-342900">
              <a:buSzPct val="100000"/>
              <a:buChar char="•"/>
            </a:pPr>
            <a:r>
              <a:rPr lang="en-US" sz="1000" dirty="0">
                <a:solidFill>
                  <a:srgbClr val="2A2A4A"/>
                </a:solidFill>
              </a:rPr>
              <a:t>Prévisualisation avant capture</a:t>
            </a:r>
            <a:endParaRPr lang="en-US" sz="1000" dirty="0"/>
          </a:p>
        </p:txBody>
      </p:sp>
      <p:sp>
        <p:nvSpPr>
          <p:cNvPr id="10" name="Shape 6"/>
          <p:cNvSpPr/>
          <p:nvPr/>
        </p:nvSpPr>
        <p:spPr>
          <a:xfrm>
            <a:off x="2468880" y="1051560"/>
            <a:ext cx="2011680" cy="269748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11" name="Image 2" descr="preencoded.png"/>
          <p:cNvPicPr>
            <a:picLocks noChangeAspect="1"/>
          </p:cNvPicPr>
          <p:nvPr/>
        </p:nvPicPr>
        <p:blipFill>
          <a:blip r:embed="rId4"/>
          <a:stretch>
            <a:fillRect/>
          </a:stretch>
        </p:blipFill>
        <p:spPr>
          <a:xfrm>
            <a:off x="2606040" y="1170432"/>
            <a:ext cx="320040" cy="320040"/>
          </a:xfrm>
          <a:prstGeom prst="rect">
            <a:avLst/>
          </a:prstGeom>
        </p:spPr>
      </p:pic>
      <p:sp>
        <p:nvSpPr>
          <p:cNvPr id="12" name="Text 7"/>
          <p:cNvSpPr/>
          <p:nvPr/>
        </p:nvSpPr>
        <p:spPr>
          <a:xfrm>
            <a:off x="2973324" y="1161288"/>
            <a:ext cx="1371600" cy="320040"/>
          </a:xfrm>
          <a:prstGeom prst="rect">
            <a:avLst/>
          </a:prstGeom>
          <a:noFill/>
          <a:ln/>
        </p:spPr>
        <p:txBody>
          <a:bodyPr wrap="square" lIns="0" tIns="0" rIns="0" bIns="0" rtlCol="0" anchor="ctr"/>
          <a:lstStyle/>
          <a:p>
            <a:pPr marL="0" indent="0">
              <a:buNone/>
            </a:pPr>
            <a:r>
              <a:rPr lang="en-US" sz="1150" b="1" dirty="0" err="1">
                <a:solidFill>
                  <a:srgbClr val="1E2761"/>
                </a:solidFill>
              </a:rPr>
              <a:t>Détection</a:t>
            </a:r>
            <a:endParaRPr lang="en-US" sz="1150" dirty="0"/>
          </a:p>
        </p:txBody>
      </p:sp>
      <p:sp>
        <p:nvSpPr>
          <p:cNvPr id="13" name="Shape 8"/>
          <p:cNvSpPr/>
          <p:nvPr/>
        </p:nvSpPr>
        <p:spPr>
          <a:xfrm>
            <a:off x="2606040" y="1508760"/>
            <a:ext cx="1737360" cy="11887"/>
          </a:xfrm>
          <a:prstGeom prst="rect">
            <a:avLst/>
          </a:prstGeom>
          <a:solidFill>
            <a:srgbClr val="CADCFC"/>
          </a:solidFill>
          <a:ln w="12700">
            <a:solidFill>
              <a:srgbClr val="CADCFC"/>
            </a:solidFill>
            <a:prstDash val="solid"/>
          </a:ln>
        </p:spPr>
      </p:sp>
      <p:sp>
        <p:nvSpPr>
          <p:cNvPr id="14" name="Text 9"/>
          <p:cNvSpPr/>
          <p:nvPr/>
        </p:nvSpPr>
        <p:spPr>
          <a:xfrm>
            <a:off x="2606040" y="1554480"/>
            <a:ext cx="1737360" cy="2103120"/>
          </a:xfrm>
          <a:prstGeom prst="rect">
            <a:avLst/>
          </a:prstGeom>
          <a:noFill/>
          <a:ln/>
        </p:spPr>
        <p:txBody>
          <a:bodyPr wrap="square" rtlCol="0" anchor="t"/>
          <a:lstStyle/>
          <a:p>
            <a:pPr marL="342900" indent="-342900">
              <a:buSzPct val="100000"/>
              <a:buChar char="•"/>
            </a:pPr>
            <a:r>
              <a:rPr lang="en-US" sz="1000" dirty="0">
                <a:solidFill>
                  <a:srgbClr val="2A2A4A"/>
                </a:solidFill>
              </a:rPr>
              <a:t>Localisation du visage </a:t>
            </a:r>
            <a:endParaRPr lang="en-US" sz="1000" dirty="0"/>
          </a:p>
          <a:p>
            <a:pPr marL="342900" indent="-342900">
              <a:buSzPct val="100000"/>
              <a:buChar char="•"/>
            </a:pPr>
            <a:r>
              <a:rPr lang="en-US" sz="1000" dirty="0">
                <a:solidFill>
                  <a:srgbClr val="2A2A4A"/>
                </a:solidFill>
              </a:rPr>
              <a:t>Génération </a:t>
            </a:r>
            <a:r>
              <a:rPr lang="en-US" sz="1000" dirty="0" err="1">
                <a:solidFill>
                  <a:srgbClr val="2A2A4A"/>
                </a:solidFill>
              </a:rPr>
              <a:t>vecteur</a:t>
            </a:r>
            <a:endParaRPr lang="en-US" sz="1000" dirty="0"/>
          </a:p>
          <a:p>
            <a:pPr marL="342900" indent="-342900">
              <a:buSzPct val="100000"/>
              <a:buChar char="•"/>
            </a:pPr>
            <a:r>
              <a:rPr lang="en-US" sz="1000" dirty="0" err="1">
                <a:solidFill>
                  <a:srgbClr val="2A2A4A"/>
                </a:solidFill>
              </a:rPr>
              <a:t>Rejet</a:t>
            </a:r>
            <a:r>
              <a:rPr lang="en-US" sz="1000" dirty="0">
                <a:solidFill>
                  <a:srgbClr val="2A2A4A"/>
                </a:solidFill>
              </a:rPr>
              <a:t> si aucun visage détecté</a:t>
            </a:r>
            <a:endParaRPr lang="en-US" sz="1000" dirty="0"/>
          </a:p>
        </p:txBody>
      </p:sp>
      <p:sp>
        <p:nvSpPr>
          <p:cNvPr id="15" name="Shape 10"/>
          <p:cNvSpPr/>
          <p:nvPr/>
        </p:nvSpPr>
        <p:spPr>
          <a:xfrm>
            <a:off x="4617720" y="1051560"/>
            <a:ext cx="2011680" cy="269748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16" name="Image 3" descr="preencoded.png"/>
          <p:cNvPicPr>
            <a:picLocks noChangeAspect="1"/>
          </p:cNvPicPr>
          <p:nvPr/>
        </p:nvPicPr>
        <p:blipFill>
          <a:blip r:embed="rId5"/>
          <a:stretch>
            <a:fillRect/>
          </a:stretch>
        </p:blipFill>
        <p:spPr>
          <a:xfrm>
            <a:off x="4754880" y="1170432"/>
            <a:ext cx="320040" cy="320040"/>
          </a:xfrm>
          <a:prstGeom prst="rect">
            <a:avLst/>
          </a:prstGeom>
        </p:spPr>
      </p:pic>
      <p:sp>
        <p:nvSpPr>
          <p:cNvPr id="17" name="Text 11"/>
          <p:cNvSpPr/>
          <p:nvPr/>
        </p:nvSpPr>
        <p:spPr>
          <a:xfrm>
            <a:off x="5120640" y="1161288"/>
            <a:ext cx="1371600" cy="320040"/>
          </a:xfrm>
          <a:prstGeom prst="rect">
            <a:avLst/>
          </a:prstGeom>
          <a:noFill/>
          <a:ln/>
        </p:spPr>
        <p:txBody>
          <a:bodyPr wrap="square" lIns="0" tIns="0" rIns="0" bIns="0" rtlCol="0" anchor="ctr"/>
          <a:lstStyle/>
          <a:p>
            <a:pPr marL="0" indent="0">
              <a:buNone/>
            </a:pPr>
            <a:r>
              <a:rPr lang="en-US" sz="1150" b="1" dirty="0">
                <a:solidFill>
                  <a:srgbClr val="1E2761"/>
                </a:solidFill>
              </a:rPr>
              <a:t>Comparaison BDD</a:t>
            </a:r>
            <a:endParaRPr lang="en-US" sz="1150" dirty="0"/>
          </a:p>
        </p:txBody>
      </p:sp>
      <p:sp>
        <p:nvSpPr>
          <p:cNvPr id="18" name="Shape 12"/>
          <p:cNvSpPr/>
          <p:nvPr/>
        </p:nvSpPr>
        <p:spPr>
          <a:xfrm>
            <a:off x="4754880" y="1508760"/>
            <a:ext cx="1737360" cy="11887"/>
          </a:xfrm>
          <a:prstGeom prst="rect">
            <a:avLst/>
          </a:prstGeom>
          <a:solidFill>
            <a:srgbClr val="CADCFC"/>
          </a:solidFill>
          <a:ln w="12700">
            <a:solidFill>
              <a:srgbClr val="CADCFC"/>
            </a:solidFill>
            <a:prstDash val="solid"/>
          </a:ln>
        </p:spPr>
      </p:sp>
      <p:sp>
        <p:nvSpPr>
          <p:cNvPr id="19" name="Text 13"/>
          <p:cNvSpPr/>
          <p:nvPr/>
        </p:nvSpPr>
        <p:spPr>
          <a:xfrm>
            <a:off x="4754880" y="1554480"/>
            <a:ext cx="1737360" cy="2103120"/>
          </a:xfrm>
          <a:prstGeom prst="rect">
            <a:avLst/>
          </a:prstGeom>
          <a:noFill/>
          <a:ln/>
        </p:spPr>
        <p:txBody>
          <a:bodyPr wrap="square" rtlCol="0" anchor="t"/>
          <a:lstStyle/>
          <a:p>
            <a:pPr marL="342900" indent="-342900">
              <a:buSzPct val="100000"/>
              <a:buChar char="•"/>
            </a:pPr>
            <a:r>
              <a:rPr lang="en-US" sz="1000" dirty="0">
                <a:solidFill>
                  <a:srgbClr val="2A2A4A"/>
                </a:solidFill>
              </a:rPr>
              <a:t>Distance euclidienne avec profils</a:t>
            </a:r>
            <a:endParaRPr lang="en-US" sz="1000" dirty="0"/>
          </a:p>
          <a:p>
            <a:pPr marL="342900" indent="-342900">
              <a:buSzPct val="100000"/>
              <a:buChar char="•"/>
            </a:pPr>
            <a:r>
              <a:rPr lang="en-US" sz="1000" dirty="0">
                <a:solidFill>
                  <a:srgbClr val="2A2A4A"/>
                </a:solidFill>
              </a:rPr>
              <a:t>Seuil de similarité configurable</a:t>
            </a:r>
            <a:endParaRPr lang="en-US" sz="1000" dirty="0"/>
          </a:p>
          <a:p>
            <a:pPr marL="342900" indent="-342900">
              <a:buSzPct val="100000"/>
              <a:buChar char="•"/>
            </a:pPr>
            <a:r>
              <a:rPr lang="en-US" sz="1000" dirty="0">
                <a:solidFill>
                  <a:srgbClr val="2A2A4A"/>
                </a:solidFill>
              </a:rPr>
              <a:t>Résultat : accordé / refusé + score</a:t>
            </a:r>
            <a:endParaRPr lang="en-US" sz="1000" dirty="0"/>
          </a:p>
        </p:txBody>
      </p:sp>
      <p:sp>
        <p:nvSpPr>
          <p:cNvPr id="20" name="Shape 14"/>
          <p:cNvSpPr/>
          <p:nvPr/>
        </p:nvSpPr>
        <p:spPr>
          <a:xfrm>
            <a:off x="6766560" y="1051560"/>
            <a:ext cx="2011680" cy="2697480"/>
          </a:xfrm>
          <a:prstGeom prst="rect">
            <a:avLst/>
          </a:prstGeom>
          <a:solidFill>
            <a:srgbClr val="F0F4FF"/>
          </a:solidFill>
          <a:ln w="12700">
            <a:solidFill>
              <a:srgbClr val="CADCFC"/>
            </a:solidFill>
            <a:prstDash val="solid"/>
          </a:ln>
          <a:effectLst>
            <a:outerShdw blurRad="101600" dist="38100" dir="8100000" algn="bl" rotWithShape="0">
              <a:srgbClr val="000000">
                <a:alpha val="12000"/>
              </a:srgbClr>
            </a:outerShdw>
          </a:effectLst>
        </p:spPr>
      </p:sp>
      <p:pic>
        <p:nvPicPr>
          <p:cNvPr id="21" name="Image 4" descr="preencoded.png"/>
          <p:cNvPicPr>
            <a:picLocks noChangeAspect="1"/>
          </p:cNvPicPr>
          <p:nvPr/>
        </p:nvPicPr>
        <p:blipFill>
          <a:blip r:embed="rId6"/>
          <a:stretch>
            <a:fillRect/>
          </a:stretch>
        </p:blipFill>
        <p:spPr>
          <a:xfrm>
            <a:off x="6903720" y="1170432"/>
            <a:ext cx="320040" cy="320040"/>
          </a:xfrm>
          <a:prstGeom prst="rect">
            <a:avLst/>
          </a:prstGeom>
        </p:spPr>
      </p:pic>
      <p:sp>
        <p:nvSpPr>
          <p:cNvPr id="22" name="Text 15"/>
          <p:cNvSpPr/>
          <p:nvPr/>
        </p:nvSpPr>
        <p:spPr>
          <a:xfrm>
            <a:off x="7269480" y="1161288"/>
            <a:ext cx="1371600" cy="320040"/>
          </a:xfrm>
          <a:prstGeom prst="rect">
            <a:avLst/>
          </a:prstGeom>
          <a:noFill/>
          <a:ln/>
        </p:spPr>
        <p:txBody>
          <a:bodyPr wrap="square" lIns="0" tIns="0" rIns="0" bIns="0" rtlCol="0" anchor="ctr"/>
          <a:lstStyle/>
          <a:p>
            <a:pPr marL="0" indent="0">
              <a:buNone/>
            </a:pPr>
            <a:r>
              <a:rPr lang="en-US" sz="1150" b="1" dirty="0">
                <a:solidFill>
                  <a:srgbClr val="1E2761"/>
                </a:solidFill>
              </a:rPr>
              <a:t>Gestion utilisateurs</a:t>
            </a:r>
            <a:endParaRPr lang="en-US" sz="1150" dirty="0"/>
          </a:p>
        </p:txBody>
      </p:sp>
      <p:sp>
        <p:nvSpPr>
          <p:cNvPr id="23" name="Shape 16"/>
          <p:cNvSpPr/>
          <p:nvPr/>
        </p:nvSpPr>
        <p:spPr>
          <a:xfrm>
            <a:off x="6903720" y="1508760"/>
            <a:ext cx="1737360" cy="11887"/>
          </a:xfrm>
          <a:prstGeom prst="rect">
            <a:avLst/>
          </a:prstGeom>
          <a:solidFill>
            <a:srgbClr val="CADCFC"/>
          </a:solidFill>
          <a:ln w="12700">
            <a:solidFill>
              <a:srgbClr val="CADCFC"/>
            </a:solidFill>
            <a:prstDash val="solid"/>
          </a:ln>
        </p:spPr>
      </p:sp>
      <p:sp>
        <p:nvSpPr>
          <p:cNvPr id="24" name="Text 17"/>
          <p:cNvSpPr/>
          <p:nvPr/>
        </p:nvSpPr>
        <p:spPr>
          <a:xfrm>
            <a:off x="6903720" y="1554480"/>
            <a:ext cx="1737360" cy="2103120"/>
          </a:xfrm>
          <a:prstGeom prst="rect">
            <a:avLst/>
          </a:prstGeom>
          <a:noFill/>
          <a:ln/>
        </p:spPr>
        <p:txBody>
          <a:bodyPr wrap="square" rtlCol="0" anchor="t"/>
          <a:lstStyle/>
          <a:p>
            <a:pPr marL="342900" indent="-342900">
              <a:buSzPct val="100000"/>
              <a:buChar char="•"/>
            </a:pPr>
            <a:r>
              <a:rPr lang="en-US" sz="1000" dirty="0">
                <a:solidFill>
                  <a:srgbClr val="2A2A4A"/>
                </a:solidFill>
              </a:rPr>
              <a:t>Enregistrement nouveau profil</a:t>
            </a:r>
            <a:endParaRPr lang="en-US" sz="1000" dirty="0"/>
          </a:p>
          <a:p>
            <a:pPr marL="342900" indent="-342900">
              <a:buSzPct val="100000"/>
              <a:buChar char="•"/>
            </a:pPr>
            <a:r>
              <a:rPr lang="en-US" sz="1000" dirty="0">
                <a:solidFill>
                  <a:srgbClr val="2A2A4A"/>
                </a:solidFill>
              </a:rPr>
              <a:t>Suppression et mise à jour</a:t>
            </a:r>
            <a:endParaRPr lang="en-US" sz="1000" dirty="0"/>
          </a:p>
          <a:p>
            <a:pPr marL="342900" indent="-342900">
              <a:buSzPct val="100000"/>
              <a:buChar char="•"/>
            </a:pPr>
            <a:r>
              <a:rPr lang="en-US" sz="1000" dirty="0">
                <a:solidFill>
                  <a:srgbClr val="2A2A4A"/>
                </a:solidFill>
              </a:rPr>
              <a:t>Liste des utilisateurs enregistrés</a:t>
            </a:r>
            <a:endParaRPr lang="en-US" sz="1000" dirty="0"/>
          </a:p>
        </p:txBody>
      </p:sp>
      <p:sp>
        <p:nvSpPr>
          <p:cNvPr id="28" name="Text 21"/>
          <p:cNvSpPr/>
          <p:nvPr/>
        </p:nvSpPr>
        <p:spPr>
          <a:xfrm>
            <a:off x="502920" y="4224528"/>
            <a:ext cx="1417320" cy="502920"/>
          </a:xfrm>
          <a:prstGeom prst="rect">
            <a:avLst/>
          </a:prstGeom>
          <a:noFill/>
          <a:ln/>
        </p:spPr>
        <p:txBody>
          <a:bodyPr wrap="square" lIns="0" tIns="0" rIns="0" bIns="0" rtlCol="0" anchor="ctr"/>
          <a:lstStyle/>
          <a:p>
            <a:pPr marL="0" indent="0" algn="ctr">
              <a:buNone/>
            </a:pPr>
            <a:r>
              <a:rPr lang="en-US" sz="900" b="1" dirty="0">
                <a:solidFill>
                  <a:srgbClr val="FFFFFF"/>
                </a:solidFill>
              </a:rPr>
              <a:t>Capture webcam</a:t>
            </a:r>
            <a:endParaRPr lang="en-US" sz="900" dirty="0"/>
          </a:p>
        </p:txBody>
      </p:sp>
      <p:sp>
        <p:nvSpPr>
          <p:cNvPr id="31" name="Text 24"/>
          <p:cNvSpPr/>
          <p:nvPr/>
        </p:nvSpPr>
        <p:spPr>
          <a:xfrm>
            <a:off x="2130552" y="4224528"/>
            <a:ext cx="1417320" cy="502920"/>
          </a:xfrm>
          <a:prstGeom prst="rect">
            <a:avLst/>
          </a:prstGeom>
          <a:noFill/>
          <a:ln/>
        </p:spPr>
        <p:txBody>
          <a:bodyPr wrap="square" lIns="0" tIns="0" rIns="0" bIns="0" rtlCol="0" anchor="ctr"/>
          <a:lstStyle/>
          <a:p>
            <a:pPr marL="0" indent="0" algn="ctr">
              <a:buNone/>
            </a:pPr>
            <a:r>
              <a:rPr lang="en-US" sz="900" b="1" dirty="0">
                <a:solidFill>
                  <a:srgbClr val="FFFFFF"/>
                </a:solidFill>
              </a:rPr>
              <a:t>Détection faciale</a:t>
            </a:r>
            <a:endParaRPr lang="en-US" sz="900" dirty="0"/>
          </a:p>
        </p:txBody>
      </p:sp>
      <p:sp>
        <p:nvSpPr>
          <p:cNvPr id="37" name="Text 30"/>
          <p:cNvSpPr/>
          <p:nvPr/>
        </p:nvSpPr>
        <p:spPr>
          <a:xfrm>
            <a:off x="5385816" y="4224528"/>
            <a:ext cx="1417320" cy="502920"/>
          </a:xfrm>
          <a:prstGeom prst="rect">
            <a:avLst/>
          </a:prstGeom>
          <a:noFill/>
          <a:ln/>
        </p:spPr>
        <p:txBody>
          <a:bodyPr wrap="square" lIns="0" tIns="0" rIns="0" bIns="0" rtlCol="0" anchor="ctr"/>
          <a:lstStyle/>
          <a:p>
            <a:pPr marL="0" indent="0" algn="ctr">
              <a:buNone/>
            </a:pPr>
            <a:r>
              <a:rPr lang="en-US" sz="900" b="1" dirty="0">
                <a:solidFill>
                  <a:srgbClr val="FFFFFF"/>
                </a:solidFill>
              </a:rPr>
              <a:t>Comparaison BDD</a:t>
            </a:r>
            <a:endParaRPr lang="en-US" sz="900" dirty="0"/>
          </a:p>
        </p:txBody>
      </p:sp>
      <p:sp>
        <p:nvSpPr>
          <p:cNvPr id="40" name="Text 33"/>
          <p:cNvSpPr/>
          <p:nvPr/>
        </p:nvSpPr>
        <p:spPr>
          <a:xfrm>
            <a:off x="7013448" y="4224528"/>
            <a:ext cx="1417320" cy="502920"/>
          </a:xfrm>
          <a:prstGeom prst="rect">
            <a:avLst/>
          </a:prstGeom>
          <a:noFill/>
          <a:ln/>
        </p:spPr>
        <p:txBody>
          <a:bodyPr wrap="square" lIns="0" tIns="0" rIns="0" bIns="0" rtlCol="0" anchor="ctr"/>
          <a:lstStyle/>
          <a:p>
            <a:pPr marL="0" indent="0" algn="ctr">
              <a:buNone/>
            </a:pPr>
            <a:r>
              <a:rPr lang="en-US" sz="900" b="1" dirty="0">
                <a:solidFill>
                  <a:srgbClr val="FFFFFF"/>
                </a:solidFill>
              </a:rPr>
              <a:t>Décision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C3FC7"/>
          </a:solidFill>
          <a:ln w="12700">
            <a:solidFill>
              <a:srgbClr val="6C3FC7"/>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1900" b="1" dirty="0">
                <a:solidFill>
                  <a:srgbClr val="FFFFFF"/>
                </a:solidFill>
              </a:rPr>
              <a:t>04 · Planification du Projet — Durée estimée : 8 semaines</a:t>
            </a:r>
            <a:endParaRPr lang="en-US" sz="1900" dirty="0"/>
          </a:p>
        </p:txBody>
      </p:sp>
      <p:sp>
        <p:nvSpPr>
          <p:cNvPr id="5" name="Shape 2"/>
          <p:cNvSpPr/>
          <p:nvPr/>
        </p:nvSpPr>
        <p:spPr>
          <a:xfrm>
            <a:off x="274320" y="987552"/>
            <a:ext cx="3246120" cy="384048"/>
          </a:xfrm>
          <a:prstGeom prst="rect">
            <a:avLst/>
          </a:prstGeom>
          <a:solidFill>
            <a:srgbClr val="1E2761"/>
          </a:solidFill>
          <a:ln w="12700">
            <a:solidFill>
              <a:srgbClr val="1E2761"/>
            </a:solidFill>
            <a:prstDash val="solid"/>
          </a:ln>
        </p:spPr>
      </p:sp>
      <p:sp>
        <p:nvSpPr>
          <p:cNvPr id="6" name="Text 3"/>
          <p:cNvSpPr/>
          <p:nvPr/>
        </p:nvSpPr>
        <p:spPr>
          <a:xfrm>
            <a:off x="365760" y="987552"/>
            <a:ext cx="3154680" cy="384048"/>
          </a:xfrm>
          <a:prstGeom prst="rect">
            <a:avLst/>
          </a:prstGeom>
          <a:noFill/>
          <a:ln/>
        </p:spPr>
        <p:txBody>
          <a:bodyPr wrap="square" lIns="0" tIns="0" rIns="0" bIns="0" rtlCol="0" anchor="ctr"/>
          <a:lstStyle/>
          <a:p>
            <a:pPr marL="0" indent="0">
              <a:buNone/>
            </a:pPr>
            <a:r>
              <a:rPr lang="en-US" sz="1100" b="1" dirty="0">
                <a:solidFill>
                  <a:srgbClr val="FFFFFF"/>
                </a:solidFill>
              </a:rPr>
              <a:t>Phase / Activité</a:t>
            </a:r>
            <a:endParaRPr lang="en-US" sz="1100" dirty="0"/>
          </a:p>
        </p:txBody>
      </p:sp>
      <p:sp>
        <p:nvSpPr>
          <p:cNvPr id="7" name="Shape 4"/>
          <p:cNvSpPr/>
          <p:nvPr/>
        </p:nvSpPr>
        <p:spPr>
          <a:xfrm>
            <a:off x="3520440" y="987552"/>
            <a:ext cx="699516" cy="384048"/>
          </a:xfrm>
          <a:prstGeom prst="rect">
            <a:avLst/>
          </a:prstGeom>
          <a:solidFill>
            <a:srgbClr val="1E2761"/>
          </a:solidFill>
          <a:ln w="6350">
            <a:solidFill>
              <a:srgbClr val="2A3A7A"/>
            </a:solidFill>
            <a:prstDash val="solid"/>
          </a:ln>
        </p:spPr>
      </p:sp>
      <p:sp>
        <p:nvSpPr>
          <p:cNvPr id="8" name="Text 5"/>
          <p:cNvSpPr/>
          <p:nvPr/>
        </p:nvSpPr>
        <p:spPr>
          <a:xfrm>
            <a:off x="3520440"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S1</a:t>
            </a:r>
            <a:endParaRPr lang="en-US" sz="1000" dirty="0"/>
          </a:p>
        </p:txBody>
      </p:sp>
      <p:sp>
        <p:nvSpPr>
          <p:cNvPr id="9" name="Shape 6"/>
          <p:cNvSpPr/>
          <p:nvPr/>
        </p:nvSpPr>
        <p:spPr>
          <a:xfrm>
            <a:off x="4219956" y="987552"/>
            <a:ext cx="699516" cy="384048"/>
          </a:xfrm>
          <a:prstGeom prst="rect">
            <a:avLst/>
          </a:prstGeom>
          <a:solidFill>
            <a:srgbClr val="1E2761"/>
          </a:solidFill>
          <a:ln w="6350">
            <a:solidFill>
              <a:srgbClr val="2A3A7A"/>
            </a:solidFill>
            <a:prstDash val="solid"/>
          </a:ln>
        </p:spPr>
      </p:sp>
      <p:sp>
        <p:nvSpPr>
          <p:cNvPr id="10" name="Text 7"/>
          <p:cNvSpPr/>
          <p:nvPr/>
        </p:nvSpPr>
        <p:spPr>
          <a:xfrm>
            <a:off x="4219956"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S2</a:t>
            </a:r>
            <a:endParaRPr lang="en-US" sz="1000" dirty="0"/>
          </a:p>
        </p:txBody>
      </p:sp>
      <p:sp>
        <p:nvSpPr>
          <p:cNvPr id="11" name="Shape 8"/>
          <p:cNvSpPr/>
          <p:nvPr/>
        </p:nvSpPr>
        <p:spPr>
          <a:xfrm>
            <a:off x="4919472" y="987552"/>
            <a:ext cx="699516" cy="384048"/>
          </a:xfrm>
          <a:prstGeom prst="rect">
            <a:avLst/>
          </a:prstGeom>
          <a:solidFill>
            <a:srgbClr val="1E2761"/>
          </a:solidFill>
          <a:ln w="6350">
            <a:solidFill>
              <a:srgbClr val="2A3A7A"/>
            </a:solidFill>
            <a:prstDash val="solid"/>
          </a:ln>
        </p:spPr>
      </p:sp>
      <p:sp>
        <p:nvSpPr>
          <p:cNvPr id="12" name="Text 9"/>
          <p:cNvSpPr/>
          <p:nvPr/>
        </p:nvSpPr>
        <p:spPr>
          <a:xfrm>
            <a:off x="4919472"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S3</a:t>
            </a:r>
            <a:endParaRPr lang="en-US" sz="1000" dirty="0"/>
          </a:p>
        </p:txBody>
      </p:sp>
      <p:sp>
        <p:nvSpPr>
          <p:cNvPr id="13" name="Shape 10"/>
          <p:cNvSpPr/>
          <p:nvPr/>
        </p:nvSpPr>
        <p:spPr>
          <a:xfrm>
            <a:off x="5618988" y="987552"/>
            <a:ext cx="699516" cy="384048"/>
          </a:xfrm>
          <a:prstGeom prst="rect">
            <a:avLst/>
          </a:prstGeom>
          <a:solidFill>
            <a:srgbClr val="1E2761"/>
          </a:solidFill>
          <a:ln w="6350">
            <a:solidFill>
              <a:srgbClr val="2A3A7A"/>
            </a:solidFill>
            <a:prstDash val="solid"/>
          </a:ln>
        </p:spPr>
      </p:sp>
      <p:sp>
        <p:nvSpPr>
          <p:cNvPr id="14" name="Text 11"/>
          <p:cNvSpPr/>
          <p:nvPr/>
        </p:nvSpPr>
        <p:spPr>
          <a:xfrm>
            <a:off x="5618988"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S4</a:t>
            </a:r>
            <a:endParaRPr lang="en-US" sz="1000" dirty="0"/>
          </a:p>
        </p:txBody>
      </p:sp>
      <p:sp>
        <p:nvSpPr>
          <p:cNvPr id="15" name="Shape 12"/>
          <p:cNvSpPr/>
          <p:nvPr/>
        </p:nvSpPr>
        <p:spPr>
          <a:xfrm>
            <a:off x="6318504" y="987552"/>
            <a:ext cx="699516" cy="384048"/>
          </a:xfrm>
          <a:prstGeom prst="rect">
            <a:avLst/>
          </a:prstGeom>
          <a:solidFill>
            <a:srgbClr val="1E2761"/>
          </a:solidFill>
          <a:ln w="6350">
            <a:solidFill>
              <a:srgbClr val="2A3A7A"/>
            </a:solidFill>
            <a:prstDash val="solid"/>
          </a:ln>
        </p:spPr>
      </p:sp>
      <p:sp>
        <p:nvSpPr>
          <p:cNvPr id="16" name="Text 13"/>
          <p:cNvSpPr/>
          <p:nvPr/>
        </p:nvSpPr>
        <p:spPr>
          <a:xfrm>
            <a:off x="6318504"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S5</a:t>
            </a:r>
            <a:endParaRPr lang="en-US" sz="1000" dirty="0"/>
          </a:p>
        </p:txBody>
      </p:sp>
      <p:sp>
        <p:nvSpPr>
          <p:cNvPr id="17" name="Shape 14"/>
          <p:cNvSpPr/>
          <p:nvPr/>
        </p:nvSpPr>
        <p:spPr>
          <a:xfrm>
            <a:off x="7018020" y="987552"/>
            <a:ext cx="699516" cy="384048"/>
          </a:xfrm>
          <a:prstGeom prst="rect">
            <a:avLst/>
          </a:prstGeom>
          <a:solidFill>
            <a:srgbClr val="1E2761"/>
          </a:solidFill>
          <a:ln w="6350">
            <a:solidFill>
              <a:srgbClr val="2A3A7A"/>
            </a:solidFill>
            <a:prstDash val="solid"/>
          </a:ln>
        </p:spPr>
      </p:sp>
      <p:sp>
        <p:nvSpPr>
          <p:cNvPr id="18" name="Text 15"/>
          <p:cNvSpPr/>
          <p:nvPr/>
        </p:nvSpPr>
        <p:spPr>
          <a:xfrm>
            <a:off x="7018020"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S6</a:t>
            </a:r>
            <a:endParaRPr lang="en-US" sz="1000" dirty="0"/>
          </a:p>
        </p:txBody>
      </p:sp>
      <p:sp>
        <p:nvSpPr>
          <p:cNvPr id="19" name="Shape 16"/>
          <p:cNvSpPr/>
          <p:nvPr/>
        </p:nvSpPr>
        <p:spPr>
          <a:xfrm>
            <a:off x="7717536" y="987552"/>
            <a:ext cx="699516" cy="384048"/>
          </a:xfrm>
          <a:prstGeom prst="rect">
            <a:avLst/>
          </a:prstGeom>
          <a:solidFill>
            <a:srgbClr val="1E2761"/>
          </a:solidFill>
          <a:ln w="6350">
            <a:solidFill>
              <a:srgbClr val="2A3A7A"/>
            </a:solidFill>
            <a:prstDash val="solid"/>
          </a:ln>
        </p:spPr>
      </p:sp>
      <p:sp>
        <p:nvSpPr>
          <p:cNvPr id="20" name="Text 17"/>
          <p:cNvSpPr/>
          <p:nvPr/>
        </p:nvSpPr>
        <p:spPr>
          <a:xfrm>
            <a:off x="7717536"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S7</a:t>
            </a:r>
            <a:endParaRPr lang="en-US" sz="1000" dirty="0"/>
          </a:p>
        </p:txBody>
      </p:sp>
      <p:sp>
        <p:nvSpPr>
          <p:cNvPr id="21" name="Shape 18"/>
          <p:cNvSpPr/>
          <p:nvPr/>
        </p:nvSpPr>
        <p:spPr>
          <a:xfrm>
            <a:off x="8417052" y="987552"/>
            <a:ext cx="699516" cy="384048"/>
          </a:xfrm>
          <a:prstGeom prst="rect">
            <a:avLst/>
          </a:prstGeom>
          <a:solidFill>
            <a:srgbClr val="1E2761"/>
          </a:solidFill>
          <a:ln w="6350">
            <a:solidFill>
              <a:srgbClr val="2A3A7A"/>
            </a:solidFill>
            <a:prstDash val="solid"/>
          </a:ln>
        </p:spPr>
      </p:sp>
      <p:sp>
        <p:nvSpPr>
          <p:cNvPr id="22" name="Text 19"/>
          <p:cNvSpPr/>
          <p:nvPr/>
        </p:nvSpPr>
        <p:spPr>
          <a:xfrm>
            <a:off x="8417052" y="987552"/>
            <a:ext cx="699516" cy="384048"/>
          </a:xfrm>
          <a:prstGeom prst="rect">
            <a:avLst/>
          </a:prstGeom>
          <a:noFill/>
          <a:ln/>
        </p:spPr>
        <p:txBody>
          <a:bodyPr wrap="square" lIns="0" tIns="0" rIns="0" bIns="0" rtlCol="0" anchor="ctr"/>
          <a:lstStyle/>
          <a:p>
            <a:pPr marL="0" indent="0" algn="ctr">
              <a:buNone/>
            </a:pPr>
            <a:r>
              <a:rPr lang="en-US" sz="1000" b="1" dirty="0">
                <a:solidFill>
                  <a:srgbClr val="FFFFFF"/>
                </a:solidFill>
              </a:rPr>
              <a:t>S8</a:t>
            </a:r>
            <a:endParaRPr lang="en-US" sz="1000" dirty="0"/>
          </a:p>
        </p:txBody>
      </p:sp>
      <p:sp>
        <p:nvSpPr>
          <p:cNvPr id="23" name="Shape 20"/>
          <p:cNvSpPr/>
          <p:nvPr/>
        </p:nvSpPr>
        <p:spPr>
          <a:xfrm>
            <a:off x="274320" y="1371600"/>
            <a:ext cx="3246120" cy="448056"/>
          </a:xfrm>
          <a:prstGeom prst="rect">
            <a:avLst/>
          </a:prstGeom>
          <a:solidFill>
            <a:srgbClr val="FFFFFF"/>
          </a:solidFill>
          <a:ln w="6350">
            <a:solidFill>
              <a:srgbClr val="CADCFC"/>
            </a:solidFill>
            <a:prstDash val="solid"/>
          </a:ln>
        </p:spPr>
      </p:sp>
      <p:sp>
        <p:nvSpPr>
          <p:cNvPr id="24" name="Text 21"/>
          <p:cNvSpPr/>
          <p:nvPr/>
        </p:nvSpPr>
        <p:spPr>
          <a:xfrm>
            <a:off x="365760" y="1371600"/>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1 — Analyse &amp; Cahier des Charges</a:t>
            </a:r>
            <a:endParaRPr lang="en-US" sz="900" dirty="0"/>
          </a:p>
        </p:txBody>
      </p:sp>
      <p:sp>
        <p:nvSpPr>
          <p:cNvPr id="25" name="Shape 22"/>
          <p:cNvSpPr/>
          <p:nvPr/>
        </p:nvSpPr>
        <p:spPr>
          <a:xfrm>
            <a:off x="3520440" y="1385146"/>
            <a:ext cx="699516" cy="448056"/>
          </a:xfrm>
          <a:prstGeom prst="rect">
            <a:avLst/>
          </a:prstGeom>
          <a:solidFill>
            <a:srgbClr val="00A8E8"/>
          </a:solidFill>
          <a:ln w="6350">
            <a:solidFill>
              <a:srgbClr val="CADCFC"/>
            </a:solidFill>
            <a:prstDash val="solid"/>
          </a:ln>
        </p:spPr>
        <p:txBody>
          <a:bodyPr/>
          <a:lstStyle/>
          <a:p>
            <a:r>
              <a:rPr lang="fr-FR" sz="800" dirty="0"/>
              <a:t>25 Mai 2026</a:t>
            </a:r>
            <a:endParaRPr lang="fr-CM" sz="800" dirty="0"/>
          </a:p>
        </p:txBody>
      </p:sp>
      <p:sp>
        <p:nvSpPr>
          <p:cNvPr id="26" name="Shape 23"/>
          <p:cNvSpPr/>
          <p:nvPr/>
        </p:nvSpPr>
        <p:spPr>
          <a:xfrm>
            <a:off x="4219956" y="1371600"/>
            <a:ext cx="699516" cy="448056"/>
          </a:xfrm>
          <a:prstGeom prst="rect">
            <a:avLst/>
          </a:prstGeom>
          <a:solidFill>
            <a:srgbClr val="00A8E8"/>
          </a:solidFill>
          <a:ln w="6350">
            <a:solidFill>
              <a:srgbClr val="CADCFC"/>
            </a:solidFill>
            <a:prstDash val="solid"/>
          </a:ln>
        </p:spPr>
        <p:txBody>
          <a:bodyPr/>
          <a:lstStyle/>
          <a:p>
            <a:endParaRPr lang="fr-CM" sz="800" dirty="0"/>
          </a:p>
        </p:txBody>
      </p:sp>
      <p:sp>
        <p:nvSpPr>
          <p:cNvPr id="27" name="Shape 24"/>
          <p:cNvSpPr/>
          <p:nvPr/>
        </p:nvSpPr>
        <p:spPr>
          <a:xfrm>
            <a:off x="4919472" y="1371600"/>
            <a:ext cx="699516" cy="448056"/>
          </a:xfrm>
          <a:prstGeom prst="rect">
            <a:avLst/>
          </a:prstGeom>
          <a:solidFill>
            <a:srgbClr val="FFFFFF"/>
          </a:solidFill>
          <a:ln w="6350">
            <a:solidFill>
              <a:srgbClr val="CADCFC"/>
            </a:solidFill>
            <a:prstDash val="solid"/>
          </a:ln>
        </p:spPr>
      </p:sp>
      <p:sp>
        <p:nvSpPr>
          <p:cNvPr id="28" name="Shape 25"/>
          <p:cNvSpPr/>
          <p:nvPr/>
        </p:nvSpPr>
        <p:spPr>
          <a:xfrm>
            <a:off x="5618988" y="1371600"/>
            <a:ext cx="699516" cy="448056"/>
          </a:xfrm>
          <a:prstGeom prst="rect">
            <a:avLst/>
          </a:prstGeom>
          <a:solidFill>
            <a:srgbClr val="FFFFFF"/>
          </a:solidFill>
          <a:ln w="6350">
            <a:solidFill>
              <a:srgbClr val="CADCFC"/>
            </a:solidFill>
            <a:prstDash val="solid"/>
          </a:ln>
        </p:spPr>
      </p:sp>
      <p:sp>
        <p:nvSpPr>
          <p:cNvPr id="29" name="Shape 26"/>
          <p:cNvSpPr/>
          <p:nvPr/>
        </p:nvSpPr>
        <p:spPr>
          <a:xfrm>
            <a:off x="6318504" y="1371600"/>
            <a:ext cx="699516" cy="448056"/>
          </a:xfrm>
          <a:prstGeom prst="rect">
            <a:avLst/>
          </a:prstGeom>
          <a:solidFill>
            <a:srgbClr val="FFFFFF"/>
          </a:solidFill>
          <a:ln w="6350">
            <a:solidFill>
              <a:srgbClr val="CADCFC"/>
            </a:solidFill>
            <a:prstDash val="solid"/>
          </a:ln>
        </p:spPr>
      </p:sp>
      <p:sp>
        <p:nvSpPr>
          <p:cNvPr id="30" name="Shape 27"/>
          <p:cNvSpPr/>
          <p:nvPr/>
        </p:nvSpPr>
        <p:spPr>
          <a:xfrm>
            <a:off x="7018020" y="1371600"/>
            <a:ext cx="699516" cy="448056"/>
          </a:xfrm>
          <a:prstGeom prst="rect">
            <a:avLst/>
          </a:prstGeom>
          <a:solidFill>
            <a:srgbClr val="FFFFFF"/>
          </a:solidFill>
          <a:ln w="6350">
            <a:solidFill>
              <a:srgbClr val="CADCFC"/>
            </a:solidFill>
            <a:prstDash val="solid"/>
          </a:ln>
        </p:spPr>
      </p:sp>
      <p:sp>
        <p:nvSpPr>
          <p:cNvPr id="31" name="Shape 28"/>
          <p:cNvSpPr/>
          <p:nvPr/>
        </p:nvSpPr>
        <p:spPr>
          <a:xfrm>
            <a:off x="7717536" y="1371600"/>
            <a:ext cx="699516" cy="448056"/>
          </a:xfrm>
          <a:prstGeom prst="rect">
            <a:avLst/>
          </a:prstGeom>
          <a:solidFill>
            <a:srgbClr val="FFFFFF"/>
          </a:solidFill>
          <a:ln w="6350">
            <a:solidFill>
              <a:srgbClr val="CADCFC"/>
            </a:solidFill>
            <a:prstDash val="solid"/>
          </a:ln>
        </p:spPr>
      </p:sp>
      <p:sp>
        <p:nvSpPr>
          <p:cNvPr id="32" name="Shape 29"/>
          <p:cNvSpPr/>
          <p:nvPr/>
        </p:nvSpPr>
        <p:spPr>
          <a:xfrm>
            <a:off x="8417052" y="1371600"/>
            <a:ext cx="699516" cy="448056"/>
          </a:xfrm>
          <a:prstGeom prst="rect">
            <a:avLst/>
          </a:prstGeom>
          <a:solidFill>
            <a:srgbClr val="FFFFFF"/>
          </a:solidFill>
          <a:ln w="6350">
            <a:solidFill>
              <a:srgbClr val="CADCFC"/>
            </a:solidFill>
            <a:prstDash val="solid"/>
          </a:ln>
        </p:spPr>
      </p:sp>
      <p:sp>
        <p:nvSpPr>
          <p:cNvPr id="33" name="Shape 30"/>
          <p:cNvSpPr/>
          <p:nvPr/>
        </p:nvSpPr>
        <p:spPr>
          <a:xfrm>
            <a:off x="274320" y="1819656"/>
            <a:ext cx="3246120" cy="448056"/>
          </a:xfrm>
          <a:prstGeom prst="rect">
            <a:avLst/>
          </a:prstGeom>
          <a:solidFill>
            <a:srgbClr val="E8EEFF"/>
          </a:solidFill>
          <a:ln w="6350">
            <a:solidFill>
              <a:srgbClr val="CADCFC"/>
            </a:solidFill>
            <a:prstDash val="solid"/>
          </a:ln>
        </p:spPr>
      </p:sp>
      <p:sp>
        <p:nvSpPr>
          <p:cNvPr id="34" name="Text 31"/>
          <p:cNvSpPr/>
          <p:nvPr/>
        </p:nvSpPr>
        <p:spPr>
          <a:xfrm>
            <a:off x="365760" y="1819656"/>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2 — Conception (architecture, modèles)</a:t>
            </a:r>
            <a:endParaRPr lang="en-US" sz="900" dirty="0"/>
          </a:p>
        </p:txBody>
      </p:sp>
      <p:sp>
        <p:nvSpPr>
          <p:cNvPr id="35" name="Shape 32"/>
          <p:cNvSpPr/>
          <p:nvPr/>
        </p:nvSpPr>
        <p:spPr>
          <a:xfrm>
            <a:off x="3520440" y="1819656"/>
            <a:ext cx="699516" cy="448056"/>
          </a:xfrm>
          <a:prstGeom prst="rect">
            <a:avLst/>
          </a:prstGeom>
          <a:solidFill>
            <a:srgbClr val="E8EEFF"/>
          </a:solidFill>
          <a:ln w="6350">
            <a:solidFill>
              <a:srgbClr val="CADCFC"/>
            </a:solidFill>
            <a:prstDash val="solid"/>
          </a:ln>
        </p:spPr>
      </p:sp>
      <p:sp>
        <p:nvSpPr>
          <p:cNvPr id="36" name="Shape 33"/>
          <p:cNvSpPr/>
          <p:nvPr/>
        </p:nvSpPr>
        <p:spPr>
          <a:xfrm>
            <a:off x="4219956" y="1819656"/>
            <a:ext cx="699516" cy="448056"/>
          </a:xfrm>
          <a:prstGeom prst="rect">
            <a:avLst/>
          </a:prstGeom>
          <a:solidFill>
            <a:srgbClr val="6C3FC7"/>
          </a:solidFill>
          <a:ln w="6350">
            <a:solidFill>
              <a:srgbClr val="CADCFC"/>
            </a:solidFill>
            <a:prstDash val="solid"/>
          </a:ln>
        </p:spPr>
        <p:txBody>
          <a:bodyPr/>
          <a:lstStyle/>
          <a:p>
            <a:r>
              <a:rPr lang="fr-FR" sz="800" dirty="0"/>
              <a:t>13 Juin 2026</a:t>
            </a:r>
            <a:endParaRPr lang="fr-CM" sz="800" dirty="0"/>
          </a:p>
        </p:txBody>
      </p:sp>
      <p:sp>
        <p:nvSpPr>
          <p:cNvPr id="37" name="Shape 34"/>
          <p:cNvSpPr/>
          <p:nvPr/>
        </p:nvSpPr>
        <p:spPr>
          <a:xfrm>
            <a:off x="4919472" y="1819656"/>
            <a:ext cx="699516" cy="448056"/>
          </a:xfrm>
          <a:prstGeom prst="rect">
            <a:avLst/>
          </a:prstGeom>
          <a:solidFill>
            <a:srgbClr val="6C3FC7"/>
          </a:solidFill>
          <a:ln w="6350">
            <a:solidFill>
              <a:srgbClr val="CADCFC"/>
            </a:solidFill>
            <a:prstDash val="solid"/>
          </a:ln>
        </p:spPr>
        <p:txBody>
          <a:bodyPr/>
          <a:lstStyle/>
          <a:p>
            <a:endParaRPr lang="fr-CM" sz="800" dirty="0"/>
          </a:p>
        </p:txBody>
      </p:sp>
      <p:sp>
        <p:nvSpPr>
          <p:cNvPr id="38" name="Shape 35"/>
          <p:cNvSpPr/>
          <p:nvPr/>
        </p:nvSpPr>
        <p:spPr>
          <a:xfrm>
            <a:off x="5618988" y="1819656"/>
            <a:ext cx="699516" cy="448056"/>
          </a:xfrm>
          <a:prstGeom prst="rect">
            <a:avLst/>
          </a:prstGeom>
          <a:solidFill>
            <a:srgbClr val="E8EEFF"/>
          </a:solidFill>
          <a:ln w="6350">
            <a:solidFill>
              <a:srgbClr val="CADCFC"/>
            </a:solidFill>
            <a:prstDash val="solid"/>
          </a:ln>
        </p:spPr>
      </p:sp>
      <p:sp>
        <p:nvSpPr>
          <p:cNvPr id="39" name="Shape 36"/>
          <p:cNvSpPr/>
          <p:nvPr/>
        </p:nvSpPr>
        <p:spPr>
          <a:xfrm>
            <a:off x="6318504" y="1819656"/>
            <a:ext cx="699516" cy="448056"/>
          </a:xfrm>
          <a:prstGeom prst="rect">
            <a:avLst/>
          </a:prstGeom>
          <a:solidFill>
            <a:srgbClr val="E8EEFF"/>
          </a:solidFill>
          <a:ln w="6350">
            <a:solidFill>
              <a:srgbClr val="CADCFC"/>
            </a:solidFill>
            <a:prstDash val="solid"/>
          </a:ln>
        </p:spPr>
      </p:sp>
      <p:sp>
        <p:nvSpPr>
          <p:cNvPr id="40" name="Shape 37"/>
          <p:cNvSpPr/>
          <p:nvPr/>
        </p:nvSpPr>
        <p:spPr>
          <a:xfrm>
            <a:off x="7018020" y="1819656"/>
            <a:ext cx="699516" cy="448056"/>
          </a:xfrm>
          <a:prstGeom prst="rect">
            <a:avLst/>
          </a:prstGeom>
          <a:solidFill>
            <a:srgbClr val="E8EEFF"/>
          </a:solidFill>
          <a:ln w="6350">
            <a:solidFill>
              <a:srgbClr val="CADCFC"/>
            </a:solidFill>
            <a:prstDash val="solid"/>
          </a:ln>
        </p:spPr>
      </p:sp>
      <p:sp>
        <p:nvSpPr>
          <p:cNvPr id="41" name="Shape 38"/>
          <p:cNvSpPr/>
          <p:nvPr/>
        </p:nvSpPr>
        <p:spPr>
          <a:xfrm>
            <a:off x="7717536" y="1819656"/>
            <a:ext cx="699516" cy="448056"/>
          </a:xfrm>
          <a:prstGeom prst="rect">
            <a:avLst/>
          </a:prstGeom>
          <a:solidFill>
            <a:srgbClr val="E8EEFF"/>
          </a:solidFill>
          <a:ln w="6350">
            <a:solidFill>
              <a:srgbClr val="CADCFC"/>
            </a:solidFill>
            <a:prstDash val="solid"/>
          </a:ln>
        </p:spPr>
      </p:sp>
      <p:sp>
        <p:nvSpPr>
          <p:cNvPr id="42" name="Shape 39"/>
          <p:cNvSpPr/>
          <p:nvPr/>
        </p:nvSpPr>
        <p:spPr>
          <a:xfrm>
            <a:off x="8417052" y="1819656"/>
            <a:ext cx="699516" cy="448056"/>
          </a:xfrm>
          <a:prstGeom prst="rect">
            <a:avLst/>
          </a:prstGeom>
          <a:solidFill>
            <a:srgbClr val="E8EEFF"/>
          </a:solidFill>
          <a:ln w="6350">
            <a:solidFill>
              <a:srgbClr val="CADCFC"/>
            </a:solidFill>
            <a:prstDash val="solid"/>
          </a:ln>
        </p:spPr>
      </p:sp>
      <p:sp>
        <p:nvSpPr>
          <p:cNvPr id="43" name="Shape 40"/>
          <p:cNvSpPr/>
          <p:nvPr/>
        </p:nvSpPr>
        <p:spPr>
          <a:xfrm>
            <a:off x="274320" y="2267712"/>
            <a:ext cx="3246120" cy="448056"/>
          </a:xfrm>
          <a:prstGeom prst="rect">
            <a:avLst/>
          </a:prstGeom>
          <a:solidFill>
            <a:srgbClr val="FFFFFF"/>
          </a:solidFill>
          <a:ln w="6350">
            <a:solidFill>
              <a:srgbClr val="CADCFC"/>
            </a:solidFill>
            <a:prstDash val="solid"/>
          </a:ln>
        </p:spPr>
      </p:sp>
      <p:sp>
        <p:nvSpPr>
          <p:cNvPr id="44" name="Text 41"/>
          <p:cNvSpPr/>
          <p:nvPr/>
        </p:nvSpPr>
        <p:spPr>
          <a:xfrm>
            <a:off x="365760" y="2267712"/>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3 — Cahier de Réalisation</a:t>
            </a:r>
            <a:endParaRPr lang="en-US" sz="900" dirty="0"/>
          </a:p>
        </p:txBody>
      </p:sp>
      <p:sp>
        <p:nvSpPr>
          <p:cNvPr id="45" name="Shape 42"/>
          <p:cNvSpPr/>
          <p:nvPr/>
        </p:nvSpPr>
        <p:spPr>
          <a:xfrm>
            <a:off x="3520440" y="2267712"/>
            <a:ext cx="699516" cy="448056"/>
          </a:xfrm>
          <a:prstGeom prst="rect">
            <a:avLst/>
          </a:prstGeom>
          <a:solidFill>
            <a:srgbClr val="FFFFFF"/>
          </a:solidFill>
          <a:ln w="6350">
            <a:solidFill>
              <a:srgbClr val="CADCFC"/>
            </a:solidFill>
            <a:prstDash val="solid"/>
          </a:ln>
        </p:spPr>
      </p:sp>
      <p:sp>
        <p:nvSpPr>
          <p:cNvPr id="46" name="Shape 43"/>
          <p:cNvSpPr/>
          <p:nvPr/>
        </p:nvSpPr>
        <p:spPr>
          <a:xfrm>
            <a:off x="4219956" y="2267712"/>
            <a:ext cx="699516" cy="448056"/>
          </a:xfrm>
          <a:prstGeom prst="rect">
            <a:avLst/>
          </a:prstGeom>
          <a:solidFill>
            <a:srgbClr val="FFFFFF"/>
          </a:solidFill>
          <a:ln w="6350">
            <a:solidFill>
              <a:srgbClr val="CADCFC"/>
            </a:solidFill>
            <a:prstDash val="solid"/>
          </a:ln>
        </p:spPr>
      </p:sp>
      <p:sp>
        <p:nvSpPr>
          <p:cNvPr id="47" name="Shape 44"/>
          <p:cNvSpPr/>
          <p:nvPr/>
        </p:nvSpPr>
        <p:spPr>
          <a:xfrm>
            <a:off x="4919472" y="2267712"/>
            <a:ext cx="699516" cy="448056"/>
          </a:xfrm>
          <a:prstGeom prst="rect">
            <a:avLst/>
          </a:prstGeom>
          <a:solidFill>
            <a:srgbClr val="00C9A7"/>
          </a:solidFill>
          <a:ln w="6350">
            <a:solidFill>
              <a:srgbClr val="CADCFC"/>
            </a:solidFill>
            <a:prstDash val="solid"/>
          </a:ln>
        </p:spPr>
        <p:txBody>
          <a:bodyPr/>
          <a:lstStyle/>
          <a:p>
            <a:r>
              <a:rPr lang="fr-FR" sz="800" dirty="0"/>
              <a:t>13 Juin 2026</a:t>
            </a:r>
            <a:endParaRPr lang="fr-CM" sz="800" dirty="0"/>
          </a:p>
        </p:txBody>
      </p:sp>
      <p:sp>
        <p:nvSpPr>
          <p:cNvPr id="48" name="Shape 45"/>
          <p:cNvSpPr/>
          <p:nvPr/>
        </p:nvSpPr>
        <p:spPr>
          <a:xfrm>
            <a:off x="5618988" y="2267712"/>
            <a:ext cx="699516" cy="448056"/>
          </a:xfrm>
          <a:prstGeom prst="rect">
            <a:avLst/>
          </a:prstGeom>
          <a:solidFill>
            <a:srgbClr val="00C9A7"/>
          </a:solidFill>
          <a:ln w="6350">
            <a:solidFill>
              <a:srgbClr val="CADCFC"/>
            </a:solidFill>
            <a:prstDash val="solid"/>
          </a:ln>
        </p:spPr>
      </p:sp>
      <p:sp>
        <p:nvSpPr>
          <p:cNvPr id="49" name="Shape 46"/>
          <p:cNvSpPr/>
          <p:nvPr/>
        </p:nvSpPr>
        <p:spPr>
          <a:xfrm>
            <a:off x="6318504" y="2267712"/>
            <a:ext cx="699516" cy="448056"/>
          </a:xfrm>
          <a:prstGeom prst="rect">
            <a:avLst/>
          </a:prstGeom>
          <a:solidFill>
            <a:srgbClr val="FFFFFF"/>
          </a:solidFill>
          <a:ln w="6350">
            <a:solidFill>
              <a:srgbClr val="CADCFC"/>
            </a:solidFill>
            <a:prstDash val="solid"/>
          </a:ln>
        </p:spPr>
      </p:sp>
      <p:sp>
        <p:nvSpPr>
          <p:cNvPr id="50" name="Shape 47"/>
          <p:cNvSpPr/>
          <p:nvPr/>
        </p:nvSpPr>
        <p:spPr>
          <a:xfrm>
            <a:off x="7018020" y="2267712"/>
            <a:ext cx="699516" cy="448056"/>
          </a:xfrm>
          <a:prstGeom prst="rect">
            <a:avLst/>
          </a:prstGeom>
          <a:solidFill>
            <a:srgbClr val="FFFFFF"/>
          </a:solidFill>
          <a:ln w="6350">
            <a:solidFill>
              <a:srgbClr val="CADCFC"/>
            </a:solidFill>
            <a:prstDash val="solid"/>
          </a:ln>
        </p:spPr>
      </p:sp>
      <p:sp>
        <p:nvSpPr>
          <p:cNvPr id="51" name="Shape 48"/>
          <p:cNvSpPr/>
          <p:nvPr/>
        </p:nvSpPr>
        <p:spPr>
          <a:xfrm>
            <a:off x="7717536" y="2267712"/>
            <a:ext cx="699516" cy="448056"/>
          </a:xfrm>
          <a:prstGeom prst="rect">
            <a:avLst/>
          </a:prstGeom>
          <a:solidFill>
            <a:srgbClr val="FFFFFF"/>
          </a:solidFill>
          <a:ln w="6350">
            <a:solidFill>
              <a:srgbClr val="CADCFC"/>
            </a:solidFill>
            <a:prstDash val="solid"/>
          </a:ln>
        </p:spPr>
      </p:sp>
      <p:sp>
        <p:nvSpPr>
          <p:cNvPr id="52" name="Shape 49"/>
          <p:cNvSpPr/>
          <p:nvPr/>
        </p:nvSpPr>
        <p:spPr>
          <a:xfrm>
            <a:off x="8417052" y="2267712"/>
            <a:ext cx="699516" cy="448056"/>
          </a:xfrm>
          <a:prstGeom prst="rect">
            <a:avLst/>
          </a:prstGeom>
          <a:solidFill>
            <a:srgbClr val="FFFFFF"/>
          </a:solidFill>
          <a:ln w="6350">
            <a:solidFill>
              <a:srgbClr val="CADCFC"/>
            </a:solidFill>
            <a:prstDash val="solid"/>
          </a:ln>
        </p:spPr>
      </p:sp>
      <p:sp>
        <p:nvSpPr>
          <p:cNvPr id="53" name="Shape 50"/>
          <p:cNvSpPr/>
          <p:nvPr/>
        </p:nvSpPr>
        <p:spPr>
          <a:xfrm>
            <a:off x="274320" y="2715768"/>
            <a:ext cx="3246120" cy="448056"/>
          </a:xfrm>
          <a:prstGeom prst="rect">
            <a:avLst/>
          </a:prstGeom>
          <a:solidFill>
            <a:srgbClr val="E8EEFF"/>
          </a:solidFill>
          <a:ln w="6350">
            <a:solidFill>
              <a:srgbClr val="CADCFC"/>
            </a:solidFill>
            <a:prstDash val="solid"/>
          </a:ln>
        </p:spPr>
      </p:sp>
      <p:sp>
        <p:nvSpPr>
          <p:cNvPr id="54" name="Text 51"/>
          <p:cNvSpPr/>
          <p:nvPr/>
        </p:nvSpPr>
        <p:spPr>
          <a:xfrm>
            <a:off x="365760" y="2715768"/>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4 — Cahier de Déploiement</a:t>
            </a:r>
            <a:endParaRPr lang="en-US" sz="900" dirty="0"/>
          </a:p>
        </p:txBody>
      </p:sp>
      <p:sp>
        <p:nvSpPr>
          <p:cNvPr id="55" name="Shape 52"/>
          <p:cNvSpPr/>
          <p:nvPr/>
        </p:nvSpPr>
        <p:spPr>
          <a:xfrm>
            <a:off x="3520440" y="2715768"/>
            <a:ext cx="699516" cy="448056"/>
          </a:xfrm>
          <a:prstGeom prst="rect">
            <a:avLst/>
          </a:prstGeom>
          <a:solidFill>
            <a:srgbClr val="E8EEFF"/>
          </a:solidFill>
          <a:ln w="6350">
            <a:solidFill>
              <a:srgbClr val="CADCFC"/>
            </a:solidFill>
            <a:prstDash val="solid"/>
          </a:ln>
        </p:spPr>
      </p:sp>
      <p:sp>
        <p:nvSpPr>
          <p:cNvPr id="56" name="Shape 53"/>
          <p:cNvSpPr/>
          <p:nvPr/>
        </p:nvSpPr>
        <p:spPr>
          <a:xfrm>
            <a:off x="4219956" y="2715768"/>
            <a:ext cx="699516" cy="448056"/>
          </a:xfrm>
          <a:prstGeom prst="rect">
            <a:avLst/>
          </a:prstGeom>
          <a:solidFill>
            <a:srgbClr val="E8EEFF"/>
          </a:solidFill>
          <a:ln w="6350">
            <a:solidFill>
              <a:srgbClr val="CADCFC"/>
            </a:solidFill>
            <a:prstDash val="solid"/>
          </a:ln>
        </p:spPr>
      </p:sp>
      <p:sp>
        <p:nvSpPr>
          <p:cNvPr id="57" name="Shape 54"/>
          <p:cNvSpPr/>
          <p:nvPr/>
        </p:nvSpPr>
        <p:spPr>
          <a:xfrm>
            <a:off x="4919472" y="2715768"/>
            <a:ext cx="699516" cy="448056"/>
          </a:xfrm>
          <a:prstGeom prst="rect">
            <a:avLst/>
          </a:prstGeom>
          <a:solidFill>
            <a:srgbClr val="E8EEFF"/>
          </a:solidFill>
          <a:ln w="6350">
            <a:solidFill>
              <a:srgbClr val="CADCFC"/>
            </a:solidFill>
            <a:prstDash val="solid"/>
          </a:ln>
        </p:spPr>
      </p:sp>
      <p:sp>
        <p:nvSpPr>
          <p:cNvPr id="58" name="Shape 55"/>
          <p:cNvSpPr/>
          <p:nvPr/>
        </p:nvSpPr>
        <p:spPr>
          <a:xfrm>
            <a:off x="5618988" y="2715768"/>
            <a:ext cx="699516" cy="448056"/>
          </a:xfrm>
          <a:prstGeom prst="rect">
            <a:avLst/>
          </a:prstGeom>
          <a:solidFill>
            <a:srgbClr val="00C9A7"/>
          </a:solidFill>
          <a:ln w="6350">
            <a:solidFill>
              <a:srgbClr val="CADCFC"/>
            </a:solidFill>
            <a:prstDash val="solid"/>
          </a:ln>
        </p:spPr>
        <p:txBody>
          <a:bodyPr/>
          <a:lstStyle/>
          <a:p>
            <a:r>
              <a:rPr lang="fr-FR" sz="800" dirty="0"/>
              <a:t>22 Juin 2026</a:t>
            </a:r>
            <a:endParaRPr lang="fr-CM" sz="800" dirty="0"/>
          </a:p>
        </p:txBody>
      </p:sp>
      <p:sp>
        <p:nvSpPr>
          <p:cNvPr id="59" name="Shape 56"/>
          <p:cNvSpPr/>
          <p:nvPr/>
        </p:nvSpPr>
        <p:spPr>
          <a:xfrm>
            <a:off x="6318504" y="2715768"/>
            <a:ext cx="699516" cy="448056"/>
          </a:xfrm>
          <a:prstGeom prst="rect">
            <a:avLst/>
          </a:prstGeom>
          <a:solidFill>
            <a:srgbClr val="00C9A7"/>
          </a:solidFill>
          <a:ln w="6350">
            <a:solidFill>
              <a:srgbClr val="CADCFC"/>
            </a:solidFill>
            <a:prstDash val="solid"/>
          </a:ln>
        </p:spPr>
      </p:sp>
      <p:sp>
        <p:nvSpPr>
          <p:cNvPr id="60" name="Shape 57"/>
          <p:cNvSpPr/>
          <p:nvPr/>
        </p:nvSpPr>
        <p:spPr>
          <a:xfrm>
            <a:off x="7018020" y="2715768"/>
            <a:ext cx="699516" cy="448056"/>
          </a:xfrm>
          <a:prstGeom prst="rect">
            <a:avLst/>
          </a:prstGeom>
          <a:solidFill>
            <a:srgbClr val="E8EEFF"/>
          </a:solidFill>
          <a:ln w="6350">
            <a:solidFill>
              <a:srgbClr val="CADCFC"/>
            </a:solidFill>
            <a:prstDash val="solid"/>
          </a:ln>
        </p:spPr>
      </p:sp>
      <p:sp>
        <p:nvSpPr>
          <p:cNvPr id="61" name="Shape 58"/>
          <p:cNvSpPr/>
          <p:nvPr/>
        </p:nvSpPr>
        <p:spPr>
          <a:xfrm>
            <a:off x="7717536" y="2715768"/>
            <a:ext cx="699516" cy="448056"/>
          </a:xfrm>
          <a:prstGeom prst="rect">
            <a:avLst/>
          </a:prstGeom>
          <a:solidFill>
            <a:srgbClr val="E8EEFF"/>
          </a:solidFill>
          <a:ln w="6350">
            <a:solidFill>
              <a:srgbClr val="CADCFC"/>
            </a:solidFill>
            <a:prstDash val="solid"/>
          </a:ln>
        </p:spPr>
      </p:sp>
      <p:sp>
        <p:nvSpPr>
          <p:cNvPr id="62" name="Shape 59"/>
          <p:cNvSpPr/>
          <p:nvPr/>
        </p:nvSpPr>
        <p:spPr>
          <a:xfrm>
            <a:off x="8417052" y="2715768"/>
            <a:ext cx="699516" cy="448056"/>
          </a:xfrm>
          <a:prstGeom prst="rect">
            <a:avLst/>
          </a:prstGeom>
          <a:solidFill>
            <a:srgbClr val="E8EEFF"/>
          </a:solidFill>
          <a:ln w="6350">
            <a:solidFill>
              <a:srgbClr val="CADCFC"/>
            </a:solidFill>
            <a:prstDash val="solid"/>
          </a:ln>
        </p:spPr>
      </p:sp>
      <p:sp>
        <p:nvSpPr>
          <p:cNvPr id="63" name="Shape 60"/>
          <p:cNvSpPr/>
          <p:nvPr/>
        </p:nvSpPr>
        <p:spPr>
          <a:xfrm>
            <a:off x="274320" y="3163824"/>
            <a:ext cx="3246120" cy="448056"/>
          </a:xfrm>
          <a:prstGeom prst="rect">
            <a:avLst/>
          </a:prstGeom>
          <a:solidFill>
            <a:srgbClr val="FFFFFF"/>
          </a:solidFill>
          <a:ln w="6350">
            <a:solidFill>
              <a:srgbClr val="CADCFC"/>
            </a:solidFill>
            <a:prstDash val="solid"/>
          </a:ln>
        </p:spPr>
      </p:sp>
      <p:sp>
        <p:nvSpPr>
          <p:cNvPr id="64" name="Text 61"/>
          <p:cNvSpPr/>
          <p:nvPr/>
        </p:nvSpPr>
        <p:spPr>
          <a:xfrm>
            <a:off x="365760" y="3163824"/>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5 — Rapport Du Projet</a:t>
            </a:r>
            <a:endParaRPr lang="en-US" sz="900" dirty="0"/>
          </a:p>
        </p:txBody>
      </p:sp>
      <p:sp>
        <p:nvSpPr>
          <p:cNvPr id="65" name="Shape 62"/>
          <p:cNvSpPr/>
          <p:nvPr/>
        </p:nvSpPr>
        <p:spPr>
          <a:xfrm>
            <a:off x="3520440" y="3163824"/>
            <a:ext cx="699516" cy="448056"/>
          </a:xfrm>
          <a:prstGeom prst="rect">
            <a:avLst/>
          </a:prstGeom>
          <a:solidFill>
            <a:srgbClr val="FFFFFF"/>
          </a:solidFill>
          <a:ln w="6350">
            <a:solidFill>
              <a:srgbClr val="CADCFC"/>
            </a:solidFill>
            <a:prstDash val="solid"/>
          </a:ln>
        </p:spPr>
      </p:sp>
      <p:sp>
        <p:nvSpPr>
          <p:cNvPr id="66" name="Shape 63"/>
          <p:cNvSpPr/>
          <p:nvPr/>
        </p:nvSpPr>
        <p:spPr>
          <a:xfrm>
            <a:off x="4219956" y="3163824"/>
            <a:ext cx="699516" cy="448056"/>
          </a:xfrm>
          <a:prstGeom prst="rect">
            <a:avLst/>
          </a:prstGeom>
          <a:solidFill>
            <a:srgbClr val="FFFFFF"/>
          </a:solidFill>
          <a:ln w="6350">
            <a:solidFill>
              <a:srgbClr val="CADCFC"/>
            </a:solidFill>
            <a:prstDash val="solid"/>
          </a:ln>
        </p:spPr>
      </p:sp>
      <p:sp>
        <p:nvSpPr>
          <p:cNvPr id="67" name="Shape 64"/>
          <p:cNvSpPr/>
          <p:nvPr/>
        </p:nvSpPr>
        <p:spPr>
          <a:xfrm>
            <a:off x="4919472" y="3163824"/>
            <a:ext cx="699516" cy="448056"/>
          </a:xfrm>
          <a:prstGeom prst="rect">
            <a:avLst/>
          </a:prstGeom>
          <a:solidFill>
            <a:srgbClr val="FFFFFF"/>
          </a:solidFill>
          <a:ln w="6350">
            <a:solidFill>
              <a:srgbClr val="CADCFC"/>
            </a:solidFill>
            <a:prstDash val="solid"/>
          </a:ln>
        </p:spPr>
      </p:sp>
      <p:sp>
        <p:nvSpPr>
          <p:cNvPr id="68" name="Shape 65"/>
          <p:cNvSpPr/>
          <p:nvPr/>
        </p:nvSpPr>
        <p:spPr>
          <a:xfrm>
            <a:off x="5618988" y="3163824"/>
            <a:ext cx="699516" cy="448056"/>
          </a:xfrm>
          <a:prstGeom prst="rect">
            <a:avLst/>
          </a:prstGeom>
          <a:solidFill>
            <a:srgbClr val="FFFFFF"/>
          </a:solidFill>
          <a:ln w="6350">
            <a:solidFill>
              <a:srgbClr val="CADCFC"/>
            </a:solidFill>
            <a:prstDash val="solid"/>
          </a:ln>
        </p:spPr>
      </p:sp>
      <p:sp>
        <p:nvSpPr>
          <p:cNvPr id="69" name="Shape 66"/>
          <p:cNvSpPr/>
          <p:nvPr/>
        </p:nvSpPr>
        <p:spPr>
          <a:xfrm>
            <a:off x="6318504" y="3163824"/>
            <a:ext cx="699516" cy="448056"/>
          </a:xfrm>
          <a:prstGeom prst="rect">
            <a:avLst/>
          </a:prstGeom>
          <a:solidFill>
            <a:srgbClr val="E84545"/>
          </a:solidFill>
          <a:ln w="6350">
            <a:solidFill>
              <a:srgbClr val="CADCFC"/>
            </a:solidFill>
            <a:prstDash val="solid"/>
          </a:ln>
        </p:spPr>
        <p:txBody>
          <a:bodyPr/>
          <a:lstStyle/>
          <a:p>
            <a:r>
              <a:rPr lang="fr-FR" sz="800" dirty="0"/>
              <a:t>29 Juin </a:t>
            </a:r>
            <a:endParaRPr lang="fr-CM" sz="800" dirty="0"/>
          </a:p>
        </p:txBody>
      </p:sp>
      <p:sp>
        <p:nvSpPr>
          <p:cNvPr id="70" name="Shape 67"/>
          <p:cNvSpPr/>
          <p:nvPr/>
        </p:nvSpPr>
        <p:spPr>
          <a:xfrm>
            <a:off x="7018020" y="3163824"/>
            <a:ext cx="699516" cy="448056"/>
          </a:xfrm>
          <a:prstGeom prst="rect">
            <a:avLst/>
          </a:prstGeom>
          <a:solidFill>
            <a:srgbClr val="E84545"/>
          </a:solidFill>
          <a:ln w="6350">
            <a:solidFill>
              <a:srgbClr val="CADCFC"/>
            </a:solidFill>
            <a:prstDash val="solid"/>
          </a:ln>
        </p:spPr>
      </p:sp>
      <p:sp>
        <p:nvSpPr>
          <p:cNvPr id="71" name="Shape 68"/>
          <p:cNvSpPr/>
          <p:nvPr/>
        </p:nvSpPr>
        <p:spPr>
          <a:xfrm>
            <a:off x="7717536" y="3163824"/>
            <a:ext cx="699516" cy="448056"/>
          </a:xfrm>
          <a:prstGeom prst="rect">
            <a:avLst/>
          </a:prstGeom>
          <a:solidFill>
            <a:srgbClr val="FFFFFF"/>
          </a:solidFill>
          <a:ln w="6350">
            <a:solidFill>
              <a:srgbClr val="CADCFC"/>
            </a:solidFill>
            <a:prstDash val="solid"/>
          </a:ln>
        </p:spPr>
      </p:sp>
      <p:sp>
        <p:nvSpPr>
          <p:cNvPr id="72" name="Shape 69"/>
          <p:cNvSpPr/>
          <p:nvPr/>
        </p:nvSpPr>
        <p:spPr>
          <a:xfrm>
            <a:off x="8417052" y="3163824"/>
            <a:ext cx="699516" cy="448056"/>
          </a:xfrm>
          <a:prstGeom prst="rect">
            <a:avLst/>
          </a:prstGeom>
          <a:solidFill>
            <a:srgbClr val="FFFFFF"/>
          </a:solidFill>
          <a:ln w="6350">
            <a:solidFill>
              <a:srgbClr val="CADCFC"/>
            </a:solidFill>
            <a:prstDash val="solid"/>
          </a:ln>
        </p:spPr>
      </p:sp>
      <p:sp>
        <p:nvSpPr>
          <p:cNvPr id="73" name="Shape 70"/>
          <p:cNvSpPr/>
          <p:nvPr/>
        </p:nvSpPr>
        <p:spPr>
          <a:xfrm>
            <a:off x="274320" y="3611880"/>
            <a:ext cx="3246120" cy="448056"/>
          </a:xfrm>
          <a:prstGeom prst="rect">
            <a:avLst/>
          </a:prstGeom>
          <a:solidFill>
            <a:srgbClr val="E8EEFF"/>
          </a:solidFill>
          <a:ln w="6350">
            <a:solidFill>
              <a:srgbClr val="CADCFC"/>
            </a:solidFill>
            <a:prstDash val="solid"/>
          </a:ln>
        </p:spPr>
      </p:sp>
      <p:sp>
        <p:nvSpPr>
          <p:cNvPr id="74" name="Text 71"/>
          <p:cNvSpPr/>
          <p:nvPr/>
        </p:nvSpPr>
        <p:spPr>
          <a:xfrm>
            <a:off x="365760" y="3611880"/>
            <a:ext cx="3154680" cy="448056"/>
          </a:xfrm>
          <a:prstGeom prst="rect">
            <a:avLst/>
          </a:prstGeom>
          <a:noFill/>
          <a:ln/>
        </p:spPr>
        <p:txBody>
          <a:bodyPr wrap="square" lIns="0" tIns="0" rIns="0" bIns="0" rtlCol="0" anchor="ctr"/>
          <a:lstStyle/>
          <a:p>
            <a:pPr marL="0" indent="0">
              <a:buNone/>
            </a:pPr>
            <a:r>
              <a:rPr lang="en-US" sz="900" dirty="0">
                <a:solidFill>
                  <a:srgbClr val="1E2761"/>
                </a:solidFill>
              </a:rPr>
              <a:t>Phase 6 — Interface graphique &amp; Intégration</a:t>
            </a:r>
            <a:endParaRPr lang="en-US" sz="900" dirty="0"/>
          </a:p>
        </p:txBody>
      </p:sp>
      <p:sp>
        <p:nvSpPr>
          <p:cNvPr id="75" name="Shape 72"/>
          <p:cNvSpPr/>
          <p:nvPr/>
        </p:nvSpPr>
        <p:spPr>
          <a:xfrm>
            <a:off x="3520440" y="3611880"/>
            <a:ext cx="699516" cy="448056"/>
          </a:xfrm>
          <a:prstGeom prst="rect">
            <a:avLst/>
          </a:prstGeom>
          <a:solidFill>
            <a:srgbClr val="E8EEFF"/>
          </a:solidFill>
          <a:ln w="6350">
            <a:solidFill>
              <a:srgbClr val="CADCFC"/>
            </a:solidFill>
            <a:prstDash val="solid"/>
          </a:ln>
        </p:spPr>
      </p:sp>
      <p:sp>
        <p:nvSpPr>
          <p:cNvPr id="76" name="Shape 73"/>
          <p:cNvSpPr/>
          <p:nvPr/>
        </p:nvSpPr>
        <p:spPr>
          <a:xfrm>
            <a:off x="4219956" y="3611880"/>
            <a:ext cx="699516" cy="448056"/>
          </a:xfrm>
          <a:prstGeom prst="rect">
            <a:avLst/>
          </a:prstGeom>
          <a:solidFill>
            <a:srgbClr val="E8EEFF"/>
          </a:solidFill>
          <a:ln w="6350">
            <a:solidFill>
              <a:srgbClr val="CADCFC"/>
            </a:solidFill>
            <a:prstDash val="solid"/>
          </a:ln>
        </p:spPr>
      </p:sp>
      <p:sp>
        <p:nvSpPr>
          <p:cNvPr id="77" name="Shape 74"/>
          <p:cNvSpPr/>
          <p:nvPr/>
        </p:nvSpPr>
        <p:spPr>
          <a:xfrm>
            <a:off x="4919472" y="3611880"/>
            <a:ext cx="699516" cy="448056"/>
          </a:xfrm>
          <a:prstGeom prst="rect">
            <a:avLst/>
          </a:prstGeom>
          <a:solidFill>
            <a:srgbClr val="E8EEFF"/>
          </a:solidFill>
          <a:ln w="6350">
            <a:solidFill>
              <a:srgbClr val="CADCFC"/>
            </a:solidFill>
            <a:prstDash val="solid"/>
          </a:ln>
        </p:spPr>
      </p:sp>
      <p:sp>
        <p:nvSpPr>
          <p:cNvPr id="78" name="Shape 75"/>
          <p:cNvSpPr/>
          <p:nvPr/>
        </p:nvSpPr>
        <p:spPr>
          <a:xfrm>
            <a:off x="5618988" y="3611880"/>
            <a:ext cx="699516" cy="448056"/>
          </a:xfrm>
          <a:prstGeom prst="rect">
            <a:avLst/>
          </a:prstGeom>
          <a:solidFill>
            <a:srgbClr val="E8EEFF"/>
          </a:solidFill>
          <a:ln w="6350">
            <a:solidFill>
              <a:srgbClr val="CADCFC"/>
            </a:solidFill>
            <a:prstDash val="solid"/>
          </a:ln>
        </p:spPr>
      </p:sp>
      <p:sp>
        <p:nvSpPr>
          <p:cNvPr id="79" name="Shape 76"/>
          <p:cNvSpPr/>
          <p:nvPr/>
        </p:nvSpPr>
        <p:spPr>
          <a:xfrm>
            <a:off x="6318504" y="3611880"/>
            <a:ext cx="699516" cy="448056"/>
          </a:xfrm>
          <a:prstGeom prst="rect">
            <a:avLst/>
          </a:prstGeom>
          <a:solidFill>
            <a:srgbClr val="E8EEFF"/>
          </a:solidFill>
          <a:ln w="6350">
            <a:solidFill>
              <a:srgbClr val="CADCFC"/>
            </a:solidFill>
            <a:prstDash val="solid"/>
          </a:ln>
        </p:spPr>
      </p:sp>
      <p:sp>
        <p:nvSpPr>
          <p:cNvPr id="80" name="Shape 77"/>
          <p:cNvSpPr/>
          <p:nvPr/>
        </p:nvSpPr>
        <p:spPr>
          <a:xfrm>
            <a:off x="7018020" y="3611880"/>
            <a:ext cx="699516" cy="448056"/>
          </a:xfrm>
          <a:prstGeom prst="rect">
            <a:avLst/>
          </a:prstGeom>
          <a:solidFill>
            <a:srgbClr val="1E2761"/>
          </a:solidFill>
          <a:ln w="6350">
            <a:solidFill>
              <a:srgbClr val="CADCFC"/>
            </a:solidFill>
            <a:prstDash val="solid"/>
          </a:ln>
        </p:spPr>
      </p:sp>
      <p:sp>
        <p:nvSpPr>
          <p:cNvPr id="81" name="Shape 78"/>
          <p:cNvSpPr/>
          <p:nvPr/>
        </p:nvSpPr>
        <p:spPr>
          <a:xfrm>
            <a:off x="7717536" y="3611880"/>
            <a:ext cx="699516" cy="448056"/>
          </a:xfrm>
          <a:prstGeom prst="rect">
            <a:avLst/>
          </a:prstGeom>
          <a:solidFill>
            <a:srgbClr val="1E2761"/>
          </a:solidFill>
          <a:ln w="6350">
            <a:solidFill>
              <a:srgbClr val="CADCFC"/>
            </a:solidFill>
            <a:prstDash val="solid"/>
          </a:ln>
        </p:spPr>
      </p:sp>
      <p:sp>
        <p:nvSpPr>
          <p:cNvPr id="82" name="Shape 79"/>
          <p:cNvSpPr/>
          <p:nvPr/>
        </p:nvSpPr>
        <p:spPr>
          <a:xfrm>
            <a:off x="8417052" y="3611880"/>
            <a:ext cx="699516" cy="448056"/>
          </a:xfrm>
          <a:prstGeom prst="rect">
            <a:avLst/>
          </a:prstGeom>
          <a:solidFill>
            <a:srgbClr val="E8EEFF"/>
          </a:solidFill>
          <a:ln w="6350">
            <a:solidFill>
              <a:srgbClr val="CADCFC"/>
            </a:solidFill>
            <a:prstDash val="solid"/>
          </a:ln>
        </p:spPr>
      </p:sp>
      <p:sp>
        <p:nvSpPr>
          <p:cNvPr id="103" name="Text 100"/>
          <p:cNvSpPr/>
          <p:nvPr/>
        </p:nvSpPr>
        <p:spPr>
          <a:xfrm>
            <a:off x="320040" y="4974336"/>
            <a:ext cx="8503920" cy="182880"/>
          </a:xfrm>
          <a:prstGeom prst="rect">
            <a:avLst/>
          </a:prstGeom>
          <a:noFill/>
          <a:ln/>
        </p:spPr>
        <p:txBody>
          <a:bodyPr wrap="square" rtlCol="0" anchor="ctr"/>
          <a:lstStyle/>
          <a:p>
            <a:pPr marL="0" indent="0">
              <a:buNone/>
            </a:pPr>
            <a:r>
              <a:rPr lang="en-US" sz="900" i="1" dirty="0">
                <a:solidFill>
                  <a:srgbClr val="8899BB"/>
                </a:solidFill>
              </a:rPr>
              <a:t>Durée totale estimée : 8 semaines  ·  Méthodologie itérative  ·  Livraisons par phase</a:t>
            </a:r>
            <a:endParaRPr lang="en-US" sz="900" dirty="0"/>
          </a:p>
        </p:txBody>
      </p:sp>
      <p:sp>
        <p:nvSpPr>
          <p:cNvPr id="104" name="Shape 70">
            <a:extLst>
              <a:ext uri="{FF2B5EF4-FFF2-40B4-BE49-F238E27FC236}">
                <a16:creationId xmlns:a16="http://schemas.microsoft.com/office/drawing/2014/main" id="{5D8EE40F-BCB4-44FB-B5D1-793168529FE3}"/>
              </a:ext>
            </a:extLst>
          </p:cNvPr>
          <p:cNvSpPr/>
          <p:nvPr/>
        </p:nvSpPr>
        <p:spPr>
          <a:xfrm>
            <a:off x="320040" y="3611880"/>
            <a:ext cx="3246120" cy="448056"/>
          </a:xfrm>
          <a:prstGeom prst="rect">
            <a:avLst/>
          </a:prstGeom>
          <a:solidFill>
            <a:srgbClr val="E8EEFF"/>
          </a:solidFill>
          <a:ln w="6350">
            <a:solidFill>
              <a:srgbClr val="CADCFC"/>
            </a:solidFill>
            <a:prstDash val="solid"/>
          </a:ln>
        </p:spPr>
      </p:sp>
      <p:sp>
        <p:nvSpPr>
          <p:cNvPr id="105" name="Shape 72">
            <a:extLst>
              <a:ext uri="{FF2B5EF4-FFF2-40B4-BE49-F238E27FC236}">
                <a16:creationId xmlns:a16="http://schemas.microsoft.com/office/drawing/2014/main" id="{E659B949-F973-48F2-AB43-783315FC0F05}"/>
              </a:ext>
            </a:extLst>
          </p:cNvPr>
          <p:cNvSpPr/>
          <p:nvPr/>
        </p:nvSpPr>
        <p:spPr>
          <a:xfrm>
            <a:off x="3566160" y="3611880"/>
            <a:ext cx="699516" cy="448056"/>
          </a:xfrm>
          <a:prstGeom prst="rect">
            <a:avLst/>
          </a:prstGeom>
          <a:solidFill>
            <a:srgbClr val="E8EEFF"/>
          </a:solidFill>
          <a:ln w="6350">
            <a:solidFill>
              <a:srgbClr val="CADCFC"/>
            </a:solidFill>
            <a:prstDash val="solid"/>
          </a:ln>
        </p:spPr>
      </p:sp>
      <p:sp>
        <p:nvSpPr>
          <p:cNvPr id="106" name="Shape 73">
            <a:extLst>
              <a:ext uri="{FF2B5EF4-FFF2-40B4-BE49-F238E27FC236}">
                <a16:creationId xmlns:a16="http://schemas.microsoft.com/office/drawing/2014/main" id="{0C90C187-1929-49E6-98AD-7640576E1CA2}"/>
              </a:ext>
            </a:extLst>
          </p:cNvPr>
          <p:cNvSpPr/>
          <p:nvPr/>
        </p:nvSpPr>
        <p:spPr>
          <a:xfrm>
            <a:off x="4265676" y="3611880"/>
            <a:ext cx="699516" cy="448056"/>
          </a:xfrm>
          <a:prstGeom prst="rect">
            <a:avLst/>
          </a:prstGeom>
          <a:solidFill>
            <a:srgbClr val="E8EEFF"/>
          </a:solidFill>
          <a:ln w="6350">
            <a:solidFill>
              <a:srgbClr val="CADCFC"/>
            </a:solidFill>
            <a:prstDash val="solid"/>
          </a:ln>
        </p:spPr>
      </p:sp>
      <p:sp>
        <p:nvSpPr>
          <p:cNvPr id="107" name="Shape 74">
            <a:extLst>
              <a:ext uri="{FF2B5EF4-FFF2-40B4-BE49-F238E27FC236}">
                <a16:creationId xmlns:a16="http://schemas.microsoft.com/office/drawing/2014/main" id="{974A7EA5-7723-4DB1-BBEE-7EDA8CBA2E06}"/>
              </a:ext>
            </a:extLst>
          </p:cNvPr>
          <p:cNvSpPr/>
          <p:nvPr/>
        </p:nvSpPr>
        <p:spPr>
          <a:xfrm>
            <a:off x="4965192" y="3611880"/>
            <a:ext cx="699516" cy="448056"/>
          </a:xfrm>
          <a:prstGeom prst="rect">
            <a:avLst/>
          </a:prstGeom>
          <a:solidFill>
            <a:srgbClr val="E8EEFF"/>
          </a:solidFill>
          <a:ln w="6350">
            <a:solidFill>
              <a:srgbClr val="CADCFC"/>
            </a:solidFill>
            <a:prstDash val="solid"/>
          </a:ln>
        </p:spPr>
      </p:sp>
      <p:sp>
        <p:nvSpPr>
          <p:cNvPr id="108" name="Shape 75">
            <a:extLst>
              <a:ext uri="{FF2B5EF4-FFF2-40B4-BE49-F238E27FC236}">
                <a16:creationId xmlns:a16="http://schemas.microsoft.com/office/drawing/2014/main" id="{D67AAE92-515A-42CF-956D-894388C95972}"/>
              </a:ext>
            </a:extLst>
          </p:cNvPr>
          <p:cNvSpPr/>
          <p:nvPr/>
        </p:nvSpPr>
        <p:spPr>
          <a:xfrm>
            <a:off x="5664708" y="3611880"/>
            <a:ext cx="699516" cy="448056"/>
          </a:xfrm>
          <a:prstGeom prst="rect">
            <a:avLst/>
          </a:prstGeom>
          <a:solidFill>
            <a:srgbClr val="E8EEFF"/>
          </a:solidFill>
          <a:ln w="6350">
            <a:solidFill>
              <a:srgbClr val="CADCFC"/>
            </a:solidFill>
            <a:prstDash val="solid"/>
          </a:ln>
        </p:spPr>
      </p:sp>
      <p:sp>
        <p:nvSpPr>
          <p:cNvPr id="109" name="Shape 76">
            <a:extLst>
              <a:ext uri="{FF2B5EF4-FFF2-40B4-BE49-F238E27FC236}">
                <a16:creationId xmlns:a16="http://schemas.microsoft.com/office/drawing/2014/main" id="{51C9F784-2FA0-42AA-95D1-A9473DA12C39}"/>
              </a:ext>
            </a:extLst>
          </p:cNvPr>
          <p:cNvSpPr/>
          <p:nvPr/>
        </p:nvSpPr>
        <p:spPr>
          <a:xfrm>
            <a:off x="6364224" y="3611880"/>
            <a:ext cx="699516" cy="448056"/>
          </a:xfrm>
          <a:prstGeom prst="rect">
            <a:avLst/>
          </a:prstGeom>
          <a:solidFill>
            <a:srgbClr val="E8EEFF"/>
          </a:solidFill>
          <a:ln w="6350">
            <a:solidFill>
              <a:srgbClr val="CADCFC"/>
            </a:solidFill>
            <a:prstDash val="solid"/>
          </a:ln>
        </p:spPr>
      </p:sp>
      <p:sp>
        <p:nvSpPr>
          <p:cNvPr id="110" name="Shape 77">
            <a:extLst>
              <a:ext uri="{FF2B5EF4-FFF2-40B4-BE49-F238E27FC236}">
                <a16:creationId xmlns:a16="http://schemas.microsoft.com/office/drawing/2014/main" id="{3F40FC2C-FA07-4B7D-9F6C-A44BF62FB46C}"/>
              </a:ext>
            </a:extLst>
          </p:cNvPr>
          <p:cNvSpPr/>
          <p:nvPr/>
        </p:nvSpPr>
        <p:spPr>
          <a:xfrm>
            <a:off x="7063740" y="3611880"/>
            <a:ext cx="699516" cy="448056"/>
          </a:xfrm>
          <a:prstGeom prst="rect">
            <a:avLst/>
          </a:prstGeom>
          <a:solidFill>
            <a:srgbClr val="1E2761"/>
          </a:solidFill>
          <a:ln w="6350">
            <a:solidFill>
              <a:srgbClr val="CADCFC"/>
            </a:solidFill>
            <a:prstDash val="solid"/>
          </a:ln>
        </p:spPr>
      </p:sp>
      <p:sp>
        <p:nvSpPr>
          <p:cNvPr id="111" name="Shape 78">
            <a:extLst>
              <a:ext uri="{FF2B5EF4-FFF2-40B4-BE49-F238E27FC236}">
                <a16:creationId xmlns:a16="http://schemas.microsoft.com/office/drawing/2014/main" id="{B3BC8526-7006-4519-B84F-0E4FFBB74C06}"/>
              </a:ext>
            </a:extLst>
          </p:cNvPr>
          <p:cNvSpPr/>
          <p:nvPr/>
        </p:nvSpPr>
        <p:spPr>
          <a:xfrm>
            <a:off x="7744629" y="3611880"/>
            <a:ext cx="699516" cy="448056"/>
          </a:xfrm>
          <a:prstGeom prst="rect">
            <a:avLst/>
          </a:prstGeom>
          <a:solidFill>
            <a:srgbClr val="1E2761"/>
          </a:solidFill>
          <a:ln w="6350">
            <a:solidFill>
              <a:srgbClr val="CADCFC"/>
            </a:solidFill>
            <a:prstDash val="solid"/>
          </a:ln>
        </p:spPr>
      </p:sp>
      <p:sp>
        <p:nvSpPr>
          <p:cNvPr id="125" name="Shape 70">
            <a:extLst>
              <a:ext uri="{FF2B5EF4-FFF2-40B4-BE49-F238E27FC236}">
                <a16:creationId xmlns:a16="http://schemas.microsoft.com/office/drawing/2014/main" id="{8792D2AB-E9A3-4F1E-86FA-90D00B725ACF}"/>
              </a:ext>
            </a:extLst>
          </p:cNvPr>
          <p:cNvSpPr/>
          <p:nvPr/>
        </p:nvSpPr>
        <p:spPr>
          <a:xfrm>
            <a:off x="347133" y="3611880"/>
            <a:ext cx="3246120" cy="448056"/>
          </a:xfrm>
          <a:prstGeom prst="rect">
            <a:avLst/>
          </a:prstGeom>
          <a:solidFill>
            <a:srgbClr val="E8EEFF"/>
          </a:solidFill>
          <a:ln w="6350">
            <a:solidFill>
              <a:srgbClr val="CADCFC"/>
            </a:solidFill>
            <a:prstDash val="solid"/>
          </a:ln>
        </p:spPr>
      </p:sp>
      <p:sp>
        <p:nvSpPr>
          <p:cNvPr id="126" name="Shape 72">
            <a:extLst>
              <a:ext uri="{FF2B5EF4-FFF2-40B4-BE49-F238E27FC236}">
                <a16:creationId xmlns:a16="http://schemas.microsoft.com/office/drawing/2014/main" id="{B5FB375E-20D7-4779-8FF4-8C589199B177}"/>
              </a:ext>
            </a:extLst>
          </p:cNvPr>
          <p:cNvSpPr/>
          <p:nvPr/>
        </p:nvSpPr>
        <p:spPr>
          <a:xfrm>
            <a:off x="3593253" y="3611880"/>
            <a:ext cx="699516" cy="448056"/>
          </a:xfrm>
          <a:prstGeom prst="rect">
            <a:avLst/>
          </a:prstGeom>
          <a:solidFill>
            <a:srgbClr val="E8EEFF"/>
          </a:solidFill>
          <a:ln w="6350">
            <a:solidFill>
              <a:srgbClr val="CADCFC"/>
            </a:solidFill>
            <a:prstDash val="solid"/>
          </a:ln>
        </p:spPr>
      </p:sp>
      <p:sp>
        <p:nvSpPr>
          <p:cNvPr id="127" name="Shape 73">
            <a:extLst>
              <a:ext uri="{FF2B5EF4-FFF2-40B4-BE49-F238E27FC236}">
                <a16:creationId xmlns:a16="http://schemas.microsoft.com/office/drawing/2014/main" id="{D4BF92A2-2E53-4421-BC02-CAC5CFCE6847}"/>
              </a:ext>
            </a:extLst>
          </p:cNvPr>
          <p:cNvSpPr/>
          <p:nvPr/>
        </p:nvSpPr>
        <p:spPr>
          <a:xfrm>
            <a:off x="4292769" y="3611880"/>
            <a:ext cx="699516" cy="448056"/>
          </a:xfrm>
          <a:prstGeom prst="rect">
            <a:avLst/>
          </a:prstGeom>
          <a:solidFill>
            <a:srgbClr val="E8EEFF"/>
          </a:solidFill>
          <a:ln w="6350">
            <a:solidFill>
              <a:srgbClr val="CADCFC"/>
            </a:solidFill>
            <a:prstDash val="solid"/>
          </a:ln>
        </p:spPr>
      </p:sp>
      <p:sp>
        <p:nvSpPr>
          <p:cNvPr id="128" name="Shape 74">
            <a:extLst>
              <a:ext uri="{FF2B5EF4-FFF2-40B4-BE49-F238E27FC236}">
                <a16:creationId xmlns:a16="http://schemas.microsoft.com/office/drawing/2014/main" id="{83AAB7B1-F8E3-4526-8C4B-2D42807FC39E}"/>
              </a:ext>
            </a:extLst>
          </p:cNvPr>
          <p:cNvSpPr/>
          <p:nvPr/>
        </p:nvSpPr>
        <p:spPr>
          <a:xfrm>
            <a:off x="4992285" y="3611880"/>
            <a:ext cx="699516" cy="448056"/>
          </a:xfrm>
          <a:prstGeom prst="rect">
            <a:avLst/>
          </a:prstGeom>
          <a:solidFill>
            <a:srgbClr val="E8EEFF"/>
          </a:solidFill>
          <a:ln w="6350">
            <a:solidFill>
              <a:srgbClr val="CADCFC"/>
            </a:solidFill>
            <a:prstDash val="solid"/>
          </a:ln>
        </p:spPr>
      </p:sp>
      <p:sp>
        <p:nvSpPr>
          <p:cNvPr id="129" name="Shape 75">
            <a:extLst>
              <a:ext uri="{FF2B5EF4-FFF2-40B4-BE49-F238E27FC236}">
                <a16:creationId xmlns:a16="http://schemas.microsoft.com/office/drawing/2014/main" id="{7CF15A4D-CD18-487B-AEE4-F28BC162C5A7}"/>
              </a:ext>
            </a:extLst>
          </p:cNvPr>
          <p:cNvSpPr/>
          <p:nvPr/>
        </p:nvSpPr>
        <p:spPr>
          <a:xfrm>
            <a:off x="5691801" y="3611880"/>
            <a:ext cx="699516" cy="448056"/>
          </a:xfrm>
          <a:prstGeom prst="rect">
            <a:avLst/>
          </a:prstGeom>
          <a:solidFill>
            <a:srgbClr val="E8EEFF"/>
          </a:solidFill>
          <a:ln w="6350">
            <a:solidFill>
              <a:srgbClr val="CADCFC"/>
            </a:solidFill>
            <a:prstDash val="solid"/>
          </a:ln>
        </p:spPr>
      </p:sp>
      <p:sp>
        <p:nvSpPr>
          <p:cNvPr id="130" name="Shape 76">
            <a:extLst>
              <a:ext uri="{FF2B5EF4-FFF2-40B4-BE49-F238E27FC236}">
                <a16:creationId xmlns:a16="http://schemas.microsoft.com/office/drawing/2014/main" id="{13D1CD0A-9FFD-4614-A5D2-E13A3324CB40}"/>
              </a:ext>
            </a:extLst>
          </p:cNvPr>
          <p:cNvSpPr/>
          <p:nvPr/>
        </p:nvSpPr>
        <p:spPr>
          <a:xfrm>
            <a:off x="6391317" y="3611880"/>
            <a:ext cx="699516" cy="448056"/>
          </a:xfrm>
          <a:prstGeom prst="rect">
            <a:avLst/>
          </a:prstGeom>
          <a:solidFill>
            <a:srgbClr val="E8EEFF"/>
          </a:solidFill>
          <a:ln w="6350">
            <a:solidFill>
              <a:srgbClr val="CADCFC"/>
            </a:solidFill>
            <a:prstDash val="solid"/>
          </a:ln>
        </p:spPr>
      </p:sp>
      <p:sp>
        <p:nvSpPr>
          <p:cNvPr id="131" name="Shape 77">
            <a:extLst>
              <a:ext uri="{FF2B5EF4-FFF2-40B4-BE49-F238E27FC236}">
                <a16:creationId xmlns:a16="http://schemas.microsoft.com/office/drawing/2014/main" id="{AE2F5D86-13B4-4D1A-8777-7C01E2CD360C}"/>
              </a:ext>
            </a:extLst>
          </p:cNvPr>
          <p:cNvSpPr/>
          <p:nvPr/>
        </p:nvSpPr>
        <p:spPr>
          <a:xfrm>
            <a:off x="7090833" y="3611880"/>
            <a:ext cx="699516" cy="448056"/>
          </a:xfrm>
          <a:prstGeom prst="rect">
            <a:avLst/>
          </a:prstGeom>
          <a:solidFill>
            <a:srgbClr val="1E2761"/>
          </a:solidFill>
          <a:ln w="6350">
            <a:solidFill>
              <a:srgbClr val="CADCFC"/>
            </a:solidFill>
            <a:prstDash val="solid"/>
          </a:ln>
        </p:spPr>
      </p:sp>
      <p:sp>
        <p:nvSpPr>
          <p:cNvPr id="133" name="Shape 78">
            <a:extLst>
              <a:ext uri="{FF2B5EF4-FFF2-40B4-BE49-F238E27FC236}">
                <a16:creationId xmlns:a16="http://schemas.microsoft.com/office/drawing/2014/main" id="{4E50F960-1734-4169-858A-2DAD496B33F3}"/>
              </a:ext>
            </a:extLst>
          </p:cNvPr>
          <p:cNvSpPr/>
          <p:nvPr/>
        </p:nvSpPr>
        <p:spPr>
          <a:xfrm>
            <a:off x="7790349" y="3611880"/>
            <a:ext cx="699516" cy="448056"/>
          </a:xfrm>
          <a:prstGeom prst="rect">
            <a:avLst/>
          </a:prstGeom>
          <a:solidFill>
            <a:srgbClr val="1E2761"/>
          </a:solidFill>
          <a:ln w="6350">
            <a:solidFill>
              <a:srgbClr val="CADCFC"/>
            </a:solidFill>
            <a:prstDash val="solid"/>
          </a:ln>
        </p:spPr>
      </p:sp>
      <p:sp>
        <p:nvSpPr>
          <p:cNvPr id="147" name="Shape 70">
            <a:extLst>
              <a:ext uri="{FF2B5EF4-FFF2-40B4-BE49-F238E27FC236}">
                <a16:creationId xmlns:a16="http://schemas.microsoft.com/office/drawing/2014/main" id="{819F5E2F-097A-471A-AF66-D8C289DC32D6}"/>
              </a:ext>
            </a:extLst>
          </p:cNvPr>
          <p:cNvSpPr/>
          <p:nvPr/>
        </p:nvSpPr>
        <p:spPr>
          <a:xfrm>
            <a:off x="392853" y="3611880"/>
            <a:ext cx="3246120" cy="448056"/>
          </a:xfrm>
          <a:prstGeom prst="rect">
            <a:avLst/>
          </a:prstGeom>
          <a:solidFill>
            <a:srgbClr val="E8EEFF"/>
          </a:solidFill>
          <a:ln w="6350">
            <a:solidFill>
              <a:srgbClr val="CADCFC"/>
            </a:solidFill>
            <a:prstDash val="solid"/>
          </a:ln>
        </p:spPr>
      </p:sp>
      <p:sp>
        <p:nvSpPr>
          <p:cNvPr id="148" name="Shape 72">
            <a:extLst>
              <a:ext uri="{FF2B5EF4-FFF2-40B4-BE49-F238E27FC236}">
                <a16:creationId xmlns:a16="http://schemas.microsoft.com/office/drawing/2014/main" id="{DEF8F9E3-0BB5-4097-A851-374B43B1DFD9}"/>
              </a:ext>
            </a:extLst>
          </p:cNvPr>
          <p:cNvSpPr/>
          <p:nvPr/>
        </p:nvSpPr>
        <p:spPr>
          <a:xfrm>
            <a:off x="3638973" y="3611880"/>
            <a:ext cx="699516" cy="448056"/>
          </a:xfrm>
          <a:prstGeom prst="rect">
            <a:avLst/>
          </a:prstGeom>
          <a:solidFill>
            <a:srgbClr val="E8EEFF"/>
          </a:solidFill>
          <a:ln w="6350">
            <a:solidFill>
              <a:srgbClr val="CADCFC"/>
            </a:solidFill>
            <a:prstDash val="solid"/>
          </a:ln>
        </p:spPr>
      </p:sp>
      <p:sp>
        <p:nvSpPr>
          <p:cNvPr id="149" name="Shape 73">
            <a:extLst>
              <a:ext uri="{FF2B5EF4-FFF2-40B4-BE49-F238E27FC236}">
                <a16:creationId xmlns:a16="http://schemas.microsoft.com/office/drawing/2014/main" id="{4ED951B5-FC2A-44DF-A98A-8958F7948483}"/>
              </a:ext>
            </a:extLst>
          </p:cNvPr>
          <p:cNvSpPr/>
          <p:nvPr/>
        </p:nvSpPr>
        <p:spPr>
          <a:xfrm>
            <a:off x="4338489" y="3611880"/>
            <a:ext cx="699516" cy="448056"/>
          </a:xfrm>
          <a:prstGeom prst="rect">
            <a:avLst/>
          </a:prstGeom>
          <a:solidFill>
            <a:srgbClr val="E8EEFF"/>
          </a:solidFill>
          <a:ln w="6350">
            <a:solidFill>
              <a:srgbClr val="CADCFC"/>
            </a:solidFill>
            <a:prstDash val="solid"/>
          </a:ln>
        </p:spPr>
      </p:sp>
      <p:sp>
        <p:nvSpPr>
          <p:cNvPr id="150" name="Shape 74">
            <a:extLst>
              <a:ext uri="{FF2B5EF4-FFF2-40B4-BE49-F238E27FC236}">
                <a16:creationId xmlns:a16="http://schemas.microsoft.com/office/drawing/2014/main" id="{82E2A310-420A-4B6D-A58A-0B07F939279A}"/>
              </a:ext>
            </a:extLst>
          </p:cNvPr>
          <p:cNvSpPr/>
          <p:nvPr/>
        </p:nvSpPr>
        <p:spPr>
          <a:xfrm>
            <a:off x="5038005" y="3611880"/>
            <a:ext cx="699516" cy="448056"/>
          </a:xfrm>
          <a:prstGeom prst="rect">
            <a:avLst/>
          </a:prstGeom>
          <a:solidFill>
            <a:srgbClr val="E8EEFF"/>
          </a:solidFill>
          <a:ln w="6350">
            <a:solidFill>
              <a:srgbClr val="CADCFC"/>
            </a:solidFill>
            <a:prstDash val="solid"/>
          </a:ln>
        </p:spPr>
      </p:sp>
      <p:sp>
        <p:nvSpPr>
          <p:cNvPr id="151" name="Shape 75">
            <a:extLst>
              <a:ext uri="{FF2B5EF4-FFF2-40B4-BE49-F238E27FC236}">
                <a16:creationId xmlns:a16="http://schemas.microsoft.com/office/drawing/2014/main" id="{8176DD43-651C-4652-BF08-492C48C25FD9}"/>
              </a:ext>
            </a:extLst>
          </p:cNvPr>
          <p:cNvSpPr/>
          <p:nvPr/>
        </p:nvSpPr>
        <p:spPr>
          <a:xfrm>
            <a:off x="5737521" y="3611880"/>
            <a:ext cx="699516" cy="448056"/>
          </a:xfrm>
          <a:prstGeom prst="rect">
            <a:avLst/>
          </a:prstGeom>
          <a:solidFill>
            <a:srgbClr val="E8EEFF"/>
          </a:solidFill>
          <a:ln w="6350">
            <a:solidFill>
              <a:srgbClr val="CADCFC"/>
            </a:solidFill>
            <a:prstDash val="solid"/>
          </a:ln>
        </p:spPr>
      </p:sp>
      <p:sp>
        <p:nvSpPr>
          <p:cNvPr id="152" name="Shape 76">
            <a:extLst>
              <a:ext uri="{FF2B5EF4-FFF2-40B4-BE49-F238E27FC236}">
                <a16:creationId xmlns:a16="http://schemas.microsoft.com/office/drawing/2014/main" id="{0917AC6F-0316-42E4-9FA1-C3FD36CD91A3}"/>
              </a:ext>
            </a:extLst>
          </p:cNvPr>
          <p:cNvSpPr/>
          <p:nvPr/>
        </p:nvSpPr>
        <p:spPr>
          <a:xfrm>
            <a:off x="6437037" y="3611880"/>
            <a:ext cx="699516" cy="448056"/>
          </a:xfrm>
          <a:prstGeom prst="rect">
            <a:avLst/>
          </a:prstGeom>
          <a:solidFill>
            <a:srgbClr val="E8EEFF"/>
          </a:solidFill>
          <a:ln w="6350">
            <a:solidFill>
              <a:srgbClr val="CADCFC"/>
            </a:solidFill>
            <a:prstDash val="solid"/>
          </a:ln>
        </p:spPr>
      </p:sp>
      <p:sp>
        <p:nvSpPr>
          <p:cNvPr id="153" name="Shape 77">
            <a:extLst>
              <a:ext uri="{FF2B5EF4-FFF2-40B4-BE49-F238E27FC236}">
                <a16:creationId xmlns:a16="http://schemas.microsoft.com/office/drawing/2014/main" id="{40249212-F934-450E-8731-2D8BA8331D9E}"/>
              </a:ext>
            </a:extLst>
          </p:cNvPr>
          <p:cNvSpPr/>
          <p:nvPr/>
        </p:nvSpPr>
        <p:spPr>
          <a:xfrm>
            <a:off x="7136553" y="3611880"/>
            <a:ext cx="699516" cy="448056"/>
          </a:xfrm>
          <a:prstGeom prst="rect">
            <a:avLst/>
          </a:prstGeom>
          <a:solidFill>
            <a:srgbClr val="1E2761"/>
          </a:solidFill>
          <a:ln w="6350">
            <a:solidFill>
              <a:srgbClr val="CADCFC"/>
            </a:solidFill>
            <a:prstDash val="solid"/>
          </a:ln>
        </p:spPr>
      </p:sp>
      <p:sp>
        <p:nvSpPr>
          <p:cNvPr id="172" name="Shape 70">
            <a:extLst>
              <a:ext uri="{FF2B5EF4-FFF2-40B4-BE49-F238E27FC236}">
                <a16:creationId xmlns:a16="http://schemas.microsoft.com/office/drawing/2014/main" id="{6EFEB1F5-86EB-4BCD-B0E8-E464F351C115}"/>
              </a:ext>
            </a:extLst>
          </p:cNvPr>
          <p:cNvSpPr/>
          <p:nvPr/>
        </p:nvSpPr>
        <p:spPr>
          <a:xfrm>
            <a:off x="411480" y="3611880"/>
            <a:ext cx="3246120" cy="448056"/>
          </a:xfrm>
          <a:prstGeom prst="rect">
            <a:avLst/>
          </a:prstGeom>
          <a:solidFill>
            <a:srgbClr val="E8EEFF"/>
          </a:solidFill>
          <a:ln w="6350">
            <a:solidFill>
              <a:srgbClr val="CADCFC"/>
            </a:solidFill>
            <a:prstDash val="solid"/>
          </a:ln>
        </p:spPr>
      </p:sp>
      <p:sp>
        <p:nvSpPr>
          <p:cNvPr id="173" name="Shape 72">
            <a:extLst>
              <a:ext uri="{FF2B5EF4-FFF2-40B4-BE49-F238E27FC236}">
                <a16:creationId xmlns:a16="http://schemas.microsoft.com/office/drawing/2014/main" id="{6F42DFFD-B956-4B7B-899F-5CC63C0A6BD6}"/>
              </a:ext>
            </a:extLst>
          </p:cNvPr>
          <p:cNvSpPr/>
          <p:nvPr/>
        </p:nvSpPr>
        <p:spPr>
          <a:xfrm>
            <a:off x="3657600" y="3611880"/>
            <a:ext cx="699516" cy="448056"/>
          </a:xfrm>
          <a:prstGeom prst="rect">
            <a:avLst/>
          </a:prstGeom>
          <a:solidFill>
            <a:srgbClr val="E8EEFF"/>
          </a:solidFill>
          <a:ln w="6350">
            <a:solidFill>
              <a:srgbClr val="CADCFC"/>
            </a:solidFill>
            <a:prstDash val="solid"/>
          </a:ln>
        </p:spPr>
      </p:sp>
      <p:sp>
        <p:nvSpPr>
          <p:cNvPr id="174" name="Shape 73">
            <a:extLst>
              <a:ext uri="{FF2B5EF4-FFF2-40B4-BE49-F238E27FC236}">
                <a16:creationId xmlns:a16="http://schemas.microsoft.com/office/drawing/2014/main" id="{8D41F07B-0EC5-4201-A4A7-989AF9568DEE}"/>
              </a:ext>
            </a:extLst>
          </p:cNvPr>
          <p:cNvSpPr/>
          <p:nvPr/>
        </p:nvSpPr>
        <p:spPr>
          <a:xfrm>
            <a:off x="4357116" y="3611880"/>
            <a:ext cx="699516" cy="448056"/>
          </a:xfrm>
          <a:prstGeom prst="rect">
            <a:avLst/>
          </a:prstGeom>
          <a:solidFill>
            <a:srgbClr val="E8EEFF"/>
          </a:solidFill>
          <a:ln w="6350">
            <a:solidFill>
              <a:srgbClr val="CADCFC"/>
            </a:solidFill>
            <a:prstDash val="solid"/>
          </a:ln>
        </p:spPr>
      </p:sp>
      <p:sp>
        <p:nvSpPr>
          <p:cNvPr id="175" name="Shape 74">
            <a:extLst>
              <a:ext uri="{FF2B5EF4-FFF2-40B4-BE49-F238E27FC236}">
                <a16:creationId xmlns:a16="http://schemas.microsoft.com/office/drawing/2014/main" id="{368C320D-13F9-426F-90FB-B8EC5796E9BB}"/>
              </a:ext>
            </a:extLst>
          </p:cNvPr>
          <p:cNvSpPr/>
          <p:nvPr/>
        </p:nvSpPr>
        <p:spPr>
          <a:xfrm>
            <a:off x="5056632" y="3611880"/>
            <a:ext cx="699516" cy="448056"/>
          </a:xfrm>
          <a:prstGeom prst="rect">
            <a:avLst/>
          </a:prstGeom>
          <a:solidFill>
            <a:srgbClr val="E8EEFF"/>
          </a:solidFill>
          <a:ln w="6350">
            <a:solidFill>
              <a:srgbClr val="CADCFC"/>
            </a:solidFill>
            <a:prstDash val="solid"/>
          </a:ln>
        </p:spPr>
      </p:sp>
      <p:sp>
        <p:nvSpPr>
          <p:cNvPr id="176" name="Shape 75">
            <a:extLst>
              <a:ext uri="{FF2B5EF4-FFF2-40B4-BE49-F238E27FC236}">
                <a16:creationId xmlns:a16="http://schemas.microsoft.com/office/drawing/2014/main" id="{B603455D-AD5D-4CAA-9FFD-F37004E25071}"/>
              </a:ext>
            </a:extLst>
          </p:cNvPr>
          <p:cNvSpPr/>
          <p:nvPr/>
        </p:nvSpPr>
        <p:spPr>
          <a:xfrm>
            <a:off x="5756148" y="3611880"/>
            <a:ext cx="699516" cy="448056"/>
          </a:xfrm>
          <a:prstGeom prst="rect">
            <a:avLst/>
          </a:prstGeom>
          <a:solidFill>
            <a:srgbClr val="E8EEFF"/>
          </a:solidFill>
          <a:ln w="6350">
            <a:solidFill>
              <a:srgbClr val="CADCFC"/>
            </a:solidFill>
            <a:prstDash val="solid"/>
          </a:ln>
        </p:spPr>
      </p:sp>
      <p:sp>
        <p:nvSpPr>
          <p:cNvPr id="177" name="Shape 76">
            <a:extLst>
              <a:ext uri="{FF2B5EF4-FFF2-40B4-BE49-F238E27FC236}">
                <a16:creationId xmlns:a16="http://schemas.microsoft.com/office/drawing/2014/main" id="{858AAE9D-2FD6-440D-AEB9-188A27AEE0C3}"/>
              </a:ext>
            </a:extLst>
          </p:cNvPr>
          <p:cNvSpPr/>
          <p:nvPr/>
        </p:nvSpPr>
        <p:spPr>
          <a:xfrm>
            <a:off x="6455664" y="3611880"/>
            <a:ext cx="699516" cy="448056"/>
          </a:xfrm>
          <a:prstGeom prst="rect">
            <a:avLst/>
          </a:prstGeom>
          <a:solidFill>
            <a:srgbClr val="E8EEFF"/>
          </a:solidFill>
          <a:ln w="6350">
            <a:solidFill>
              <a:srgbClr val="CADCFC"/>
            </a:solidFill>
            <a:prstDash val="solid"/>
          </a:ln>
        </p:spPr>
      </p:sp>
      <p:sp>
        <p:nvSpPr>
          <p:cNvPr id="178" name="Shape 77">
            <a:extLst>
              <a:ext uri="{FF2B5EF4-FFF2-40B4-BE49-F238E27FC236}">
                <a16:creationId xmlns:a16="http://schemas.microsoft.com/office/drawing/2014/main" id="{59ADBFAF-3D99-48D4-8017-78318481AB26}"/>
              </a:ext>
            </a:extLst>
          </p:cNvPr>
          <p:cNvSpPr/>
          <p:nvPr/>
        </p:nvSpPr>
        <p:spPr>
          <a:xfrm>
            <a:off x="7155180" y="3611880"/>
            <a:ext cx="699516" cy="448056"/>
          </a:xfrm>
          <a:prstGeom prst="rect">
            <a:avLst/>
          </a:prstGeom>
          <a:solidFill>
            <a:srgbClr val="1E2761"/>
          </a:solidFill>
          <a:ln w="6350">
            <a:solidFill>
              <a:srgbClr val="CADCF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6644"/>
          </a:solidFill>
          <a:ln w="12700">
            <a:solidFill>
              <a:srgbClr val="006644"/>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05 · Budgétisation — Matériel (FCFA)</a:t>
            </a:r>
            <a:endParaRPr lang="en-US" sz="2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024128"/>
          <a:ext cx="8503920" cy="1775460"/>
        </p:xfrm>
        <a:graphic>
          <a:graphicData uri="http://schemas.openxmlformats.org/drawingml/2006/table">
            <a:tbl>
              <a:tblPr/>
              <a:tblGrid>
                <a:gridCol w="43891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FFFFFF"/>
                          </a:solidFill>
                        </a:rPr>
                        <a:t>Désignation</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Qté</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Prix unitaire</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Montant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A2A4A"/>
                          </a:solidFill>
                        </a:rPr>
                        <a:t>Ordinateur portable (RAM 8 Go min., webcam intégrée)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450 000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450 000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A2A4A"/>
                          </a:solidFill>
                        </a:rPr>
                        <a:t>Webcam externe HD 1080p (si webcam intégrée insuffisante)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1</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A2A4A"/>
                          </a:solidFill>
                        </a:rPr>
                        <a:t>Clé USB 32 Go (sauvegarde et portage Windows)</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2</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A2A4A"/>
                          </a:solidFill>
                        </a:rPr>
                        <a:t>Impression de photos (jeux de test module attaque)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1 lot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1A2A4A"/>
                          </a:solidFill>
                        </a:rPr>
                        <a:t>Écran secondaire (test attaque vidéo)</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75 000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75 000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E2761"/>
                          </a:solidFill>
                        </a:rPr>
                        <a:t>TOTAL MATÉRIEL</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buNone/>
                      </a:pP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buNone/>
                      </a:pP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lgn="ctr">
                        <a:buNone/>
                      </a:pPr>
                      <a:r>
                        <a:rPr lang="en-US" sz="1100" b="1" dirty="0">
                          <a:solidFill>
                            <a:srgbClr val="1E2761"/>
                          </a:solidFill>
                        </a:rPr>
                        <a:t>573 000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extLst>
                  <a:ext uri="{0D108BD9-81ED-4DB2-BD59-A6C34878D82A}">
                    <a16:rowId xmlns:a16="http://schemas.microsoft.com/office/drawing/2014/main" val="10006"/>
                  </a:ext>
                </a:extLst>
              </a:tr>
            </a:tbl>
          </a:graphicData>
        </a:graphic>
      </p:graphicFrame>
      <p:sp>
        <p:nvSpPr>
          <p:cNvPr id="6" name="Shape 2"/>
          <p:cNvSpPr/>
          <p:nvPr/>
        </p:nvSpPr>
        <p:spPr>
          <a:xfrm>
            <a:off x="320040" y="3977640"/>
            <a:ext cx="8503920" cy="822960"/>
          </a:xfrm>
          <a:prstGeom prst="rect">
            <a:avLst/>
          </a:prstGeom>
          <a:solidFill>
            <a:srgbClr val="E0F0E8"/>
          </a:solidFill>
          <a:ln w="12700">
            <a:solidFill>
              <a:srgbClr val="00C9A7"/>
            </a:solidFill>
            <a:prstDash val="solid"/>
          </a:ln>
        </p:spPr>
      </p:sp>
      <p:sp>
        <p:nvSpPr>
          <p:cNvPr id="7" name="Text 3"/>
          <p:cNvSpPr/>
          <p:nvPr/>
        </p:nvSpPr>
        <p:spPr>
          <a:xfrm>
            <a:off x="502920" y="4014216"/>
            <a:ext cx="8229600" cy="749808"/>
          </a:xfrm>
          <a:prstGeom prst="rect">
            <a:avLst/>
          </a:prstGeom>
          <a:noFill/>
          <a:ln/>
        </p:spPr>
        <p:txBody>
          <a:bodyPr wrap="square" rtlCol="0" anchor="t"/>
          <a:lstStyle/>
          <a:p>
            <a:pPr marL="0" indent="0">
              <a:buNone/>
            </a:pPr>
            <a:r>
              <a:rPr lang="en-US" sz="1000" i="1" dirty="0">
                <a:solidFill>
                  <a:srgbClr val="1A4A2A"/>
                </a:solidFill>
              </a:rPr>
              <a:t>Note : Ces prix sont estimatifs (marché local camerounais). Si le matériel est déjà disponible (ordinateur personnel, webcam), le poste matériel peut être ramené à 0 FCFA. Seul le matériel réellement acquis pour le projet doit être comptabilisé.</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6644"/>
          </a:solidFill>
          <a:ln w="12700">
            <a:solidFill>
              <a:srgbClr val="006644"/>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05· Budgétisation — Ressources Humaines (FCFA)</a:t>
            </a:r>
            <a:endParaRPr lang="en-US" sz="2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024128"/>
          <a:ext cx="8503920" cy="1775460"/>
        </p:xfrm>
        <a:graphic>
          <a:graphicData uri="http://schemas.openxmlformats.org/drawingml/2006/table">
            <a:tbl>
              <a:tblPr/>
              <a:tblGrid>
                <a:gridCol w="3566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0">
                <a:tc>
                  <a:txBody>
                    <a:bodyPr/>
                    <a:lstStyle/>
                    <a:p>
                      <a:pPr marL="0" indent="0">
                        <a:buNone/>
                      </a:pPr>
                      <a:r>
                        <a:rPr lang="en-US" sz="1100" b="1" dirty="0">
                          <a:solidFill>
                            <a:srgbClr val="FFFFFF"/>
                          </a:solidFill>
                        </a:rPr>
                        <a:t>Rôle / Profil</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Nb semaines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Taux hebdo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Montant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A2A4A"/>
                          </a:solidFill>
                        </a:rPr>
                        <a:t>Chef de projet / Analyste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8</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25 000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200 000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A2A4A"/>
                          </a:solidFill>
                        </a:rPr>
                        <a:t>Développeur Python principal</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8</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240 000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A2A4A"/>
                          </a:solidFill>
                        </a:rPr>
                        <a:t>Spécialiste </a:t>
                      </a:r>
                      <a:r>
                        <a:rPr lang="en-US" sz="1050" dirty="0" err="1">
                          <a:solidFill>
                            <a:srgbClr val="1A2A4A"/>
                          </a:solidFill>
                        </a:rPr>
                        <a:t>sécurité</a:t>
                      </a:r>
                      <a:r>
                        <a:rPr lang="en-US" sz="1050" dirty="0">
                          <a:solidFill>
                            <a:srgbClr val="1A2A4A"/>
                          </a:solidFill>
                        </a:rPr>
                        <a:t> &amp; tests</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4</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28 000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112 000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A2A4A"/>
                          </a:solidFill>
                        </a:rPr>
                        <a:t>Responsable documentation</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3</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20 000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60 000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1A2A4A"/>
                          </a:solidFill>
                        </a:rPr>
                        <a:t>Encadreur / Superviseur académique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8</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15 000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120 000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E2761"/>
                          </a:solidFill>
                        </a:rPr>
                        <a:t>TOTAL RESSOURCES HUMAINES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buNone/>
                      </a:pP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buNone/>
                      </a:pP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lgn="ctr">
                        <a:buNone/>
                      </a:pPr>
                      <a:r>
                        <a:rPr lang="en-US" sz="1100" b="1" dirty="0">
                          <a:solidFill>
                            <a:srgbClr val="1E2761"/>
                          </a:solidFill>
                        </a:rPr>
                        <a:t>732 000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extLst>
                  <a:ext uri="{0D108BD9-81ED-4DB2-BD59-A6C34878D82A}">
                    <a16:rowId xmlns:a16="http://schemas.microsoft.com/office/drawing/2014/main" val="10006"/>
                  </a:ext>
                </a:extLst>
              </a:tr>
            </a:tbl>
          </a:graphicData>
        </a:graphic>
      </p:graphicFrame>
      <p:sp>
        <p:nvSpPr>
          <p:cNvPr id="6" name="Shape 2"/>
          <p:cNvSpPr/>
          <p:nvPr/>
        </p:nvSpPr>
        <p:spPr>
          <a:xfrm>
            <a:off x="320040" y="3822192"/>
            <a:ext cx="8503920" cy="1051560"/>
          </a:xfrm>
          <a:prstGeom prst="rect">
            <a:avLst/>
          </a:prstGeom>
          <a:solidFill>
            <a:srgbClr val="E0F0E8"/>
          </a:solidFill>
          <a:ln w="12700">
            <a:solidFill>
              <a:srgbClr val="00C9A7"/>
            </a:solidFill>
            <a:prstDash val="solid"/>
          </a:ln>
        </p:spPr>
      </p:sp>
      <p:sp>
        <p:nvSpPr>
          <p:cNvPr id="7" name="Text 3"/>
          <p:cNvSpPr/>
          <p:nvPr/>
        </p:nvSpPr>
        <p:spPr>
          <a:xfrm>
            <a:off x="502920" y="3858768"/>
            <a:ext cx="8229600" cy="960120"/>
          </a:xfrm>
          <a:prstGeom prst="rect">
            <a:avLst/>
          </a:prstGeom>
          <a:noFill/>
          <a:ln/>
        </p:spPr>
        <p:txBody>
          <a:bodyPr wrap="square" rtlCol="0" anchor="t"/>
          <a:lstStyle/>
          <a:p>
            <a:pPr marL="0" indent="0">
              <a:buNone/>
            </a:pPr>
            <a:r>
              <a:rPr lang="en-US" sz="1000" i="1" dirty="0">
                <a:solidFill>
                  <a:srgbClr val="1A4A2A"/>
                </a:solidFill>
              </a:rPr>
              <a:t>Note : Dans le cadre d'un projet académique, les ressources humaines correspondent aux étudiants impliqués. Les taux hebdomadaires représentent une valorisation indicative du temps de travail (coût d'opportunité) et non une rémunération réelle. En contexte académique pur, ce poste peut être affiché à 0 FCFA si aucune rémunération n'est effectuée.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6644"/>
          </a:solidFill>
          <a:ln w="12700">
            <a:solidFill>
              <a:srgbClr val="006644"/>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05· Budgétisation — Logiciels (FCFA)</a:t>
            </a:r>
            <a:endParaRPr lang="en-US" sz="2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024128"/>
          <a:ext cx="8503920" cy="3032760"/>
        </p:xfrm>
        <a:graphic>
          <a:graphicData uri="http://schemas.openxmlformats.org/drawingml/2006/table">
            <a:tbl>
              <a:tblPr/>
              <a:tblGrid>
                <a:gridCol w="42062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rPr>
                        <a:t>Logiciel / Outil</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Type de licence</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rPr>
                        <a:t>Coût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lgn="l">
                        <a:buNone/>
                      </a:pPr>
                      <a:r>
                        <a:rPr lang="en-US" sz="1050" dirty="0">
                          <a:solidFill>
                            <a:srgbClr val="1A2A4A"/>
                          </a:solidFill>
                        </a:rPr>
                        <a:t>Ubuntu 22.04 LTS</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1"/>
                  </a:ext>
                </a:extLst>
              </a:tr>
              <a:tr h="0">
                <a:tc>
                  <a:txBody>
                    <a:bodyPr/>
                    <a:lstStyle/>
                    <a:p>
                      <a:pPr marL="0" indent="0" algn="l">
                        <a:buNone/>
                      </a:pPr>
                      <a:r>
                        <a:rPr lang="en-US" sz="1050" dirty="0">
                          <a:solidFill>
                            <a:srgbClr val="1A2A4A"/>
                          </a:solidFill>
                        </a:rPr>
                        <a:t>Python 3.10+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2"/>
                  </a:ext>
                </a:extLst>
              </a:tr>
              <a:tr h="0">
                <a:tc>
                  <a:txBody>
                    <a:bodyPr/>
                    <a:lstStyle/>
                    <a:p>
                      <a:pPr marL="0" indent="0" algn="l">
                        <a:buNone/>
                      </a:pPr>
                      <a:r>
                        <a:rPr lang="en-US" sz="1050" dirty="0">
                          <a:solidFill>
                            <a:srgbClr val="1A2A4A"/>
                          </a:solidFill>
                        </a:rPr>
                        <a:t>OpenCV (cv2)</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3"/>
                  </a:ext>
                </a:extLst>
              </a:tr>
              <a:tr h="0">
                <a:tc>
                  <a:txBody>
                    <a:bodyPr/>
                    <a:lstStyle/>
                    <a:p>
                      <a:pPr marL="0" indent="0" algn="l">
                        <a:buNone/>
                      </a:pPr>
                      <a:r>
                        <a:rPr lang="en-US" sz="1050" dirty="0">
                          <a:solidFill>
                            <a:srgbClr val="1A2A4A"/>
                          </a:solidFill>
                        </a:rPr>
                        <a:t>face_recognition + dlib</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4"/>
                  </a:ext>
                </a:extLst>
              </a:tr>
              <a:tr h="0">
                <a:tc>
                  <a:txBody>
                    <a:bodyPr/>
                    <a:lstStyle/>
                    <a:p>
                      <a:pPr marL="0" indent="0" algn="l">
                        <a:buNone/>
                      </a:pPr>
                      <a:r>
                        <a:rPr lang="en-US" sz="1050" dirty="0">
                          <a:solidFill>
                            <a:srgbClr val="1A2A4A"/>
                          </a:solidFill>
                        </a:rPr>
                        <a:t>cryptography (Fernet / AES-256)</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5"/>
                  </a:ext>
                </a:extLst>
              </a:tr>
              <a:tr h="0">
                <a:tc>
                  <a:txBody>
                    <a:bodyPr/>
                    <a:lstStyle/>
                    <a:p>
                      <a:pPr marL="0" indent="0" algn="l">
                        <a:buNone/>
                      </a:pPr>
                      <a:r>
                        <a:rPr lang="en-US" sz="1050" dirty="0">
                          <a:solidFill>
                            <a:srgbClr val="1A2A4A"/>
                          </a:solidFill>
                        </a:rPr>
                        <a:t>SQLite3 (standard library Python)</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6"/>
                  </a:ext>
                </a:extLst>
              </a:tr>
              <a:tr h="0">
                <a:tc>
                  <a:txBody>
                    <a:bodyPr/>
                    <a:lstStyle/>
                    <a:p>
                      <a:pPr marL="0" indent="0" algn="l">
                        <a:buNone/>
                      </a:pPr>
                      <a:r>
                        <a:rPr lang="en-US" sz="1050" dirty="0">
                          <a:solidFill>
                            <a:srgbClr val="1A2A4A"/>
                          </a:solidFill>
                        </a:rPr>
                        <a:t>Tkinter ou PyQt5</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7"/>
                  </a:ext>
                </a:extLst>
              </a:tr>
              <a:tr h="0">
                <a:tc>
                  <a:txBody>
                    <a:bodyPr/>
                    <a:lstStyle/>
                    <a:p>
                      <a:pPr marL="0" indent="0" algn="l">
                        <a:buNone/>
                      </a:pPr>
                      <a:r>
                        <a:rPr lang="en-US" sz="1050" dirty="0">
                          <a:solidFill>
                            <a:srgbClr val="1A2A4A"/>
                          </a:solidFill>
                        </a:rPr>
                        <a:t>PyInstaller (packaging optionnel)</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Open Source / 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8"/>
                  </a:ext>
                </a:extLst>
              </a:tr>
              <a:tr h="0">
                <a:tc>
                  <a:txBody>
                    <a:bodyPr/>
                    <a:lstStyle/>
                    <a:p>
                      <a:pPr marL="0" indent="0" algn="l">
                        <a:buNone/>
                      </a:pPr>
                      <a:r>
                        <a:rPr lang="en-US" sz="1050" dirty="0">
                          <a:solidFill>
                            <a:srgbClr val="1A2A4A"/>
                          </a:solidFill>
                        </a:rPr>
                        <a:t>Visual Studio Code (IDE)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Gratuit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9"/>
                  </a:ext>
                </a:extLst>
              </a:tr>
              <a:tr h="0">
                <a:tc>
                  <a:txBody>
                    <a:bodyPr/>
                    <a:lstStyle/>
                    <a:p>
                      <a:pPr marL="0" indent="0" algn="l">
                        <a:buNone/>
                      </a:pPr>
                      <a:r>
                        <a:rPr lang="en-US" sz="1050" dirty="0">
                          <a:solidFill>
                            <a:srgbClr val="1A2A4A"/>
                          </a:solidFill>
                        </a:rPr>
                        <a:t>Windows 10/11 (portage/test)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Licence existante</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050" dirty="0">
                          <a:solidFill>
                            <a:srgbClr val="1A2A4A"/>
                          </a:solidFill>
                        </a:rPr>
                        <a:t>0</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10"/>
                  </a:ext>
                </a:extLst>
              </a:tr>
              <a:tr h="0">
                <a:tc>
                  <a:txBody>
                    <a:bodyPr/>
                    <a:lstStyle/>
                    <a:p>
                      <a:pPr marL="0" indent="0">
                        <a:buNone/>
                      </a:pPr>
                      <a:r>
                        <a:rPr lang="en-US" sz="1100" b="1" dirty="0">
                          <a:solidFill>
                            <a:srgbClr val="1E2761"/>
                          </a:solidFill>
                        </a:rPr>
                        <a:t>TOTAL LOGICIELS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lgn="ctr">
                        <a:buNone/>
                      </a:pPr>
                      <a:r>
                        <a:rPr lang="en-US" sz="1100" b="1" dirty="0">
                          <a:solidFill>
                            <a:srgbClr val="007755"/>
                          </a:solidFill>
                        </a:rPr>
                        <a:t>100% open source</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tc>
                  <a:txBody>
                    <a:bodyPr/>
                    <a:lstStyle/>
                    <a:p>
                      <a:pPr marL="0" indent="0" algn="ctr">
                        <a:buNone/>
                      </a:pPr>
                      <a:r>
                        <a:rPr lang="en-US" sz="1100" b="1" dirty="0">
                          <a:solidFill>
                            <a:srgbClr val="1E2761"/>
                          </a:solidFill>
                        </a:rPr>
                        <a:t>0 FCFA</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8EEFF"/>
                    </a:solidFill>
                  </a:tcPr>
                </a:tc>
                <a:extLst>
                  <a:ext uri="{0D108BD9-81ED-4DB2-BD59-A6C34878D82A}">
                    <a16:rowId xmlns:a16="http://schemas.microsoft.com/office/drawing/2014/main" val="10011"/>
                  </a:ext>
                </a:extLst>
              </a:tr>
            </a:tbl>
          </a:graphicData>
        </a:graphic>
      </p:graphicFrame>
      <p:sp>
        <p:nvSpPr>
          <p:cNvPr id="6" name="Shape 2"/>
          <p:cNvSpPr/>
          <p:nvPr/>
        </p:nvSpPr>
        <p:spPr>
          <a:xfrm>
            <a:off x="320040" y="4645152"/>
            <a:ext cx="8503920" cy="347472"/>
          </a:xfrm>
          <a:prstGeom prst="rect">
            <a:avLst/>
          </a:prstGeom>
          <a:solidFill>
            <a:srgbClr val="E0F0E8"/>
          </a:solidFill>
          <a:ln w="12700">
            <a:solidFill>
              <a:srgbClr val="00C9A7"/>
            </a:solidFill>
            <a:prstDash val="solid"/>
          </a:ln>
        </p:spPr>
      </p:sp>
      <p:sp>
        <p:nvSpPr>
          <p:cNvPr id="7" name="Text 3"/>
          <p:cNvSpPr/>
          <p:nvPr/>
        </p:nvSpPr>
        <p:spPr>
          <a:xfrm>
            <a:off x="502920" y="4681728"/>
            <a:ext cx="8229600" cy="274320"/>
          </a:xfrm>
          <a:prstGeom prst="rect">
            <a:avLst/>
          </a:prstGeom>
          <a:noFill/>
          <a:ln/>
        </p:spPr>
        <p:txBody>
          <a:bodyPr wrap="square" rtlCol="0" anchor="ctr"/>
          <a:lstStyle/>
          <a:p>
            <a:pPr marL="0" indent="0">
              <a:buNone/>
            </a:pPr>
            <a:r>
              <a:rPr lang="en-US" sz="1050" b="1" dirty="0">
                <a:solidFill>
                  <a:srgbClr val="1A4A2A"/>
                </a:solidFill>
              </a:rPr>
              <a:t>L'ensemble des logiciels utilisés sont open source et gratuits — coût logiciel total : 0 FCFA.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6644"/>
          </a:solidFill>
          <a:ln w="12700">
            <a:solidFill>
              <a:srgbClr val="006644"/>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dirty="0">
                <a:solidFill>
                  <a:srgbClr val="FFFFFF"/>
                </a:solidFill>
              </a:rPr>
              <a:t>05· Budgétisation — Tableau Récapitulatif (FCFA)</a:t>
            </a:r>
            <a:endParaRPr lang="en-US" sz="2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1600200"/>
        </p:xfrm>
        <a:graphic>
          <a:graphicData uri="http://schemas.openxmlformats.org/drawingml/2006/table">
            <a:tbl>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rPr>
                        <a:t>Poste de dépense</a:t>
                      </a:r>
                      <a:endParaRPr lang="en-US" sz="12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rPr>
                        <a:t>Montant (FCFA)</a:t>
                      </a:r>
                      <a:endParaRPr lang="en-US" sz="12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rPr>
                        <a:t>Observation</a:t>
                      </a:r>
                      <a:endParaRPr lang="en-US" sz="12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A2A4A"/>
                          </a:solidFill>
                        </a:rPr>
                        <a:t>Matériel</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100" dirty="0">
                          <a:solidFill>
                            <a:srgbClr val="1A2A4A"/>
                          </a:solidFill>
                        </a:rPr>
                        <a:t>573 000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buNone/>
                      </a:pPr>
                      <a:r>
                        <a:rPr lang="en-US" sz="1050" dirty="0">
                          <a:solidFill>
                            <a:srgbClr val="1A2A4A"/>
                          </a:solidFill>
                        </a:rPr>
                        <a:t>Ordinateur, webcam, USB, écran de test</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A2A4A"/>
                          </a:solidFill>
                        </a:rPr>
                        <a:t>Ressources humaines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100" dirty="0">
                          <a:solidFill>
                            <a:srgbClr val="1A2A4A"/>
                          </a:solidFill>
                        </a:rPr>
                        <a:t>732 000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buNone/>
                      </a:pPr>
                      <a:r>
                        <a:rPr lang="en-US" sz="1050" dirty="0">
                          <a:solidFill>
                            <a:srgbClr val="1A2A4A"/>
                          </a:solidFill>
                        </a:rPr>
                        <a:t>Valorisation du temps de travail (indicatif)</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A2A4A"/>
                          </a:solidFill>
                        </a:rPr>
                        <a:t>Logiciels</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lgn="ctr">
                        <a:buNone/>
                      </a:pPr>
                      <a:r>
                        <a:rPr lang="en-US" sz="1100" b="1" dirty="0">
                          <a:solidFill>
                            <a:srgbClr val="007755"/>
                          </a:solidFill>
                        </a:rPr>
                        <a:t>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tc>
                  <a:txBody>
                    <a:bodyPr/>
                    <a:lstStyle/>
                    <a:p>
                      <a:pPr marL="0" indent="0">
                        <a:buNone/>
                      </a:pPr>
                      <a:r>
                        <a:rPr lang="en-US" sz="1050" dirty="0">
                          <a:solidFill>
                            <a:srgbClr val="1A2A4A"/>
                          </a:solidFill>
                        </a:rPr>
                        <a:t>100% open source — aucun coût logiciel</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F5F5FF"/>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A2A4A"/>
                          </a:solidFill>
                        </a:rPr>
                        <a:t>Imprévus (5 %)</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lgn="ctr">
                        <a:buNone/>
                      </a:pPr>
                      <a:r>
                        <a:rPr lang="en-US" sz="1100" dirty="0">
                          <a:solidFill>
                            <a:srgbClr val="1A2A4A"/>
                          </a:solidFill>
                        </a:rPr>
                        <a:t>65 250</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tc>
                  <a:txBody>
                    <a:bodyPr/>
                    <a:lstStyle/>
                    <a:p>
                      <a:pPr marL="0" indent="0">
                        <a:buNone/>
                      </a:pPr>
                      <a:r>
                        <a:rPr lang="en-US" sz="1050" dirty="0">
                          <a:solidFill>
                            <a:srgbClr val="1A2A4A"/>
                          </a:solidFill>
                        </a:rPr>
                        <a:t>Provision pour dépenses non anticipées</a:t>
                      </a:r>
                      <a:endParaRPr lang="en-US" sz="105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EEEEFF"/>
                    </a:solidFill>
                  </a:tcPr>
                </a:tc>
                <a:extLst>
                  <a:ext uri="{0D108BD9-81ED-4DB2-BD59-A6C34878D82A}">
                    <a16:rowId xmlns:a16="http://schemas.microsoft.com/office/drawing/2014/main" val="10004"/>
                  </a:ext>
                </a:extLst>
              </a:tr>
              <a:tr h="0">
                <a:tc>
                  <a:txBody>
                    <a:bodyPr/>
                    <a:lstStyle/>
                    <a:p>
                      <a:pPr marL="0" indent="0">
                        <a:buNone/>
                      </a:pPr>
                      <a:r>
                        <a:rPr lang="en-US" sz="1300" b="1" dirty="0">
                          <a:solidFill>
                            <a:srgbClr val="FFFFFF"/>
                          </a:solidFill>
                        </a:rPr>
                        <a:t>BUDGET TOTAL DU PROJET</a:t>
                      </a:r>
                      <a:endParaRPr lang="en-US" sz="13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1 370 250 FCFA</a:t>
                      </a:r>
                      <a:endParaRPr lang="en-US" sz="13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100" b="1" dirty="0">
                          <a:solidFill>
                            <a:srgbClr val="CADCFC"/>
                          </a:solidFill>
                        </a:rPr>
                        <a:t>Estimation académique complète</a:t>
                      </a:r>
                      <a:endParaRPr lang="en-US" sz="1100" dirty="0"/>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5"/>
                  </a:ext>
                </a:extLst>
              </a:tr>
            </a:tbl>
          </a:graphicData>
        </a:graphic>
      </p:graphicFrame>
      <p:sp>
        <p:nvSpPr>
          <p:cNvPr id="6" name="Text 2"/>
          <p:cNvSpPr/>
          <p:nvPr/>
        </p:nvSpPr>
        <p:spPr>
          <a:xfrm>
            <a:off x="457200" y="3639312"/>
            <a:ext cx="3657600" cy="292608"/>
          </a:xfrm>
          <a:prstGeom prst="rect">
            <a:avLst/>
          </a:prstGeom>
          <a:noFill/>
          <a:ln/>
        </p:spPr>
        <p:txBody>
          <a:bodyPr wrap="square" rtlCol="0" anchor="ctr"/>
          <a:lstStyle/>
          <a:p>
            <a:pPr marL="0" indent="0">
              <a:buNone/>
            </a:pPr>
            <a:r>
              <a:rPr lang="en-US" sz="1100" b="1" dirty="0">
                <a:solidFill>
                  <a:srgbClr val="1E2761"/>
                </a:solidFill>
              </a:rPr>
              <a:t>Répartition du budget</a:t>
            </a:r>
            <a:endParaRPr lang="en-US" sz="1100" dirty="0"/>
          </a:p>
        </p:txBody>
      </p:sp>
      <p:sp>
        <p:nvSpPr>
          <p:cNvPr id="7" name="Shape 3"/>
          <p:cNvSpPr/>
          <p:nvPr/>
        </p:nvSpPr>
        <p:spPr>
          <a:xfrm>
            <a:off x="457200" y="4005072"/>
            <a:ext cx="5120640" cy="201168"/>
          </a:xfrm>
          <a:prstGeom prst="rect">
            <a:avLst/>
          </a:prstGeom>
          <a:solidFill>
            <a:srgbClr val="E8EEFF"/>
          </a:solidFill>
          <a:ln w="12700">
            <a:solidFill>
              <a:srgbClr val="CADCFC"/>
            </a:solidFill>
            <a:prstDash val="solid"/>
          </a:ln>
        </p:spPr>
      </p:sp>
      <p:sp>
        <p:nvSpPr>
          <p:cNvPr id="8" name="Shape 4"/>
          <p:cNvSpPr/>
          <p:nvPr/>
        </p:nvSpPr>
        <p:spPr>
          <a:xfrm>
            <a:off x="457200" y="4005072"/>
            <a:ext cx="2140428" cy="201168"/>
          </a:xfrm>
          <a:prstGeom prst="rect">
            <a:avLst/>
          </a:prstGeom>
          <a:solidFill>
            <a:srgbClr val="00A8E8"/>
          </a:solidFill>
          <a:ln w="12700">
            <a:solidFill>
              <a:srgbClr val="00A8E8"/>
            </a:solidFill>
            <a:prstDash val="solid"/>
          </a:ln>
        </p:spPr>
      </p:sp>
      <p:sp>
        <p:nvSpPr>
          <p:cNvPr id="9" name="Text 5"/>
          <p:cNvSpPr/>
          <p:nvPr/>
        </p:nvSpPr>
        <p:spPr>
          <a:xfrm>
            <a:off x="5650992" y="4005072"/>
            <a:ext cx="548640" cy="201168"/>
          </a:xfrm>
          <a:prstGeom prst="rect">
            <a:avLst/>
          </a:prstGeom>
          <a:noFill/>
          <a:ln/>
        </p:spPr>
        <p:txBody>
          <a:bodyPr wrap="square" lIns="0" tIns="0" rIns="0" bIns="0" rtlCol="0" anchor="ctr"/>
          <a:lstStyle/>
          <a:p>
            <a:pPr marL="0" indent="0" algn="r">
              <a:buNone/>
            </a:pPr>
            <a:r>
              <a:rPr lang="en-US" sz="950" b="1" dirty="0">
                <a:solidFill>
                  <a:srgbClr val="1E2761"/>
                </a:solidFill>
              </a:rPr>
              <a:t>41.8%</a:t>
            </a:r>
            <a:endParaRPr lang="en-US" sz="950" dirty="0"/>
          </a:p>
        </p:txBody>
      </p:sp>
      <p:sp>
        <p:nvSpPr>
          <p:cNvPr id="10" name="Text 6"/>
          <p:cNvSpPr/>
          <p:nvPr/>
        </p:nvSpPr>
        <p:spPr>
          <a:xfrm>
            <a:off x="6263640" y="4005072"/>
            <a:ext cx="2468880" cy="201168"/>
          </a:xfrm>
          <a:prstGeom prst="rect">
            <a:avLst/>
          </a:prstGeom>
          <a:noFill/>
          <a:ln/>
        </p:spPr>
        <p:txBody>
          <a:bodyPr wrap="square" lIns="0" tIns="0" rIns="0" bIns="0" rtlCol="0" anchor="ctr"/>
          <a:lstStyle/>
          <a:p>
            <a:pPr marL="0" indent="0">
              <a:buNone/>
            </a:pPr>
            <a:r>
              <a:rPr lang="en-US" sz="950" dirty="0">
                <a:solidFill>
                  <a:srgbClr val="1E2761"/>
                </a:solidFill>
              </a:rPr>
              <a:t>Matériel         — 573 000 FCFA</a:t>
            </a:r>
            <a:endParaRPr lang="en-US" sz="950" dirty="0"/>
          </a:p>
        </p:txBody>
      </p:sp>
      <p:sp>
        <p:nvSpPr>
          <p:cNvPr id="11" name="Shape 7"/>
          <p:cNvSpPr/>
          <p:nvPr/>
        </p:nvSpPr>
        <p:spPr>
          <a:xfrm>
            <a:off x="457200" y="4261104"/>
            <a:ext cx="5120640" cy="201168"/>
          </a:xfrm>
          <a:prstGeom prst="rect">
            <a:avLst/>
          </a:prstGeom>
          <a:solidFill>
            <a:srgbClr val="E8EEFF"/>
          </a:solidFill>
          <a:ln w="12700">
            <a:solidFill>
              <a:srgbClr val="CADCFC"/>
            </a:solidFill>
            <a:prstDash val="solid"/>
          </a:ln>
        </p:spPr>
      </p:sp>
      <p:sp>
        <p:nvSpPr>
          <p:cNvPr id="12" name="Shape 8"/>
          <p:cNvSpPr/>
          <p:nvPr/>
        </p:nvSpPr>
        <p:spPr>
          <a:xfrm>
            <a:off x="457199" y="4261104"/>
            <a:ext cx="2945219" cy="201168"/>
          </a:xfrm>
          <a:prstGeom prst="rect">
            <a:avLst/>
          </a:prstGeom>
          <a:solidFill>
            <a:srgbClr val="6C3FC7"/>
          </a:solidFill>
          <a:ln w="12700">
            <a:solidFill>
              <a:srgbClr val="6C3FC7"/>
            </a:solidFill>
            <a:prstDash val="solid"/>
          </a:ln>
        </p:spPr>
      </p:sp>
      <p:sp>
        <p:nvSpPr>
          <p:cNvPr id="13" name="Text 9"/>
          <p:cNvSpPr/>
          <p:nvPr/>
        </p:nvSpPr>
        <p:spPr>
          <a:xfrm>
            <a:off x="5650992" y="4261104"/>
            <a:ext cx="548640" cy="201168"/>
          </a:xfrm>
          <a:prstGeom prst="rect">
            <a:avLst/>
          </a:prstGeom>
          <a:noFill/>
          <a:ln/>
        </p:spPr>
        <p:txBody>
          <a:bodyPr wrap="square" lIns="0" tIns="0" rIns="0" bIns="0" rtlCol="0" anchor="ctr"/>
          <a:lstStyle/>
          <a:p>
            <a:pPr marL="0" indent="0" algn="r">
              <a:buNone/>
            </a:pPr>
            <a:r>
              <a:rPr lang="en-US" sz="950" b="1" dirty="0">
                <a:solidFill>
                  <a:srgbClr val="1E2761"/>
                </a:solidFill>
              </a:rPr>
              <a:t>53.4%</a:t>
            </a:r>
            <a:endParaRPr lang="en-US" sz="950" dirty="0"/>
          </a:p>
        </p:txBody>
      </p:sp>
      <p:sp>
        <p:nvSpPr>
          <p:cNvPr id="14" name="Text 10"/>
          <p:cNvSpPr/>
          <p:nvPr/>
        </p:nvSpPr>
        <p:spPr>
          <a:xfrm>
            <a:off x="6263640" y="4261104"/>
            <a:ext cx="2468880" cy="201168"/>
          </a:xfrm>
          <a:prstGeom prst="rect">
            <a:avLst/>
          </a:prstGeom>
          <a:noFill/>
          <a:ln/>
        </p:spPr>
        <p:txBody>
          <a:bodyPr wrap="square" lIns="0" tIns="0" rIns="0" bIns="0" rtlCol="0" anchor="ctr"/>
          <a:lstStyle/>
          <a:p>
            <a:pPr marL="0" indent="0">
              <a:buNone/>
            </a:pPr>
            <a:r>
              <a:rPr lang="en-US" sz="950" dirty="0">
                <a:solidFill>
                  <a:srgbClr val="1E2761"/>
                </a:solidFill>
              </a:rPr>
              <a:t>Ressources hum. — 732 000 FCFA</a:t>
            </a:r>
            <a:endParaRPr lang="en-US" sz="950" dirty="0"/>
          </a:p>
        </p:txBody>
      </p:sp>
      <p:sp>
        <p:nvSpPr>
          <p:cNvPr id="15" name="Shape 11"/>
          <p:cNvSpPr/>
          <p:nvPr/>
        </p:nvSpPr>
        <p:spPr>
          <a:xfrm>
            <a:off x="457200" y="4517136"/>
            <a:ext cx="5120640" cy="201168"/>
          </a:xfrm>
          <a:prstGeom prst="rect">
            <a:avLst/>
          </a:prstGeom>
          <a:solidFill>
            <a:srgbClr val="E8EEFF"/>
          </a:solidFill>
          <a:ln w="12700">
            <a:solidFill>
              <a:srgbClr val="CADCFC"/>
            </a:solidFill>
            <a:prstDash val="solid"/>
          </a:ln>
        </p:spPr>
      </p:sp>
      <p:sp>
        <p:nvSpPr>
          <p:cNvPr id="5" name="Text 12"/>
          <p:cNvSpPr/>
          <p:nvPr/>
        </p:nvSpPr>
        <p:spPr>
          <a:xfrm>
            <a:off x="5650992" y="4517136"/>
            <a:ext cx="548640" cy="201168"/>
          </a:xfrm>
          <a:prstGeom prst="rect">
            <a:avLst/>
          </a:prstGeom>
          <a:noFill/>
          <a:ln/>
        </p:spPr>
        <p:txBody>
          <a:bodyPr wrap="square" lIns="0" tIns="0" rIns="0" bIns="0" rtlCol="0" anchor="ctr"/>
          <a:lstStyle/>
          <a:p>
            <a:pPr marL="0" indent="0" algn="r">
              <a:buNone/>
            </a:pPr>
            <a:r>
              <a:rPr lang="en-US" sz="950" b="1" dirty="0">
                <a:solidFill>
                  <a:srgbClr val="1E2761"/>
                </a:solidFill>
              </a:rPr>
              <a:t>0%</a:t>
            </a:r>
            <a:endParaRPr lang="en-US" sz="950" dirty="0"/>
          </a:p>
        </p:txBody>
      </p:sp>
      <p:sp>
        <p:nvSpPr>
          <p:cNvPr id="17" name="Text 13"/>
          <p:cNvSpPr/>
          <p:nvPr/>
        </p:nvSpPr>
        <p:spPr>
          <a:xfrm>
            <a:off x="6263640" y="4517136"/>
            <a:ext cx="2468880" cy="201168"/>
          </a:xfrm>
          <a:prstGeom prst="rect">
            <a:avLst/>
          </a:prstGeom>
          <a:noFill/>
          <a:ln/>
        </p:spPr>
        <p:txBody>
          <a:bodyPr wrap="square" lIns="0" tIns="0" rIns="0" bIns="0" rtlCol="0" anchor="ctr"/>
          <a:lstStyle/>
          <a:p>
            <a:pPr marL="0" indent="0">
              <a:buNone/>
            </a:pPr>
            <a:r>
              <a:rPr lang="en-US" sz="950" dirty="0">
                <a:solidFill>
                  <a:srgbClr val="1E2761"/>
                </a:solidFill>
              </a:rPr>
              <a:t>Logiciels        — 0 FCFA</a:t>
            </a:r>
            <a:endParaRPr lang="en-US" sz="950" dirty="0"/>
          </a:p>
        </p:txBody>
      </p:sp>
      <p:sp>
        <p:nvSpPr>
          <p:cNvPr id="18" name="Shape 14"/>
          <p:cNvSpPr/>
          <p:nvPr/>
        </p:nvSpPr>
        <p:spPr>
          <a:xfrm>
            <a:off x="457200" y="4773168"/>
            <a:ext cx="5120640" cy="201168"/>
          </a:xfrm>
          <a:prstGeom prst="rect">
            <a:avLst/>
          </a:prstGeom>
          <a:solidFill>
            <a:srgbClr val="E8EEFF"/>
          </a:solidFill>
          <a:ln w="12700">
            <a:solidFill>
              <a:srgbClr val="CADCFC"/>
            </a:solidFill>
            <a:prstDash val="solid"/>
          </a:ln>
        </p:spPr>
      </p:sp>
      <p:sp>
        <p:nvSpPr>
          <p:cNvPr id="19" name="Shape 15"/>
          <p:cNvSpPr/>
          <p:nvPr/>
        </p:nvSpPr>
        <p:spPr>
          <a:xfrm>
            <a:off x="457200" y="4773168"/>
            <a:ext cx="245791" cy="201168"/>
          </a:xfrm>
          <a:prstGeom prst="rect">
            <a:avLst/>
          </a:prstGeom>
          <a:solidFill>
            <a:srgbClr val="F5A623"/>
          </a:solidFill>
          <a:ln w="12700">
            <a:solidFill>
              <a:srgbClr val="F5A623"/>
            </a:solidFill>
            <a:prstDash val="solid"/>
          </a:ln>
        </p:spPr>
      </p:sp>
      <p:sp>
        <p:nvSpPr>
          <p:cNvPr id="20" name="Text 16"/>
          <p:cNvSpPr/>
          <p:nvPr/>
        </p:nvSpPr>
        <p:spPr>
          <a:xfrm>
            <a:off x="5650992" y="4773168"/>
            <a:ext cx="548640" cy="201168"/>
          </a:xfrm>
          <a:prstGeom prst="rect">
            <a:avLst/>
          </a:prstGeom>
          <a:noFill/>
          <a:ln/>
        </p:spPr>
        <p:txBody>
          <a:bodyPr wrap="square" lIns="0" tIns="0" rIns="0" bIns="0" rtlCol="0" anchor="ctr"/>
          <a:lstStyle/>
          <a:p>
            <a:pPr marL="0" indent="0" algn="r">
              <a:buNone/>
            </a:pPr>
            <a:r>
              <a:rPr lang="en-US" sz="950" b="1" dirty="0">
                <a:solidFill>
                  <a:srgbClr val="1E2761"/>
                </a:solidFill>
              </a:rPr>
              <a:t>4.8%</a:t>
            </a:r>
            <a:endParaRPr lang="en-US" sz="950" dirty="0"/>
          </a:p>
        </p:txBody>
      </p:sp>
      <p:sp>
        <p:nvSpPr>
          <p:cNvPr id="21" name="Text 17"/>
          <p:cNvSpPr/>
          <p:nvPr/>
        </p:nvSpPr>
        <p:spPr>
          <a:xfrm>
            <a:off x="6263640" y="4773168"/>
            <a:ext cx="2468880" cy="201168"/>
          </a:xfrm>
          <a:prstGeom prst="rect">
            <a:avLst/>
          </a:prstGeom>
          <a:noFill/>
          <a:ln/>
        </p:spPr>
        <p:txBody>
          <a:bodyPr wrap="square" lIns="0" tIns="0" rIns="0" bIns="0" rtlCol="0" anchor="ctr"/>
          <a:lstStyle/>
          <a:p>
            <a:pPr marL="0" indent="0">
              <a:buNone/>
            </a:pPr>
            <a:r>
              <a:rPr lang="en-US" sz="950" dirty="0">
                <a:solidFill>
                  <a:srgbClr val="1E2761"/>
                </a:solidFill>
              </a:rPr>
              <a:t>Imprévus (5%)    — 65 250 FCFA</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w="12700">
            <a:solidFill>
              <a:srgbClr val="1E2761"/>
            </a:solidFill>
            <a:prstDash val="solid"/>
          </a:ln>
        </p:spPr>
      </p:sp>
      <p:pic>
        <p:nvPicPr>
          <p:cNvPr id="3" name="Image 0" descr="preencoded.png"/>
          <p:cNvPicPr>
            <a:picLocks noChangeAspect="1"/>
          </p:cNvPicPr>
          <p:nvPr/>
        </p:nvPicPr>
        <p:blipFill>
          <a:blip r:embed="rId3"/>
          <a:stretch>
            <a:fillRect/>
          </a:stretch>
        </p:blipFill>
        <p:spPr>
          <a:xfrm>
            <a:off x="320040" y="182880"/>
            <a:ext cx="502920" cy="502920"/>
          </a:xfrm>
          <a:prstGeom prst="rect">
            <a:avLst/>
          </a:prstGeom>
        </p:spPr>
      </p:pic>
      <p:sp>
        <p:nvSpPr>
          <p:cNvPr id="4" name="Text 1"/>
          <p:cNvSpPr/>
          <p:nvPr/>
        </p:nvSpPr>
        <p:spPr>
          <a:xfrm>
            <a:off x="960120" y="137160"/>
            <a:ext cx="7772400" cy="640080"/>
          </a:xfrm>
          <a:prstGeom prst="rect">
            <a:avLst/>
          </a:prstGeom>
          <a:noFill/>
          <a:ln/>
        </p:spPr>
        <p:txBody>
          <a:bodyPr wrap="square" lIns="0" tIns="0" rIns="0" bIns="0" rtlCol="0" anchor="ctr"/>
          <a:lstStyle/>
          <a:p>
            <a:pPr marL="0" indent="0">
              <a:buNone/>
            </a:pPr>
            <a:r>
              <a:rPr lang="en-US" sz="2100" b="1">
                <a:solidFill>
                  <a:srgbClr val="FFFFFF"/>
                </a:solidFill>
              </a:rPr>
              <a:t>06 </a:t>
            </a:r>
            <a:r>
              <a:rPr lang="en-US" sz="2100" b="1" dirty="0">
                <a:solidFill>
                  <a:srgbClr val="FFFFFF"/>
                </a:solidFill>
              </a:rPr>
              <a:t>· Livrables Attendus</a:t>
            </a:r>
            <a:endParaRPr lang="en-US" sz="2100" dirty="0"/>
          </a:p>
        </p:txBody>
      </p:sp>
      <p:sp>
        <p:nvSpPr>
          <p:cNvPr id="5" name="Shape 2"/>
          <p:cNvSpPr/>
          <p:nvPr/>
        </p:nvSpPr>
        <p:spPr>
          <a:xfrm>
            <a:off x="320040" y="1024128"/>
            <a:ext cx="4069080" cy="1417320"/>
          </a:xfrm>
          <a:prstGeom prst="rect">
            <a:avLst/>
          </a:prstGeom>
          <a:solidFill>
            <a:srgbClr val="FFFFFF"/>
          </a:solidFill>
          <a:ln w="25400">
            <a:solidFill>
              <a:srgbClr val="00A8E8"/>
            </a:solidFill>
            <a:prstDash val="solid"/>
          </a:ln>
          <a:effectLst>
            <a:outerShdw blurRad="101600" dist="38100" dir="8100000" algn="bl" rotWithShape="0">
              <a:srgbClr val="000000">
                <a:alpha val="12000"/>
              </a:srgbClr>
            </a:outerShdw>
          </a:effectLst>
        </p:spPr>
      </p:sp>
      <p:sp>
        <p:nvSpPr>
          <p:cNvPr id="6" name="Shape 3"/>
          <p:cNvSpPr/>
          <p:nvPr/>
        </p:nvSpPr>
        <p:spPr>
          <a:xfrm>
            <a:off x="320040" y="1024128"/>
            <a:ext cx="502920" cy="1417320"/>
          </a:xfrm>
          <a:prstGeom prst="rect">
            <a:avLst/>
          </a:prstGeom>
          <a:solidFill>
            <a:srgbClr val="00A8E8"/>
          </a:solidFill>
          <a:ln w="12700">
            <a:solidFill>
              <a:srgbClr val="00A8E8"/>
            </a:solidFill>
            <a:prstDash val="solid"/>
          </a:ln>
        </p:spPr>
      </p:sp>
      <p:sp>
        <p:nvSpPr>
          <p:cNvPr id="7" name="Text 4"/>
          <p:cNvSpPr/>
          <p:nvPr/>
        </p:nvSpPr>
        <p:spPr>
          <a:xfrm>
            <a:off x="320040" y="102412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L1</a:t>
            </a:r>
            <a:endParaRPr lang="en-US" sz="1400" dirty="0"/>
          </a:p>
        </p:txBody>
      </p:sp>
      <p:sp>
        <p:nvSpPr>
          <p:cNvPr id="8" name="Text 5"/>
          <p:cNvSpPr/>
          <p:nvPr/>
        </p:nvSpPr>
        <p:spPr>
          <a:xfrm>
            <a:off x="914400" y="111556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Cahier des Charges</a:t>
            </a:r>
            <a:endParaRPr lang="en-US" sz="1200" dirty="0"/>
          </a:p>
        </p:txBody>
      </p:sp>
      <p:sp>
        <p:nvSpPr>
          <p:cNvPr id="9" name="Shape 6"/>
          <p:cNvSpPr/>
          <p:nvPr/>
        </p:nvSpPr>
        <p:spPr>
          <a:xfrm>
            <a:off x="914400" y="1481328"/>
            <a:ext cx="3337560" cy="10973"/>
          </a:xfrm>
          <a:prstGeom prst="rect">
            <a:avLst/>
          </a:prstGeom>
          <a:solidFill>
            <a:srgbClr val="CADCFC"/>
          </a:solidFill>
          <a:ln w="12700">
            <a:solidFill>
              <a:srgbClr val="CADCFC"/>
            </a:solidFill>
            <a:prstDash val="solid"/>
          </a:ln>
        </p:spPr>
      </p:sp>
      <p:sp>
        <p:nvSpPr>
          <p:cNvPr id="10" name="Text 7"/>
          <p:cNvSpPr/>
          <p:nvPr/>
        </p:nvSpPr>
        <p:spPr>
          <a:xfrm>
            <a:off x="914400" y="1527048"/>
            <a:ext cx="3337560" cy="795528"/>
          </a:xfrm>
          <a:prstGeom prst="rect">
            <a:avLst/>
          </a:prstGeom>
          <a:noFill/>
          <a:ln/>
        </p:spPr>
        <p:txBody>
          <a:bodyPr wrap="square" rtlCol="0" anchor="t"/>
          <a:lstStyle/>
          <a:p>
            <a:pPr marL="0" indent="0">
              <a:buNone/>
            </a:pPr>
            <a:r>
              <a:rPr lang="en-US" sz="950" dirty="0">
                <a:solidFill>
                  <a:srgbClr val="2A2A4A"/>
                </a:solidFill>
              </a:rPr>
              <a:t>Document définissant le périmètre, les fonctionnalités, les spécificités, les opérations, la planification et la budgétisation du projet.</a:t>
            </a:r>
            <a:endParaRPr lang="en-US" sz="950" dirty="0"/>
          </a:p>
        </p:txBody>
      </p:sp>
      <p:sp>
        <p:nvSpPr>
          <p:cNvPr id="11" name="Shape 8"/>
          <p:cNvSpPr/>
          <p:nvPr/>
        </p:nvSpPr>
        <p:spPr>
          <a:xfrm>
            <a:off x="4617720" y="1024128"/>
            <a:ext cx="4069080" cy="1417320"/>
          </a:xfrm>
          <a:prstGeom prst="rect">
            <a:avLst/>
          </a:prstGeom>
          <a:solidFill>
            <a:srgbClr val="FFFFFF"/>
          </a:solidFill>
          <a:ln w="25400">
            <a:solidFill>
              <a:srgbClr val="6C3FC7"/>
            </a:solidFill>
            <a:prstDash val="solid"/>
          </a:ln>
          <a:effectLst>
            <a:outerShdw blurRad="101600" dist="38100" dir="8100000" algn="bl" rotWithShape="0">
              <a:srgbClr val="000000">
                <a:alpha val="12000"/>
              </a:srgbClr>
            </a:outerShdw>
          </a:effectLst>
        </p:spPr>
      </p:sp>
      <p:sp>
        <p:nvSpPr>
          <p:cNvPr id="12" name="Shape 9"/>
          <p:cNvSpPr/>
          <p:nvPr/>
        </p:nvSpPr>
        <p:spPr>
          <a:xfrm>
            <a:off x="4617720" y="1024128"/>
            <a:ext cx="502920" cy="1417320"/>
          </a:xfrm>
          <a:prstGeom prst="rect">
            <a:avLst/>
          </a:prstGeom>
          <a:solidFill>
            <a:srgbClr val="6C3FC7"/>
          </a:solidFill>
          <a:ln w="12700">
            <a:solidFill>
              <a:srgbClr val="6C3FC7"/>
            </a:solidFill>
            <a:prstDash val="solid"/>
          </a:ln>
        </p:spPr>
      </p:sp>
      <p:sp>
        <p:nvSpPr>
          <p:cNvPr id="13" name="Text 10"/>
          <p:cNvSpPr/>
          <p:nvPr/>
        </p:nvSpPr>
        <p:spPr>
          <a:xfrm>
            <a:off x="4617720" y="102412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L2</a:t>
            </a:r>
            <a:endParaRPr lang="en-US" sz="1400" dirty="0"/>
          </a:p>
        </p:txBody>
      </p:sp>
      <p:sp>
        <p:nvSpPr>
          <p:cNvPr id="14" name="Text 11"/>
          <p:cNvSpPr/>
          <p:nvPr/>
        </p:nvSpPr>
        <p:spPr>
          <a:xfrm>
            <a:off x="5212080" y="111556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Dossier d'Analyse</a:t>
            </a:r>
            <a:endParaRPr lang="en-US" sz="1200" dirty="0"/>
          </a:p>
        </p:txBody>
      </p:sp>
      <p:sp>
        <p:nvSpPr>
          <p:cNvPr id="15" name="Shape 12"/>
          <p:cNvSpPr/>
          <p:nvPr/>
        </p:nvSpPr>
        <p:spPr>
          <a:xfrm>
            <a:off x="5212080" y="1481328"/>
            <a:ext cx="3337560" cy="10973"/>
          </a:xfrm>
          <a:prstGeom prst="rect">
            <a:avLst/>
          </a:prstGeom>
          <a:solidFill>
            <a:srgbClr val="CADCFC"/>
          </a:solidFill>
          <a:ln w="12700">
            <a:solidFill>
              <a:srgbClr val="CADCFC"/>
            </a:solidFill>
            <a:prstDash val="solid"/>
          </a:ln>
        </p:spPr>
      </p:sp>
      <p:sp>
        <p:nvSpPr>
          <p:cNvPr id="16" name="Text 13"/>
          <p:cNvSpPr/>
          <p:nvPr/>
        </p:nvSpPr>
        <p:spPr>
          <a:xfrm>
            <a:off x="5212080" y="1527048"/>
            <a:ext cx="3337560" cy="795528"/>
          </a:xfrm>
          <a:prstGeom prst="rect">
            <a:avLst/>
          </a:prstGeom>
          <a:noFill/>
          <a:ln/>
        </p:spPr>
        <p:txBody>
          <a:bodyPr wrap="square" rtlCol="0" anchor="t"/>
          <a:lstStyle/>
          <a:p>
            <a:pPr marL="0" indent="0">
              <a:buNone/>
            </a:pPr>
            <a:r>
              <a:rPr lang="en-US" sz="950" dirty="0">
                <a:solidFill>
                  <a:srgbClr val="2A2A4A"/>
                </a:solidFill>
              </a:rPr>
              <a:t>Analyse des besoins fonctionnels et non fonctionnels, étude de l'existant, modélisation des cas d'utilisation (use cases), glossaire.</a:t>
            </a:r>
            <a:endParaRPr lang="en-US" sz="950" dirty="0"/>
          </a:p>
        </p:txBody>
      </p:sp>
      <p:sp>
        <p:nvSpPr>
          <p:cNvPr id="17" name="Shape 14"/>
          <p:cNvSpPr/>
          <p:nvPr/>
        </p:nvSpPr>
        <p:spPr>
          <a:xfrm>
            <a:off x="320040" y="2578608"/>
            <a:ext cx="4069080" cy="1417320"/>
          </a:xfrm>
          <a:prstGeom prst="rect">
            <a:avLst/>
          </a:prstGeom>
          <a:solidFill>
            <a:srgbClr val="FFFFFF"/>
          </a:solidFill>
          <a:ln w="25400">
            <a:solidFill>
              <a:srgbClr val="00C9A7"/>
            </a:solidFill>
            <a:prstDash val="solid"/>
          </a:ln>
          <a:effectLst>
            <a:outerShdw blurRad="101600" dist="38100" dir="8100000" algn="bl" rotWithShape="0">
              <a:srgbClr val="000000">
                <a:alpha val="12000"/>
              </a:srgbClr>
            </a:outerShdw>
          </a:effectLst>
        </p:spPr>
      </p:sp>
      <p:sp>
        <p:nvSpPr>
          <p:cNvPr id="18" name="Shape 15"/>
          <p:cNvSpPr/>
          <p:nvPr/>
        </p:nvSpPr>
        <p:spPr>
          <a:xfrm>
            <a:off x="320040" y="2578608"/>
            <a:ext cx="502920" cy="1417320"/>
          </a:xfrm>
          <a:prstGeom prst="rect">
            <a:avLst/>
          </a:prstGeom>
          <a:solidFill>
            <a:srgbClr val="00C9A7"/>
          </a:solidFill>
          <a:ln w="12700">
            <a:solidFill>
              <a:srgbClr val="00C9A7"/>
            </a:solidFill>
            <a:prstDash val="solid"/>
          </a:ln>
        </p:spPr>
      </p:sp>
      <p:sp>
        <p:nvSpPr>
          <p:cNvPr id="19" name="Text 16"/>
          <p:cNvSpPr/>
          <p:nvPr/>
        </p:nvSpPr>
        <p:spPr>
          <a:xfrm>
            <a:off x="320040" y="257860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L3</a:t>
            </a:r>
            <a:endParaRPr lang="en-US" sz="1400" dirty="0"/>
          </a:p>
        </p:txBody>
      </p:sp>
      <p:sp>
        <p:nvSpPr>
          <p:cNvPr id="20" name="Text 17"/>
          <p:cNvSpPr/>
          <p:nvPr/>
        </p:nvSpPr>
        <p:spPr>
          <a:xfrm>
            <a:off x="914400" y="267004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Dossier de Conception</a:t>
            </a:r>
            <a:endParaRPr lang="en-US" sz="1200" dirty="0"/>
          </a:p>
        </p:txBody>
      </p:sp>
      <p:sp>
        <p:nvSpPr>
          <p:cNvPr id="21" name="Shape 18"/>
          <p:cNvSpPr/>
          <p:nvPr/>
        </p:nvSpPr>
        <p:spPr>
          <a:xfrm>
            <a:off x="914400" y="3035808"/>
            <a:ext cx="3337560" cy="10973"/>
          </a:xfrm>
          <a:prstGeom prst="rect">
            <a:avLst/>
          </a:prstGeom>
          <a:solidFill>
            <a:srgbClr val="CADCFC"/>
          </a:solidFill>
          <a:ln w="12700">
            <a:solidFill>
              <a:srgbClr val="CADCFC"/>
            </a:solidFill>
            <a:prstDash val="solid"/>
          </a:ln>
        </p:spPr>
      </p:sp>
      <p:sp>
        <p:nvSpPr>
          <p:cNvPr id="22" name="Text 19"/>
          <p:cNvSpPr/>
          <p:nvPr/>
        </p:nvSpPr>
        <p:spPr>
          <a:xfrm>
            <a:off x="914400" y="3081528"/>
            <a:ext cx="3337560" cy="795528"/>
          </a:xfrm>
          <a:prstGeom prst="rect">
            <a:avLst/>
          </a:prstGeom>
          <a:noFill/>
          <a:ln/>
        </p:spPr>
        <p:txBody>
          <a:bodyPr wrap="square" rtlCol="0" anchor="t"/>
          <a:lstStyle/>
          <a:p>
            <a:pPr marL="0" indent="0">
              <a:buNone/>
            </a:pPr>
            <a:r>
              <a:rPr lang="en-US" sz="950" dirty="0">
                <a:solidFill>
                  <a:srgbClr val="2A2A4A"/>
                </a:solidFill>
              </a:rPr>
              <a:t>Architecture technique détaillée, modèles de données (MCD/MLD), diagrammes de classes, de séquences et flux de traitement.</a:t>
            </a:r>
            <a:endParaRPr lang="en-US" sz="950" dirty="0"/>
          </a:p>
        </p:txBody>
      </p:sp>
      <p:sp>
        <p:nvSpPr>
          <p:cNvPr id="23" name="Shape 20"/>
          <p:cNvSpPr/>
          <p:nvPr/>
        </p:nvSpPr>
        <p:spPr>
          <a:xfrm>
            <a:off x="4617720" y="2578608"/>
            <a:ext cx="4069080" cy="1417320"/>
          </a:xfrm>
          <a:prstGeom prst="rect">
            <a:avLst/>
          </a:prstGeom>
          <a:solidFill>
            <a:srgbClr val="FFFFFF"/>
          </a:solidFill>
          <a:ln w="25400">
            <a:solidFill>
              <a:srgbClr val="F5A623"/>
            </a:solidFill>
            <a:prstDash val="solid"/>
          </a:ln>
          <a:effectLst>
            <a:outerShdw blurRad="101600" dist="38100" dir="8100000" algn="bl" rotWithShape="0">
              <a:srgbClr val="000000">
                <a:alpha val="12000"/>
              </a:srgbClr>
            </a:outerShdw>
          </a:effectLst>
        </p:spPr>
      </p:sp>
      <p:sp>
        <p:nvSpPr>
          <p:cNvPr id="24" name="Shape 21"/>
          <p:cNvSpPr/>
          <p:nvPr/>
        </p:nvSpPr>
        <p:spPr>
          <a:xfrm>
            <a:off x="4617720" y="2578608"/>
            <a:ext cx="502920" cy="1417320"/>
          </a:xfrm>
          <a:prstGeom prst="rect">
            <a:avLst/>
          </a:prstGeom>
          <a:solidFill>
            <a:srgbClr val="F5A623"/>
          </a:solidFill>
          <a:ln w="12700">
            <a:solidFill>
              <a:srgbClr val="F5A623"/>
            </a:solidFill>
            <a:prstDash val="solid"/>
          </a:ln>
        </p:spPr>
      </p:sp>
      <p:sp>
        <p:nvSpPr>
          <p:cNvPr id="25" name="Text 22"/>
          <p:cNvSpPr/>
          <p:nvPr/>
        </p:nvSpPr>
        <p:spPr>
          <a:xfrm>
            <a:off x="4617720" y="257860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L4</a:t>
            </a:r>
            <a:endParaRPr lang="en-US" sz="1400" dirty="0"/>
          </a:p>
        </p:txBody>
      </p:sp>
      <p:sp>
        <p:nvSpPr>
          <p:cNvPr id="26" name="Text 23"/>
          <p:cNvSpPr/>
          <p:nvPr/>
        </p:nvSpPr>
        <p:spPr>
          <a:xfrm>
            <a:off x="5212080" y="267004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Dossier de Réalisation</a:t>
            </a:r>
            <a:endParaRPr lang="en-US" sz="1200" dirty="0"/>
          </a:p>
        </p:txBody>
      </p:sp>
      <p:sp>
        <p:nvSpPr>
          <p:cNvPr id="27" name="Shape 24"/>
          <p:cNvSpPr/>
          <p:nvPr/>
        </p:nvSpPr>
        <p:spPr>
          <a:xfrm>
            <a:off x="5212080" y="3035808"/>
            <a:ext cx="3337560" cy="10973"/>
          </a:xfrm>
          <a:prstGeom prst="rect">
            <a:avLst/>
          </a:prstGeom>
          <a:solidFill>
            <a:srgbClr val="CADCFC"/>
          </a:solidFill>
          <a:ln w="12700">
            <a:solidFill>
              <a:srgbClr val="CADCFC"/>
            </a:solidFill>
            <a:prstDash val="solid"/>
          </a:ln>
        </p:spPr>
      </p:sp>
      <p:sp>
        <p:nvSpPr>
          <p:cNvPr id="28" name="Text 25"/>
          <p:cNvSpPr/>
          <p:nvPr/>
        </p:nvSpPr>
        <p:spPr>
          <a:xfrm>
            <a:off x="5212080" y="3081528"/>
            <a:ext cx="3337560" cy="795528"/>
          </a:xfrm>
          <a:prstGeom prst="rect">
            <a:avLst/>
          </a:prstGeom>
          <a:noFill/>
          <a:ln/>
        </p:spPr>
        <p:txBody>
          <a:bodyPr wrap="square" rtlCol="0" anchor="t"/>
          <a:lstStyle/>
          <a:p>
            <a:pPr marL="0" indent="0">
              <a:buNone/>
            </a:pPr>
            <a:r>
              <a:rPr lang="en-US" sz="950" dirty="0">
                <a:solidFill>
                  <a:srgbClr val="2A2A4A"/>
                </a:solidFill>
              </a:rPr>
              <a:t>Code source complet et commenté, tests unitaires et d'intégration, procédures de test du module attaque/défense avec résultats.</a:t>
            </a:r>
            <a:endParaRPr lang="en-US" sz="950" dirty="0"/>
          </a:p>
        </p:txBody>
      </p:sp>
      <p:sp>
        <p:nvSpPr>
          <p:cNvPr id="29" name="Shape 26"/>
          <p:cNvSpPr/>
          <p:nvPr/>
        </p:nvSpPr>
        <p:spPr>
          <a:xfrm>
            <a:off x="320040" y="4133088"/>
            <a:ext cx="4069080" cy="1417320"/>
          </a:xfrm>
          <a:prstGeom prst="rect">
            <a:avLst/>
          </a:prstGeom>
          <a:solidFill>
            <a:srgbClr val="FFFFFF"/>
          </a:solidFill>
          <a:ln w="25400">
            <a:solidFill>
              <a:srgbClr val="007755"/>
            </a:solidFill>
            <a:prstDash val="solid"/>
          </a:ln>
          <a:effectLst>
            <a:outerShdw blurRad="101600" dist="38100" dir="8100000" algn="bl" rotWithShape="0">
              <a:srgbClr val="000000">
                <a:alpha val="12000"/>
              </a:srgbClr>
            </a:outerShdw>
          </a:effectLst>
        </p:spPr>
      </p:sp>
      <p:sp>
        <p:nvSpPr>
          <p:cNvPr id="30" name="Shape 27"/>
          <p:cNvSpPr/>
          <p:nvPr/>
        </p:nvSpPr>
        <p:spPr>
          <a:xfrm>
            <a:off x="320040" y="4133088"/>
            <a:ext cx="502920" cy="1417320"/>
          </a:xfrm>
          <a:prstGeom prst="rect">
            <a:avLst/>
          </a:prstGeom>
          <a:solidFill>
            <a:srgbClr val="007755"/>
          </a:solidFill>
          <a:ln w="12700">
            <a:solidFill>
              <a:srgbClr val="007755"/>
            </a:solidFill>
            <a:prstDash val="solid"/>
          </a:ln>
        </p:spPr>
      </p:sp>
      <p:sp>
        <p:nvSpPr>
          <p:cNvPr id="31" name="Text 28"/>
          <p:cNvSpPr/>
          <p:nvPr/>
        </p:nvSpPr>
        <p:spPr>
          <a:xfrm>
            <a:off x="320040" y="413308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L5</a:t>
            </a:r>
            <a:endParaRPr lang="en-US" sz="1400" dirty="0"/>
          </a:p>
        </p:txBody>
      </p:sp>
      <p:sp>
        <p:nvSpPr>
          <p:cNvPr id="32" name="Text 29"/>
          <p:cNvSpPr/>
          <p:nvPr/>
        </p:nvSpPr>
        <p:spPr>
          <a:xfrm>
            <a:off x="914400" y="422452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Dossier de Déploiement</a:t>
            </a:r>
            <a:endParaRPr lang="en-US" sz="1200" dirty="0"/>
          </a:p>
        </p:txBody>
      </p:sp>
      <p:sp>
        <p:nvSpPr>
          <p:cNvPr id="33" name="Shape 30"/>
          <p:cNvSpPr/>
          <p:nvPr/>
        </p:nvSpPr>
        <p:spPr>
          <a:xfrm>
            <a:off x="914400" y="4590288"/>
            <a:ext cx="3337560" cy="10973"/>
          </a:xfrm>
          <a:prstGeom prst="rect">
            <a:avLst/>
          </a:prstGeom>
          <a:solidFill>
            <a:srgbClr val="CADCFC"/>
          </a:solidFill>
          <a:ln w="12700">
            <a:solidFill>
              <a:srgbClr val="CADCFC"/>
            </a:solidFill>
            <a:prstDash val="solid"/>
          </a:ln>
        </p:spPr>
      </p:sp>
      <p:sp>
        <p:nvSpPr>
          <p:cNvPr id="34" name="Text 31"/>
          <p:cNvSpPr/>
          <p:nvPr/>
        </p:nvSpPr>
        <p:spPr>
          <a:xfrm>
            <a:off x="914400" y="4636008"/>
            <a:ext cx="3337560" cy="795528"/>
          </a:xfrm>
          <a:prstGeom prst="rect">
            <a:avLst/>
          </a:prstGeom>
          <a:noFill/>
          <a:ln/>
        </p:spPr>
        <p:txBody>
          <a:bodyPr wrap="square" rtlCol="0" anchor="t"/>
          <a:lstStyle/>
          <a:p>
            <a:pPr marL="0" indent="0">
              <a:buNone/>
            </a:pPr>
            <a:r>
              <a:rPr lang="en-US" sz="950" dirty="0">
                <a:solidFill>
                  <a:srgbClr val="2A2A4A"/>
                </a:solidFill>
              </a:rPr>
              <a:t>Guide d'installation Ubuntu et Windows, requirements.txt validé, procédure de portage, packaging optionnel PyInstaller.</a:t>
            </a:r>
            <a:endParaRPr lang="en-US" sz="950" dirty="0"/>
          </a:p>
        </p:txBody>
      </p:sp>
      <p:sp>
        <p:nvSpPr>
          <p:cNvPr id="35" name="Shape 32"/>
          <p:cNvSpPr/>
          <p:nvPr/>
        </p:nvSpPr>
        <p:spPr>
          <a:xfrm>
            <a:off x="4617720" y="4133088"/>
            <a:ext cx="4069080" cy="1417320"/>
          </a:xfrm>
          <a:prstGeom prst="rect">
            <a:avLst/>
          </a:prstGeom>
          <a:solidFill>
            <a:srgbClr val="FFFFFF"/>
          </a:solidFill>
          <a:ln w="25400">
            <a:solidFill>
              <a:srgbClr val="1E2761"/>
            </a:solidFill>
            <a:prstDash val="solid"/>
          </a:ln>
          <a:effectLst>
            <a:outerShdw blurRad="101600" dist="38100" dir="8100000" algn="bl" rotWithShape="0">
              <a:srgbClr val="000000">
                <a:alpha val="12000"/>
              </a:srgbClr>
            </a:outerShdw>
          </a:effectLst>
        </p:spPr>
      </p:sp>
      <p:sp>
        <p:nvSpPr>
          <p:cNvPr id="36" name="Shape 33"/>
          <p:cNvSpPr/>
          <p:nvPr/>
        </p:nvSpPr>
        <p:spPr>
          <a:xfrm>
            <a:off x="4617720" y="4133088"/>
            <a:ext cx="502920" cy="1417320"/>
          </a:xfrm>
          <a:prstGeom prst="rect">
            <a:avLst/>
          </a:prstGeom>
          <a:solidFill>
            <a:srgbClr val="1E2761"/>
          </a:solidFill>
          <a:ln w="12700">
            <a:solidFill>
              <a:srgbClr val="1E2761"/>
            </a:solidFill>
            <a:prstDash val="solid"/>
          </a:ln>
        </p:spPr>
      </p:sp>
      <p:sp>
        <p:nvSpPr>
          <p:cNvPr id="37" name="Text 34"/>
          <p:cNvSpPr/>
          <p:nvPr/>
        </p:nvSpPr>
        <p:spPr>
          <a:xfrm>
            <a:off x="4617720" y="4133088"/>
            <a:ext cx="502920" cy="1417320"/>
          </a:xfrm>
          <a:prstGeom prst="rect">
            <a:avLst/>
          </a:prstGeom>
          <a:noFill/>
          <a:ln/>
        </p:spPr>
        <p:txBody>
          <a:bodyPr wrap="square" lIns="0" tIns="0" rIns="0" bIns="0" rtlCol="0" anchor="ctr"/>
          <a:lstStyle/>
          <a:p>
            <a:pPr marL="0" indent="0" algn="ctr">
              <a:buNone/>
            </a:pPr>
            <a:r>
              <a:rPr lang="en-US" sz="1400" b="1" dirty="0">
                <a:solidFill>
                  <a:srgbClr val="FFFFFF"/>
                </a:solidFill>
              </a:rPr>
              <a:t>L6</a:t>
            </a:r>
            <a:endParaRPr lang="en-US" sz="1400" dirty="0"/>
          </a:p>
        </p:txBody>
      </p:sp>
      <p:sp>
        <p:nvSpPr>
          <p:cNvPr id="38" name="Text 35"/>
          <p:cNvSpPr/>
          <p:nvPr/>
        </p:nvSpPr>
        <p:spPr>
          <a:xfrm>
            <a:off x="5212080" y="4224528"/>
            <a:ext cx="3383280" cy="347472"/>
          </a:xfrm>
          <a:prstGeom prst="rect">
            <a:avLst/>
          </a:prstGeom>
          <a:noFill/>
          <a:ln/>
        </p:spPr>
        <p:txBody>
          <a:bodyPr wrap="square" lIns="0" tIns="0" rIns="0" bIns="0" rtlCol="0" anchor="ctr"/>
          <a:lstStyle/>
          <a:p>
            <a:pPr marL="0" indent="0">
              <a:buNone/>
            </a:pPr>
            <a:r>
              <a:rPr lang="en-US" sz="1200" b="1" dirty="0">
                <a:solidFill>
                  <a:srgbClr val="1E2761"/>
                </a:solidFill>
              </a:rPr>
              <a:t>Rapport du Projet</a:t>
            </a:r>
            <a:endParaRPr lang="en-US" sz="1200" dirty="0"/>
          </a:p>
        </p:txBody>
      </p:sp>
      <p:sp>
        <p:nvSpPr>
          <p:cNvPr id="39" name="Shape 36"/>
          <p:cNvSpPr/>
          <p:nvPr/>
        </p:nvSpPr>
        <p:spPr>
          <a:xfrm>
            <a:off x="5212080" y="4590288"/>
            <a:ext cx="3337560" cy="10973"/>
          </a:xfrm>
          <a:prstGeom prst="rect">
            <a:avLst/>
          </a:prstGeom>
          <a:solidFill>
            <a:srgbClr val="CADCFC"/>
          </a:solidFill>
          <a:ln w="12700">
            <a:solidFill>
              <a:srgbClr val="CADCFC"/>
            </a:solidFill>
            <a:prstDash val="solid"/>
          </a:ln>
        </p:spPr>
      </p:sp>
      <p:sp>
        <p:nvSpPr>
          <p:cNvPr id="40" name="Text 37"/>
          <p:cNvSpPr/>
          <p:nvPr/>
        </p:nvSpPr>
        <p:spPr>
          <a:xfrm>
            <a:off x="5212080" y="4636008"/>
            <a:ext cx="3337560" cy="795528"/>
          </a:xfrm>
          <a:prstGeom prst="rect">
            <a:avLst/>
          </a:prstGeom>
          <a:noFill/>
          <a:ln/>
        </p:spPr>
        <p:txBody>
          <a:bodyPr wrap="square" rtlCol="0" anchor="t"/>
          <a:lstStyle/>
          <a:p>
            <a:pPr marL="0" indent="0">
              <a:buNone/>
            </a:pPr>
            <a:r>
              <a:rPr lang="en-US" sz="950" dirty="0">
                <a:solidFill>
                  <a:srgbClr val="2A2A4A"/>
                </a:solidFill>
              </a:rPr>
              <a:t>Rapport final synthétisant la démarche, les choix de conception, les résultats des tests et les perspectives d'amélioration.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0F1535"/>
        </a:solidFill>
        <a:effectLst/>
      </p:bgPr>
    </p:bg>
    <p:spTree>
      <p:nvGrpSpPr>
        <p:cNvPr id="1" name=""/>
        <p:cNvGrpSpPr/>
        <p:nvPr/>
      </p:nvGrpSpPr>
      <p:grpSpPr>
        <a:xfrm>
          <a:off x="0" y="0"/>
          <a:ext cx="0" cy="0"/>
          <a:chOff x="0" y="0"/>
          <a:chExt cx="0" cy="0"/>
        </a:xfrm>
      </p:grpSpPr>
      <p:sp>
        <p:nvSpPr>
          <p:cNvPr id="2" name="Shape 0"/>
          <p:cNvSpPr/>
          <p:nvPr/>
        </p:nvSpPr>
        <p:spPr>
          <a:xfrm rot="1200000">
            <a:off x="-457200" y="-457200"/>
            <a:ext cx="457200" cy="6400800"/>
          </a:xfrm>
          <a:prstGeom prst="rect">
            <a:avLst/>
          </a:prstGeom>
          <a:solidFill>
            <a:srgbClr val="FFFFFF">
              <a:alpha val="5000"/>
            </a:srgbClr>
          </a:solidFill>
          <a:ln w="12700">
            <a:solidFill>
              <a:srgbClr val="0F1535"/>
            </a:solidFill>
            <a:prstDash val="solid"/>
          </a:ln>
        </p:spPr>
      </p:sp>
      <p:sp>
        <p:nvSpPr>
          <p:cNvPr id="3" name="Shape 1"/>
          <p:cNvSpPr/>
          <p:nvPr/>
        </p:nvSpPr>
        <p:spPr>
          <a:xfrm rot="1200000">
            <a:off x="1188720" y="-457200"/>
            <a:ext cx="457200" cy="6400800"/>
          </a:xfrm>
          <a:prstGeom prst="rect">
            <a:avLst/>
          </a:prstGeom>
          <a:solidFill>
            <a:srgbClr val="FFFFFF">
              <a:alpha val="5000"/>
            </a:srgbClr>
          </a:solidFill>
          <a:ln w="12700">
            <a:solidFill>
              <a:srgbClr val="0F1535"/>
            </a:solidFill>
            <a:prstDash val="solid"/>
          </a:ln>
        </p:spPr>
      </p:sp>
      <p:sp>
        <p:nvSpPr>
          <p:cNvPr id="4" name="Shape 2"/>
          <p:cNvSpPr/>
          <p:nvPr/>
        </p:nvSpPr>
        <p:spPr>
          <a:xfrm rot="1200000">
            <a:off x="2834640" y="-457200"/>
            <a:ext cx="457200" cy="6400800"/>
          </a:xfrm>
          <a:prstGeom prst="rect">
            <a:avLst/>
          </a:prstGeom>
          <a:solidFill>
            <a:srgbClr val="FFFFFF">
              <a:alpha val="5000"/>
            </a:srgbClr>
          </a:solidFill>
          <a:ln w="12700">
            <a:solidFill>
              <a:srgbClr val="0F1535"/>
            </a:solidFill>
            <a:prstDash val="solid"/>
          </a:ln>
        </p:spPr>
      </p:sp>
      <p:sp>
        <p:nvSpPr>
          <p:cNvPr id="5" name="Shape 3"/>
          <p:cNvSpPr/>
          <p:nvPr/>
        </p:nvSpPr>
        <p:spPr>
          <a:xfrm rot="1200000">
            <a:off x="4480560" y="-457200"/>
            <a:ext cx="457200" cy="6400800"/>
          </a:xfrm>
          <a:prstGeom prst="rect">
            <a:avLst/>
          </a:prstGeom>
          <a:solidFill>
            <a:srgbClr val="FFFFFF">
              <a:alpha val="5000"/>
            </a:srgbClr>
          </a:solidFill>
          <a:ln w="12700">
            <a:solidFill>
              <a:srgbClr val="0F1535"/>
            </a:solidFill>
            <a:prstDash val="solid"/>
          </a:ln>
        </p:spPr>
      </p:sp>
      <p:sp>
        <p:nvSpPr>
          <p:cNvPr id="6" name="Shape 4"/>
          <p:cNvSpPr/>
          <p:nvPr/>
        </p:nvSpPr>
        <p:spPr>
          <a:xfrm rot="1200000">
            <a:off x="6126480" y="-457200"/>
            <a:ext cx="457200" cy="6400800"/>
          </a:xfrm>
          <a:prstGeom prst="rect">
            <a:avLst/>
          </a:prstGeom>
          <a:solidFill>
            <a:srgbClr val="FFFFFF">
              <a:alpha val="5000"/>
            </a:srgbClr>
          </a:solidFill>
          <a:ln w="12700">
            <a:solidFill>
              <a:srgbClr val="0F1535"/>
            </a:solidFill>
            <a:prstDash val="solid"/>
          </a:ln>
        </p:spPr>
      </p:sp>
      <p:sp>
        <p:nvSpPr>
          <p:cNvPr id="7" name="Shape 5"/>
          <p:cNvSpPr/>
          <p:nvPr/>
        </p:nvSpPr>
        <p:spPr>
          <a:xfrm rot="1200000">
            <a:off x="7772400" y="-457200"/>
            <a:ext cx="457200" cy="6400800"/>
          </a:xfrm>
          <a:prstGeom prst="rect">
            <a:avLst/>
          </a:prstGeom>
          <a:solidFill>
            <a:srgbClr val="FFFFFF">
              <a:alpha val="5000"/>
            </a:srgbClr>
          </a:solidFill>
          <a:ln w="12700">
            <a:solidFill>
              <a:srgbClr val="0F1535"/>
            </a:solidFill>
            <a:prstDash val="solid"/>
          </a:ln>
        </p:spPr>
      </p:sp>
      <p:sp>
        <p:nvSpPr>
          <p:cNvPr id="8" name="Shape 6"/>
          <p:cNvSpPr/>
          <p:nvPr/>
        </p:nvSpPr>
        <p:spPr>
          <a:xfrm>
            <a:off x="0" y="0"/>
            <a:ext cx="164592" cy="5143500"/>
          </a:xfrm>
          <a:prstGeom prst="rect">
            <a:avLst/>
          </a:prstGeom>
          <a:solidFill>
            <a:srgbClr val="00A8E8"/>
          </a:solidFill>
          <a:ln w="12700">
            <a:solidFill>
              <a:srgbClr val="00A8E8"/>
            </a:solidFill>
            <a:prstDash val="solid"/>
          </a:ln>
        </p:spPr>
      </p:sp>
      <p:pic>
        <p:nvPicPr>
          <p:cNvPr id="9" name="Image 0" descr="preencoded.png"/>
          <p:cNvPicPr>
            <a:picLocks noChangeAspect="1"/>
          </p:cNvPicPr>
          <p:nvPr/>
        </p:nvPicPr>
        <p:blipFill>
          <a:blip r:embed="rId3"/>
          <a:stretch>
            <a:fillRect/>
          </a:stretch>
        </p:blipFill>
        <p:spPr>
          <a:xfrm>
            <a:off x="3474720" y="457200"/>
            <a:ext cx="2194560" cy="2194560"/>
          </a:xfrm>
          <a:prstGeom prst="rect">
            <a:avLst/>
          </a:prstGeom>
        </p:spPr>
      </p:pic>
      <p:sp>
        <p:nvSpPr>
          <p:cNvPr id="10" name="Text 7"/>
          <p:cNvSpPr/>
          <p:nvPr/>
        </p:nvSpPr>
        <p:spPr>
          <a:xfrm>
            <a:off x="457200" y="2834640"/>
            <a:ext cx="8229600" cy="411480"/>
          </a:xfrm>
          <a:prstGeom prst="rect">
            <a:avLst/>
          </a:prstGeom>
          <a:noFill/>
          <a:ln/>
        </p:spPr>
        <p:txBody>
          <a:bodyPr wrap="square" rtlCol="0" anchor="ctr"/>
          <a:lstStyle/>
          <a:p>
            <a:pPr marL="0" indent="0" algn="ctr">
              <a:buNone/>
            </a:pPr>
            <a:r>
              <a:rPr lang="en-US" sz="1400" b="1" kern="0" spc="300" dirty="0">
                <a:solidFill>
                  <a:srgbClr val="00A8E8"/>
                </a:solidFill>
              </a:rPr>
              <a:t>Cahier des Charges</a:t>
            </a:r>
            <a:endParaRPr lang="en-US" sz="1400" dirty="0"/>
          </a:p>
        </p:txBody>
      </p:sp>
      <p:sp>
        <p:nvSpPr>
          <p:cNvPr id="11" name="Text 8"/>
          <p:cNvSpPr/>
          <p:nvPr/>
        </p:nvSpPr>
        <p:spPr>
          <a:xfrm>
            <a:off x="457200" y="3246120"/>
            <a:ext cx="8229600" cy="1005840"/>
          </a:xfrm>
          <a:prstGeom prst="rect">
            <a:avLst/>
          </a:prstGeom>
          <a:noFill/>
          <a:ln/>
        </p:spPr>
        <p:txBody>
          <a:bodyPr wrap="square" rtlCol="0" anchor="ctr"/>
          <a:lstStyle/>
          <a:p>
            <a:pPr marL="0" indent="0" algn="ctr">
              <a:buNone/>
            </a:pPr>
            <a:r>
              <a:rPr lang="en-US" sz="2200" b="1" dirty="0">
                <a:solidFill>
                  <a:srgbClr val="FFFFFF"/>
                </a:solidFill>
              </a:rPr>
              <a:t>Système d'Authentification Biométrique</a:t>
            </a:r>
            <a:endParaRPr lang="en-US" sz="2200" dirty="0"/>
          </a:p>
          <a:p>
            <a:pPr marL="0" indent="0" algn="ctr">
              <a:buNone/>
            </a:pPr>
            <a:r>
              <a:rPr lang="en-US" sz="2200" b="1" dirty="0">
                <a:solidFill>
                  <a:srgbClr val="FFFFFF"/>
                </a:solidFill>
              </a:rPr>
              <a:t>par Reconnaissance Faciale</a:t>
            </a:r>
            <a:endParaRPr lang="en-US" sz="2200" dirty="0"/>
          </a:p>
        </p:txBody>
      </p:sp>
      <p:sp>
        <p:nvSpPr>
          <p:cNvPr id="12" name="Shape 9"/>
          <p:cNvSpPr/>
          <p:nvPr/>
        </p:nvSpPr>
        <p:spPr>
          <a:xfrm>
            <a:off x="548640" y="4343400"/>
            <a:ext cx="2514600" cy="594360"/>
          </a:xfrm>
          <a:prstGeom prst="rect">
            <a:avLst/>
          </a:prstGeom>
          <a:solidFill>
            <a:srgbClr val="00C9A7">
              <a:alpha val="85000"/>
            </a:srgbClr>
          </a:solidFill>
          <a:ln w="12700">
            <a:solidFill>
              <a:srgbClr val="00C9A7"/>
            </a:solidFill>
            <a:prstDash val="solid"/>
          </a:ln>
        </p:spPr>
      </p:sp>
      <p:sp>
        <p:nvSpPr>
          <p:cNvPr id="13" name="Text 10"/>
          <p:cNvSpPr/>
          <p:nvPr/>
        </p:nvSpPr>
        <p:spPr>
          <a:xfrm>
            <a:off x="548640" y="4343400"/>
            <a:ext cx="2514600" cy="594360"/>
          </a:xfrm>
          <a:prstGeom prst="rect">
            <a:avLst/>
          </a:prstGeom>
          <a:noFill/>
          <a:ln/>
        </p:spPr>
        <p:txBody>
          <a:bodyPr wrap="square" lIns="0" tIns="0" rIns="0" bIns="0" rtlCol="0" anchor="ctr"/>
          <a:lstStyle/>
          <a:p>
            <a:pPr marL="0" indent="0" algn="ctr">
              <a:buNone/>
            </a:pPr>
            <a:r>
              <a:rPr lang="en-US" sz="1100" b="1" dirty="0">
                <a:solidFill>
                  <a:srgbClr val="FFFFFF"/>
                </a:solidFill>
              </a:rPr>
              <a:t>Capture &amp; Reconnaissance</a:t>
            </a:r>
            <a:endParaRPr lang="en-US" sz="1100" dirty="0"/>
          </a:p>
        </p:txBody>
      </p:sp>
      <p:sp>
        <p:nvSpPr>
          <p:cNvPr id="14" name="Shape 11"/>
          <p:cNvSpPr/>
          <p:nvPr/>
        </p:nvSpPr>
        <p:spPr>
          <a:xfrm>
            <a:off x="3383280" y="4343400"/>
            <a:ext cx="2514600" cy="594360"/>
          </a:xfrm>
          <a:prstGeom prst="rect">
            <a:avLst/>
          </a:prstGeom>
          <a:solidFill>
            <a:srgbClr val="E84545">
              <a:alpha val="85000"/>
            </a:srgbClr>
          </a:solidFill>
          <a:ln w="12700">
            <a:solidFill>
              <a:srgbClr val="E84545"/>
            </a:solidFill>
            <a:prstDash val="solid"/>
          </a:ln>
        </p:spPr>
      </p:sp>
      <p:sp>
        <p:nvSpPr>
          <p:cNvPr id="15" name="Text 12"/>
          <p:cNvSpPr/>
          <p:nvPr/>
        </p:nvSpPr>
        <p:spPr>
          <a:xfrm>
            <a:off x="3383280" y="4343400"/>
            <a:ext cx="2514600" cy="594360"/>
          </a:xfrm>
          <a:prstGeom prst="rect">
            <a:avLst/>
          </a:prstGeom>
          <a:noFill/>
          <a:ln/>
        </p:spPr>
        <p:txBody>
          <a:bodyPr wrap="square" lIns="0" tIns="0" rIns="0" bIns="0" rtlCol="0" anchor="ctr"/>
          <a:lstStyle/>
          <a:p>
            <a:pPr marL="0" indent="0" algn="ctr">
              <a:buNone/>
            </a:pPr>
            <a:r>
              <a:rPr lang="en-US" sz="1100" b="1" dirty="0">
                <a:solidFill>
                  <a:srgbClr val="FFFFFF"/>
                </a:solidFill>
              </a:rPr>
              <a:t>Attaque &amp; Défense</a:t>
            </a:r>
            <a:endParaRPr lang="en-US" sz="1100" dirty="0"/>
          </a:p>
        </p:txBody>
      </p:sp>
      <p:sp>
        <p:nvSpPr>
          <p:cNvPr id="16" name="Shape 13"/>
          <p:cNvSpPr/>
          <p:nvPr/>
        </p:nvSpPr>
        <p:spPr>
          <a:xfrm>
            <a:off x="6217920" y="4343400"/>
            <a:ext cx="2514600" cy="594360"/>
          </a:xfrm>
          <a:prstGeom prst="rect">
            <a:avLst/>
          </a:prstGeom>
          <a:solidFill>
            <a:srgbClr val="00A8E8">
              <a:alpha val="85000"/>
            </a:srgbClr>
          </a:solidFill>
          <a:ln w="12700">
            <a:solidFill>
              <a:srgbClr val="00A8E8"/>
            </a:solidFill>
            <a:prstDash val="solid"/>
          </a:ln>
        </p:spPr>
      </p:sp>
      <p:sp>
        <p:nvSpPr>
          <p:cNvPr id="17" name="Text 14"/>
          <p:cNvSpPr/>
          <p:nvPr/>
        </p:nvSpPr>
        <p:spPr>
          <a:xfrm>
            <a:off x="6217920" y="4343400"/>
            <a:ext cx="2514600" cy="594360"/>
          </a:xfrm>
          <a:prstGeom prst="rect">
            <a:avLst/>
          </a:prstGeom>
          <a:noFill/>
          <a:ln/>
        </p:spPr>
        <p:txBody>
          <a:bodyPr wrap="square" lIns="0" tIns="0" rIns="0" bIns="0" rtlCol="0" anchor="ctr"/>
          <a:lstStyle/>
          <a:p>
            <a:pPr marL="0" indent="0" algn="ctr">
              <a:buNone/>
            </a:pPr>
            <a:r>
              <a:rPr lang="en-US" sz="1100" b="1" dirty="0">
                <a:solidFill>
                  <a:srgbClr val="FFFFFF"/>
                </a:solidFill>
              </a:rPr>
              <a:t>Données sécurisées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2502</TotalTime>
  <Words>1592</Words>
  <Application>Microsoft Office PowerPoint</Application>
  <PresentationFormat>Affichage à l'écran (16:9)</PresentationFormat>
  <Paragraphs>278</Paragraphs>
  <Slides>14</Slides>
  <Notes>11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Calibri</vt:lpstr>
      <vt:lpstr>Calibri Light</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CDC – Authentification Biométrique</dc:title>
  <dc:subject>PptxGenJS Presentation</dc:subject>
  <dc:creator>PptxGenJS</dc:creator>
  <cp:lastModifiedBy>Jason BARDE</cp:lastModifiedBy>
  <cp:revision>35</cp:revision>
  <dcterms:created xsi:type="dcterms:W3CDTF">2026-05-11T19:42:04Z</dcterms:created>
  <dcterms:modified xsi:type="dcterms:W3CDTF">2026-07-10T20:19:46Z</dcterms:modified>
</cp:coreProperties>
</file>