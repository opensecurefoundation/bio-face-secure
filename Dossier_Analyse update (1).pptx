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71" r:id="rId4"/>
    <p:sldId id="272" r:id="rId5"/>
    <p:sldId id="259" r:id="rId6"/>
    <p:sldId id="274" r:id="rId7"/>
    <p:sldId id="275" r:id="rId8"/>
    <p:sldId id="277" r:id="rId9"/>
    <p:sldId id="276" r:id="rId10"/>
    <p:sldId id="258" r:id="rId11"/>
    <p:sldId id="270"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6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3134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900000">
            <a:off x="-914400" y="-457200"/>
            <a:ext cx="1645920" cy="6400800"/>
          </a:xfrm>
          <a:prstGeom prst="rect">
            <a:avLst/>
          </a:prstGeom>
          <a:solidFill>
            <a:srgbClr val="1B3A6B">
              <a:alpha val="12000"/>
            </a:srgbClr>
          </a:solidFill>
          <a:ln w="12700">
            <a:solidFill>
              <a:srgbClr val="1B3A6B"/>
            </a:solidFill>
            <a:prstDash val="solid"/>
          </a:ln>
        </p:spPr>
      </p:sp>
      <p:sp>
        <p:nvSpPr>
          <p:cNvPr id="3" name="Shape 1"/>
          <p:cNvSpPr/>
          <p:nvPr/>
        </p:nvSpPr>
        <p:spPr>
          <a:xfrm rot="900000">
            <a:off x="1645920" y="-457200"/>
            <a:ext cx="1645920" cy="6400800"/>
          </a:xfrm>
          <a:prstGeom prst="rect">
            <a:avLst/>
          </a:prstGeom>
          <a:solidFill>
            <a:srgbClr val="0D4F6A">
              <a:alpha val="12000"/>
            </a:srgbClr>
          </a:solidFill>
          <a:ln w="12700">
            <a:solidFill>
              <a:srgbClr val="0D4F6A"/>
            </a:solidFill>
            <a:prstDash val="solid"/>
          </a:ln>
        </p:spPr>
      </p:sp>
      <p:sp>
        <p:nvSpPr>
          <p:cNvPr id="4" name="Shape 2"/>
          <p:cNvSpPr/>
          <p:nvPr/>
        </p:nvSpPr>
        <p:spPr>
          <a:xfrm rot="900000">
            <a:off x="4377779" y="-374621"/>
            <a:ext cx="1645920" cy="6400800"/>
          </a:xfrm>
          <a:prstGeom prst="rect">
            <a:avLst/>
          </a:prstGeom>
          <a:solidFill>
            <a:srgbClr val="0891B2">
              <a:alpha val="12000"/>
            </a:srgbClr>
          </a:solidFill>
          <a:ln w="12700">
            <a:solidFill>
              <a:srgbClr val="0891B2"/>
            </a:solidFill>
            <a:prstDash val="solid"/>
          </a:ln>
        </p:spPr>
      </p:sp>
      <p:sp>
        <p:nvSpPr>
          <p:cNvPr id="5" name="Shape 3"/>
          <p:cNvSpPr/>
          <p:nvPr/>
        </p:nvSpPr>
        <p:spPr>
          <a:xfrm rot="900000">
            <a:off x="6446155" y="-144473"/>
            <a:ext cx="1645920" cy="6400800"/>
          </a:xfrm>
          <a:prstGeom prst="rect">
            <a:avLst/>
          </a:prstGeom>
          <a:solidFill>
            <a:srgbClr val="0D9488">
              <a:alpha val="12000"/>
            </a:srgbClr>
          </a:solidFill>
          <a:ln w="12700">
            <a:solidFill>
              <a:srgbClr val="0D9488"/>
            </a:solidFill>
            <a:prstDash val="solid"/>
          </a:ln>
        </p:spPr>
      </p:sp>
      <p:sp>
        <p:nvSpPr>
          <p:cNvPr id="6" name="Shape 4"/>
          <p:cNvSpPr/>
          <p:nvPr/>
        </p:nvSpPr>
        <p:spPr>
          <a:xfrm>
            <a:off x="0" y="0"/>
            <a:ext cx="182880" cy="5143500"/>
          </a:xfrm>
          <a:prstGeom prst="rect">
            <a:avLst/>
          </a:prstGeom>
          <a:solidFill>
            <a:srgbClr val="0891B2"/>
          </a:solidFill>
          <a:ln w="12700">
            <a:solidFill>
              <a:srgbClr val="0891B2"/>
            </a:solidFill>
            <a:prstDash val="solid"/>
          </a:ln>
        </p:spPr>
      </p:sp>
      <p:pic>
        <p:nvPicPr>
          <p:cNvPr id="7" name="Image 0" descr="preencoded.png"/>
          <p:cNvPicPr>
            <a:picLocks noChangeAspect="1"/>
          </p:cNvPicPr>
          <p:nvPr/>
        </p:nvPicPr>
        <p:blipFill>
          <a:blip r:embed="rId3"/>
          <a:stretch>
            <a:fillRect/>
          </a:stretch>
        </p:blipFill>
        <p:spPr>
          <a:xfrm>
            <a:off x="548640" y="594360"/>
            <a:ext cx="1188720" cy="1188720"/>
          </a:xfrm>
          <a:prstGeom prst="rect">
            <a:avLst/>
          </a:prstGeom>
        </p:spPr>
      </p:pic>
      <p:sp>
        <p:nvSpPr>
          <p:cNvPr id="8" name="Text 5"/>
          <p:cNvSpPr/>
          <p:nvPr/>
        </p:nvSpPr>
        <p:spPr>
          <a:xfrm>
            <a:off x="2668634" y="992429"/>
            <a:ext cx="8229600" cy="438912"/>
          </a:xfrm>
          <a:prstGeom prst="rect">
            <a:avLst/>
          </a:prstGeom>
          <a:noFill/>
          <a:ln/>
        </p:spPr>
        <p:txBody>
          <a:bodyPr wrap="square" rtlCol="0" anchor="ctr"/>
          <a:lstStyle/>
          <a:p>
            <a:pPr marL="0" indent="0">
              <a:buNone/>
            </a:pPr>
            <a:r>
              <a:rPr lang="en-US" sz="2400" b="1" kern="0" spc="600" dirty="0">
                <a:solidFill>
                  <a:srgbClr val="0891B2"/>
                </a:solidFill>
                <a:latin typeface="Calibri" pitchFamily="34" charset="0"/>
                <a:ea typeface="Calibri" pitchFamily="34" charset="-122"/>
                <a:cs typeface="Calibri" pitchFamily="34" charset="-120"/>
              </a:rPr>
              <a:t>DOSSIER D'ANALYSE</a:t>
            </a:r>
            <a:endParaRPr lang="en-US" sz="2400" dirty="0"/>
          </a:p>
        </p:txBody>
      </p:sp>
      <p:sp>
        <p:nvSpPr>
          <p:cNvPr id="14" name="Text 8"/>
          <p:cNvSpPr/>
          <p:nvPr/>
        </p:nvSpPr>
        <p:spPr>
          <a:xfrm>
            <a:off x="590244" y="1351794"/>
            <a:ext cx="8185710" cy="1280160"/>
          </a:xfrm>
          <a:prstGeom prst="rect">
            <a:avLst/>
          </a:prstGeom>
          <a:noFill/>
          <a:ln/>
        </p:spPr>
        <p:txBody>
          <a:bodyPr wrap="square" rtlCol="0" anchor="ctr"/>
          <a:lstStyle/>
          <a:p>
            <a:pPr algn="ctr">
              <a:lnSpc>
                <a:spcPct val="150000"/>
              </a:lnSpc>
            </a:pPr>
            <a:r>
              <a:rPr lang="fr-FR" sz="1600" b="1" dirty="0">
                <a:solidFill>
                  <a:srgbClr val="FFFFFF"/>
                </a:solidFill>
                <a:latin typeface="Times New Roman" panose="02020603050405020304" pitchFamily="18" charset="0"/>
                <a:cs typeface="Times New Roman" panose="02020603050405020304" pitchFamily="18" charset="0"/>
              </a:rPr>
              <a:t>CONCEPTION, DÉVELOPPEMENT ET DÉPLOIEMENT D’UN SYSTÈME SÉCURISÉ D’AUTHENTIFICATION BIOMÉTRIQUE PAR RECONNAISSANCE FACIALE AVEC DÉTECTION D’ATTAQUES ET PROTECTION DES DONNÉES SENSIBLES</a:t>
            </a:r>
            <a:endParaRPr lang="en-US" sz="1600" dirty="0">
              <a:latin typeface="Times New Roman" panose="02020603050405020304" pitchFamily="18" charset="0"/>
              <a:cs typeface="Times New Roman" panose="02020603050405020304" pitchFamily="18" charset="0"/>
            </a:endParaRPr>
          </a:p>
        </p:txBody>
      </p:sp>
      <p:sp>
        <p:nvSpPr>
          <p:cNvPr id="15" name="Shape 10"/>
          <p:cNvSpPr/>
          <p:nvPr/>
        </p:nvSpPr>
        <p:spPr>
          <a:xfrm>
            <a:off x="590244" y="4544894"/>
            <a:ext cx="8229600" cy="422844"/>
          </a:xfrm>
          <a:prstGeom prst="rect">
            <a:avLst/>
          </a:prstGeom>
          <a:solidFill>
            <a:srgbClr val="1E2761"/>
          </a:solidFill>
          <a:ln w="12700">
            <a:solidFill>
              <a:srgbClr val="1E2761"/>
            </a:solidFill>
            <a:prstDash val="solid"/>
          </a:ln>
        </p:spPr>
      </p:sp>
      <p:sp>
        <p:nvSpPr>
          <p:cNvPr id="16" name="ZoneTexte 15"/>
          <p:cNvSpPr txBox="1"/>
          <p:nvPr/>
        </p:nvSpPr>
        <p:spPr>
          <a:xfrm>
            <a:off x="482597" y="2028450"/>
            <a:ext cx="3540760" cy="2966197"/>
          </a:xfrm>
          <a:prstGeom prst="rect">
            <a:avLst/>
          </a:prstGeom>
          <a:noFill/>
        </p:spPr>
        <p:txBody>
          <a:bodyPr wrap="square" rtlCol="0">
            <a:spAutoFit/>
          </a:bodyPr>
          <a:lstStyle/>
          <a:p>
            <a:endParaRPr lang="fr-CM" dirty="0">
              <a:solidFill>
                <a:schemeClr val="bg1"/>
              </a:solidFill>
            </a:endParaRPr>
          </a:p>
          <a:p>
            <a:endParaRPr lang="fr-CM" dirty="0">
              <a:solidFill>
                <a:schemeClr val="bg1"/>
              </a:solidFill>
            </a:endParaRPr>
          </a:p>
          <a:p>
            <a:endParaRPr lang="fr-CM" sz="1200" dirty="0">
              <a:solidFill>
                <a:schemeClr val="bg1"/>
              </a:solidFill>
            </a:endParaRPr>
          </a:p>
          <a:p>
            <a:r>
              <a:rPr lang="fr-CM" sz="1050" dirty="0">
                <a:solidFill>
                  <a:schemeClr val="bg1"/>
                </a:solidFill>
                <a:latin typeface="Times New Roman" panose="02020603050405020304" pitchFamily="18" charset="0"/>
                <a:cs typeface="Times New Roman" panose="02020603050405020304" pitchFamily="18" charset="0"/>
              </a:rPr>
              <a:t>Rédigé et présenté par:</a:t>
            </a:r>
          </a:p>
          <a:p>
            <a:endParaRPr lang="fr-CM" sz="1050" dirty="0">
              <a:solidFill>
                <a:schemeClr val="bg1"/>
              </a:solidFill>
              <a:latin typeface="Times New Roman" panose="02020603050405020304" pitchFamily="18" charset="0"/>
              <a:cs typeface="Times New Roman" panose="02020603050405020304" pitchFamily="18" charset="0"/>
            </a:endParaRPr>
          </a:p>
          <a:p>
            <a:pPr>
              <a:lnSpc>
                <a:spcPct val="150000"/>
              </a:lnSpc>
            </a:pPr>
            <a:r>
              <a:rPr lang="fr-CM" sz="1050" b="1" dirty="0">
                <a:solidFill>
                  <a:schemeClr val="bg1"/>
                </a:solidFill>
                <a:latin typeface="Times New Roman" panose="02020603050405020304" pitchFamily="18" charset="0"/>
                <a:cs typeface="Times New Roman" panose="02020603050405020304" pitchFamily="18" charset="0"/>
              </a:rPr>
              <a:t>BARDE </a:t>
            </a:r>
            <a:r>
              <a:rPr lang="fr-CM" sz="1050" b="1" dirty="0" err="1">
                <a:solidFill>
                  <a:schemeClr val="bg1"/>
                </a:solidFill>
                <a:latin typeface="Times New Roman" panose="02020603050405020304" pitchFamily="18" charset="0"/>
                <a:cs typeface="Times New Roman" panose="02020603050405020304" pitchFamily="18" charset="0"/>
              </a:rPr>
              <a:t>BARDE</a:t>
            </a:r>
            <a:r>
              <a:rPr lang="fr-CM" sz="1050" b="1" dirty="0">
                <a:solidFill>
                  <a:schemeClr val="bg1"/>
                </a:solidFill>
                <a:latin typeface="Times New Roman" panose="02020603050405020304" pitchFamily="18" charset="0"/>
                <a:cs typeface="Times New Roman" panose="02020603050405020304" pitchFamily="18" charset="0"/>
              </a:rPr>
              <a:t> B. Jason</a:t>
            </a:r>
          </a:p>
          <a:p>
            <a:pPr>
              <a:lnSpc>
                <a:spcPct val="150000"/>
              </a:lnSpc>
            </a:pPr>
            <a:r>
              <a:rPr lang="fr-CM" sz="1050" b="1" dirty="0">
                <a:solidFill>
                  <a:schemeClr val="bg1"/>
                </a:solidFill>
                <a:latin typeface="Times New Roman" panose="02020603050405020304" pitchFamily="18" charset="0"/>
                <a:cs typeface="Times New Roman" panose="02020603050405020304" pitchFamily="18" charset="0"/>
              </a:rPr>
              <a:t>TEMGOUA Lionel</a:t>
            </a:r>
          </a:p>
          <a:p>
            <a:pPr>
              <a:lnSpc>
                <a:spcPct val="150000"/>
              </a:lnSpc>
            </a:pPr>
            <a:r>
              <a:rPr lang="fr-CM" sz="1050" b="1" dirty="0">
                <a:solidFill>
                  <a:schemeClr val="bg1"/>
                </a:solidFill>
                <a:latin typeface="Times New Roman" panose="02020603050405020304" pitchFamily="18" charset="0"/>
                <a:cs typeface="Times New Roman" panose="02020603050405020304" pitchFamily="18" charset="0"/>
              </a:rPr>
              <a:t>MONGUE YOSSI </a:t>
            </a:r>
          </a:p>
          <a:p>
            <a:endParaRPr lang="fr-CM" sz="1050" dirty="0">
              <a:solidFill>
                <a:schemeClr val="bg1"/>
              </a:solidFill>
            </a:endParaRPr>
          </a:p>
          <a:p>
            <a:endParaRPr lang="fr-CM" sz="1200" dirty="0">
              <a:solidFill>
                <a:schemeClr val="bg1"/>
              </a:solidFill>
              <a:latin typeface="Times New Roman" panose="02020603050405020304" pitchFamily="18" charset="0"/>
              <a:cs typeface="Times New Roman" panose="02020603050405020304" pitchFamily="18" charset="0"/>
            </a:endParaRPr>
          </a:p>
          <a:p>
            <a:r>
              <a:rPr lang="fr-CM" sz="1200" dirty="0">
                <a:solidFill>
                  <a:schemeClr val="bg1"/>
                </a:solidFill>
                <a:latin typeface="Times New Roman" panose="02020603050405020304" pitchFamily="18" charset="0"/>
                <a:cs typeface="Times New Roman" panose="02020603050405020304" pitchFamily="18" charset="0"/>
              </a:rPr>
              <a:t>Étudiants en M1 SSI</a:t>
            </a:r>
          </a:p>
          <a:p>
            <a:endParaRPr lang="fr-CM" dirty="0"/>
          </a:p>
          <a:p>
            <a:endParaRPr lang="fr-CM" dirty="0"/>
          </a:p>
        </p:txBody>
      </p:sp>
      <p:sp>
        <p:nvSpPr>
          <p:cNvPr id="17" name="ZoneTexte 16"/>
          <p:cNvSpPr txBox="1"/>
          <p:nvPr/>
        </p:nvSpPr>
        <p:spPr>
          <a:xfrm>
            <a:off x="5330554" y="3852422"/>
            <a:ext cx="5567680" cy="276999"/>
          </a:xfrm>
          <a:prstGeom prst="rect">
            <a:avLst/>
          </a:prstGeom>
          <a:noFill/>
        </p:spPr>
        <p:txBody>
          <a:bodyPr wrap="square" rtlCol="0">
            <a:spAutoFit/>
          </a:bodyPr>
          <a:lstStyle/>
          <a:p>
            <a:r>
              <a:rPr lang="fr-FR" sz="1200" b="1" dirty="0">
                <a:solidFill>
                  <a:schemeClr val="bg1"/>
                </a:solidFill>
                <a:latin typeface="Times New Roman" panose="02020603050405020304" pitchFamily="18" charset="0"/>
                <a:cs typeface="Times New Roman" panose="02020603050405020304" pitchFamily="18" charset="0"/>
              </a:rPr>
              <a:t>Sous la supervision de : M. NGUIMBUS Emmanuel</a:t>
            </a:r>
            <a:endParaRPr lang="en-US" sz="1200" b="1" dirty="0">
              <a:solidFill>
                <a:schemeClr val="bg1"/>
              </a:solidFill>
              <a:latin typeface="Times New Roman" panose="02020603050405020304" pitchFamily="18" charset="0"/>
              <a:cs typeface="Times New Roman" panose="02020603050405020304" pitchFamily="18" charset="0"/>
            </a:endParaRPr>
          </a:p>
        </p:txBody>
      </p:sp>
      <p:sp>
        <p:nvSpPr>
          <p:cNvPr id="18" name="Text 11"/>
          <p:cNvSpPr/>
          <p:nvPr/>
        </p:nvSpPr>
        <p:spPr>
          <a:xfrm>
            <a:off x="457200" y="4544894"/>
            <a:ext cx="8229600" cy="367979"/>
          </a:xfrm>
          <a:prstGeom prst="rect">
            <a:avLst/>
          </a:prstGeom>
          <a:noFill/>
          <a:ln/>
        </p:spPr>
        <p:txBody>
          <a:bodyPr wrap="square" rtlCol="0" anchor="ctr"/>
          <a:lstStyle/>
          <a:p>
            <a:pPr marL="0" indent="0" algn="ctr">
              <a:buNone/>
            </a:pPr>
            <a:r>
              <a:rPr lang="en-US" sz="1100" b="1" dirty="0">
                <a:solidFill>
                  <a:srgbClr val="8899BB"/>
                </a:solidFill>
                <a:latin typeface="Times New Roman" panose="02020603050405020304" pitchFamily="18" charset="0"/>
                <a:cs typeface="Times New Roman" panose="02020603050405020304" pitchFamily="18" charset="0"/>
              </a:rPr>
              <a:t>  </a:t>
            </a:r>
            <a:r>
              <a:rPr lang="en-US" sz="1600" b="1" dirty="0" err="1">
                <a:solidFill>
                  <a:srgbClr val="CADCFC"/>
                </a:solidFill>
                <a:latin typeface="Times New Roman" panose="02020603050405020304" pitchFamily="18" charset="0"/>
                <a:cs typeface="Times New Roman" panose="02020603050405020304" pitchFamily="18" charset="0"/>
              </a:rPr>
              <a:t>Projet</a:t>
            </a:r>
            <a:r>
              <a:rPr lang="en-US" sz="1600" b="1" dirty="0">
                <a:solidFill>
                  <a:srgbClr val="CADCFC"/>
                </a:solidFill>
                <a:latin typeface="Times New Roman" panose="02020603050405020304" pitchFamily="18" charset="0"/>
                <a:cs typeface="Times New Roman" panose="02020603050405020304" pitchFamily="18" charset="0"/>
              </a:rPr>
              <a:t> académique de Sécurité des Systèmes d’exploitation année 2025-2026</a:t>
            </a:r>
            <a:r>
              <a:rPr lang="en-US" sz="1600" b="1" dirty="0">
                <a:solidFill>
                  <a:srgbClr val="8899BB"/>
                </a:solidFill>
                <a:latin typeface="Times New Roman" panose="02020603050405020304" pitchFamily="18" charset="0"/>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p:txBody>
      </p:sp>
      <p:pic>
        <p:nvPicPr>
          <p:cNvPr id="19" name="Imag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1974" y="-66614"/>
            <a:ext cx="2979116" cy="1015255"/>
          </a:xfrm>
          <a:prstGeom prst="rect">
            <a:avLst/>
          </a:prstGeom>
          <a:effectLst>
            <a:reflection endPos="0" dist="50800" dir="5400000" sy="-100000" algn="bl" rotWithShape="0"/>
            <a:softEdge rad="1397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B3A6B"/>
          </a:solidFill>
          <a:ln w="12700">
            <a:solidFill>
              <a:srgbClr val="1B3A6B"/>
            </a:solidFill>
            <a:prstDash val="solid"/>
          </a:ln>
        </p:spPr>
      </p:sp>
      <p:pic>
        <p:nvPicPr>
          <p:cNvPr id="3" name="Image 0" descr="preencoded.png"/>
          <p:cNvPicPr>
            <a:picLocks noChangeAspect="1"/>
          </p:cNvPicPr>
          <p:nvPr/>
        </p:nvPicPr>
        <p:blipFill>
          <a:blip r:embed="rId3"/>
          <a:stretch>
            <a:fillRect/>
          </a:stretch>
        </p:blipFill>
        <p:spPr>
          <a:xfrm>
            <a:off x="292608" y="182880"/>
            <a:ext cx="475488" cy="475488"/>
          </a:xfrm>
          <a:prstGeom prst="rect">
            <a:avLst/>
          </a:prstGeom>
        </p:spPr>
      </p:pic>
      <p:sp>
        <p:nvSpPr>
          <p:cNvPr id="4" name="Text 1"/>
          <p:cNvSpPr/>
          <p:nvPr/>
        </p:nvSpPr>
        <p:spPr>
          <a:xfrm>
            <a:off x="914400" y="91440"/>
            <a:ext cx="79552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Sommaire du Dossier d'Analyse</a:t>
            </a:r>
            <a:endParaRPr lang="en-US" sz="2000" dirty="0"/>
          </a:p>
        </p:txBody>
      </p:sp>
      <p:sp>
        <p:nvSpPr>
          <p:cNvPr id="5" name="Shape 2"/>
          <p:cNvSpPr/>
          <p:nvPr/>
        </p:nvSpPr>
        <p:spPr>
          <a:xfrm>
            <a:off x="292608" y="932688"/>
            <a:ext cx="4137660" cy="484986"/>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txBody>
          <a:bodyPr/>
          <a:lstStyle/>
          <a:p>
            <a:endParaRPr lang="fr-CM" dirty="0"/>
          </a:p>
        </p:txBody>
      </p:sp>
      <p:sp>
        <p:nvSpPr>
          <p:cNvPr id="6" name="Shape 3"/>
          <p:cNvSpPr/>
          <p:nvPr/>
        </p:nvSpPr>
        <p:spPr>
          <a:xfrm>
            <a:off x="292608" y="936729"/>
            <a:ext cx="502920" cy="484986"/>
          </a:xfrm>
          <a:prstGeom prst="rect">
            <a:avLst/>
          </a:prstGeom>
          <a:solidFill>
            <a:srgbClr val="1B3A6B"/>
          </a:solidFill>
          <a:ln w="12700">
            <a:solidFill>
              <a:srgbClr val="1B3A6B"/>
            </a:solidFill>
            <a:prstDash val="solid"/>
          </a:ln>
        </p:spPr>
      </p:sp>
      <p:sp>
        <p:nvSpPr>
          <p:cNvPr id="7" name="Text 4"/>
          <p:cNvSpPr/>
          <p:nvPr/>
        </p:nvSpPr>
        <p:spPr>
          <a:xfrm>
            <a:off x="320040" y="960120"/>
            <a:ext cx="502920" cy="4656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5"/>
          <p:cNvSpPr/>
          <p:nvPr/>
        </p:nvSpPr>
        <p:spPr>
          <a:xfrm>
            <a:off x="914400" y="960120"/>
            <a:ext cx="3355848" cy="484986"/>
          </a:xfrm>
          <a:prstGeom prst="rect">
            <a:avLst/>
          </a:prstGeom>
          <a:noFill/>
          <a:ln/>
        </p:spPr>
        <p:txBody>
          <a:bodyPr wrap="square" lIns="0" tIns="0" rIns="0" bIns="0" rtlCol="0" anchor="ctr"/>
          <a:lstStyle/>
          <a:p>
            <a:pPr marL="0" indent="0">
              <a:buNone/>
            </a:pPr>
            <a:endParaRPr lang="en-US" sz="1100" dirty="0"/>
          </a:p>
        </p:txBody>
      </p:sp>
      <p:sp>
        <p:nvSpPr>
          <p:cNvPr id="9" name="Shape 6"/>
          <p:cNvSpPr/>
          <p:nvPr/>
        </p:nvSpPr>
        <p:spPr>
          <a:xfrm>
            <a:off x="4617719" y="960120"/>
            <a:ext cx="4133087" cy="484986"/>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10" name="Shape 7"/>
          <p:cNvSpPr/>
          <p:nvPr/>
        </p:nvSpPr>
        <p:spPr>
          <a:xfrm>
            <a:off x="4617720" y="960120"/>
            <a:ext cx="502920" cy="484986"/>
          </a:xfrm>
          <a:prstGeom prst="rect">
            <a:avLst/>
          </a:prstGeom>
          <a:solidFill>
            <a:srgbClr val="0891B2"/>
          </a:solidFill>
          <a:ln w="12700">
            <a:solidFill>
              <a:srgbClr val="0891B2"/>
            </a:solidFill>
            <a:prstDash val="solid"/>
          </a:ln>
        </p:spPr>
        <p:txBody>
          <a:bodyPr/>
          <a:lstStyle/>
          <a:p>
            <a:endParaRPr lang="fr-CM" dirty="0"/>
          </a:p>
        </p:txBody>
      </p:sp>
      <p:sp>
        <p:nvSpPr>
          <p:cNvPr id="11" name="Text 8"/>
          <p:cNvSpPr/>
          <p:nvPr/>
        </p:nvSpPr>
        <p:spPr>
          <a:xfrm>
            <a:off x="4617720" y="960120"/>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2" name="Text 9"/>
          <p:cNvSpPr/>
          <p:nvPr/>
        </p:nvSpPr>
        <p:spPr>
          <a:xfrm>
            <a:off x="5212080" y="960120"/>
            <a:ext cx="3355848" cy="484986"/>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UC1 — S'authentifier par reconnaissance</a:t>
            </a:r>
            <a:endParaRPr lang="en-US" sz="1100" dirty="0"/>
          </a:p>
        </p:txBody>
      </p:sp>
      <p:sp>
        <p:nvSpPr>
          <p:cNvPr id="13" name="Shape 10"/>
          <p:cNvSpPr/>
          <p:nvPr/>
        </p:nvSpPr>
        <p:spPr>
          <a:xfrm>
            <a:off x="292608" y="1581912"/>
            <a:ext cx="4137660" cy="480379"/>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14" name="Shape 11"/>
          <p:cNvSpPr/>
          <p:nvPr/>
        </p:nvSpPr>
        <p:spPr>
          <a:xfrm>
            <a:off x="292608" y="1581912"/>
            <a:ext cx="502920" cy="480379"/>
          </a:xfrm>
          <a:prstGeom prst="rect">
            <a:avLst/>
          </a:prstGeom>
          <a:solidFill>
            <a:srgbClr val="0891B2"/>
          </a:solidFill>
          <a:ln w="12700">
            <a:solidFill>
              <a:srgbClr val="0891B2"/>
            </a:solidFill>
            <a:prstDash val="solid"/>
          </a:ln>
        </p:spPr>
      </p:sp>
      <p:sp>
        <p:nvSpPr>
          <p:cNvPr id="15" name="Text 12"/>
          <p:cNvSpPr/>
          <p:nvPr/>
        </p:nvSpPr>
        <p:spPr>
          <a:xfrm>
            <a:off x="292608" y="1581912"/>
            <a:ext cx="502920" cy="480379"/>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6" name="Text 13"/>
          <p:cNvSpPr/>
          <p:nvPr/>
        </p:nvSpPr>
        <p:spPr>
          <a:xfrm>
            <a:off x="886968" y="1581912"/>
            <a:ext cx="3355848" cy="480379"/>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cs typeface="Calibri" pitchFamily="34" charset="-120"/>
              </a:rPr>
              <a:t>Présentation des Acteurs</a:t>
            </a:r>
            <a:endParaRPr lang="en-US" sz="1100" dirty="0"/>
          </a:p>
        </p:txBody>
      </p:sp>
      <p:sp>
        <p:nvSpPr>
          <p:cNvPr id="17" name="Shape 14"/>
          <p:cNvSpPr/>
          <p:nvPr/>
        </p:nvSpPr>
        <p:spPr>
          <a:xfrm>
            <a:off x="4595283" y="1588895"/>
            <a:ext cx="4115224" cy="449952"/>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18" name="Shape 15"/>
          <p:cNvSpPr/>
          <p:nvPr/>
        </p:nvSpPr>
        <p:spPr>
          <a:xfrm>
            <a:off x="4619439" y="1588894"/>
            <a:ext cx="502920" cy="473397"/>
          </a:xfrm>
          <a:prstGeom prst="rect">
            <a:avLst/>
          </a:prstGeom>
          <a:solidFill>
            <a:srgbClr val="0D9488"/>
          </a:solidFill>
          <a:ln w="12700">
            <a:solidFill>
              <a:srgbClr val="0D9488"/>
            </a:solidFill>
            <a:prstDash val="solid"/>
          </a:ln>
        </p:spPr>
      </p:sp>
      <p:sp>
        <p:nvSpPr>
          <p:cNvPr id="19" name="Text 16"/>
          <p:cNvSpPr/>
          <p:nvPr/>
        </p:nvSpPr>
        <p:spPr>
          <a:xfrm>
            <a:off x="4604004" y="1609273"/>
            <a:ext cx="502920" cy="393529"/>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0" name="Text 17"/>
          <p:cNvSpPr/>
          <p:nvPr/>
        </p:nvSpPr>
        <p:spPr>
          <a:xfrm>
            <a:off x="5200650" y="1561533"/>
            <a:ext cx="3355848" cy="500758"/>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UC2 — Enroler  un Utilisateur</a:t>
            </a:r>
            <a:endParaRPr lang="en-US" sz="1100" dirty="0"/>
          </a:p>
        </p:txBody>
      </p:sp>
      <p:sp>
        <p:nvSpPr>
          <p:cNvPr id="23" name="Text 20"/>
          <p:cNvSpPr/>
          <p:nvPr/>
        </p:nvSpPr>
        <p:spPr>
          <a:xfrm>
            <a:off x="292608" y="2127894"/>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5" name="Shape 22"/>
          <p:cNvSpPr/>
          <p:nvPr/>
        </p:nvSpPr>
        <p:spPr>
          <a:xfrm>
            <a:off x="580644" y="2186135"/>
            <a:ext cx="3849624" cy="409459"/>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26" name="Shape 23"/>
          <p:cNvSpPr/>
          <p:nvPr/>
        </p:nvSpPr>
        <p:spPr>
          <a:xfrm>
            <a:off x="288036" y="2191489"/>
            <a:ext cx="502921" cy="409459"/>
          </a:xfrm>
          <a:prstGeom prst="rect">
            <a:avLst/>
          </a:prstGeom>
          <a:solidFill>
            <a:srgbClr val="7C3AED"/>
          </a:solidFill>
          <a:ln w="12700">
            <a:solidFill>
              <a:srgbClr val="7C3AED"/>
            </a:solidFill>
            <a:prstDash val="solid"/>
          </a:ln>
        </p:spPr>
      </p:sp>
      <p:sp>
        <p:nvSpPr>
          <p:cNvPr id="27" name="Text 24"/>
          <p:cNvSpPr/>
          <p:nvPr/>
        </p:nvSpPr>
        <p:spPr>
          <a:xfrm>
            <a:off x="337193" y="2100356"/>
            <a:ext cx="439231"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8" name="Text 25"/>
          <p:cNvSpPr/>
          <p:nvPr/>
        </p:nvSpPr>
        <p:spPr>
          <a:xfrm>
            <a:off x="901905" y="2177321"/>
            <a:ext cx="3355848" cy="409459"/>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UC3 — Supprimer Un Utilisateur </a:t>
            </a:r>
            <a:endParaRPr lang="en-US" sz="1100" dirty="0"/>
          </a:p>
        </p:txBody>
      </p:sp>
      <p:sp>
        <p:nvSpPr>
          <p:cNvPr id="29" name="Shape 26"/>
          <p:cNvSpPr/>
          <p:nvPr/>
        </p:nvSpPr>
        <p:spPr>
          <a:xfrm>
            <a:off x="4619439" y="2195679"/>
            <a:ext cx="4131368" cy="455144"/>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30" name="Shape 27"/>
          <p:cNvSpPr/>
          <p:nvPr/>
        </p:nvSpPr>
        <p:spPr>
          <a:xfrm>
            <a:off x="4621068" y="2203014"/>
            <a:ext cx="477135" cy="447809"/>
          </a:xfrm>
          <a:prstGeom prst="rect">
            <a:avLst/>
          </a:prstGeom>
          <a:solidFill>
            <a:srgbClr val="1E40AF"/>
          </a:solidFill>
          <a:ln w="12700">
            <a:solidFill>
              <a:srgbClr val="1E40AF"/>
            </a:solidFill>
            <a:prstDash val="solid"/>
          </a:ln>
        </p:spPr>
      </p:sp>
      <p:sp>
        <p:nvSpPr>
          <p:cNvPr id="31" name="Text 28"/>
          <p:cNvSpPr/>
          <p:nvPr/>
        </p:nvSpPr>
        <p:spPr>
          <a:xfrm>
            <a:off x="4576572" y="2217399"/>
            <a:ext cx="586935" cy="45514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2" name="Text 29"/>
          <p:cNvSpPr/>
          <p:nvPr/>
        </p:nvSpPr>
        <p:spPr>
          <a:xfrm>
            <a:off x="5143500" y="2217399"/>
            <a:ext cx="3355848" cy="455144"/>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UC4 — Lister les Profils Utilisateurs</a:t>
            </a:r>
            <a:endParaRPr lang="en-US" sz="1100" dirty="0"/>
          </a:p>
        </p:txBody>
      </p:sp>
      <p:sp>
        <p:nvSpPr>
          <p:cNvPr id="35" name="Text 32"/>
          <p:cNvSpPr/>
          <p:nvPr/>
        </p:nvSpPr>
        <p:spPr>
          <a:xfrm>
            <a:off x="4613148" y="2756780"/>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39" name="Text 36"/>
          <p:cNvSpPr/>
          <p:nvPr/>
        </p:nvSpPr>
        <p:spPr>
          <a:xfrm>
            <a:off x="411480" y="3400860"/>
            <a:ext cx="338328" cy="449615"/>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1" name="Shape 38"/>
          <p:cNvSpPr/>
          <p:nvPr/>
        </p:nvSpPr>
        <p:spPr>
          <a:xfrm>
            <a:off x="288036" y="2711632"/>
            <a:ext cx="4142232" cy="481184"/>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42" name="Shape 39"/>
          <p:cNvSpPr/>
          <p:nvPr/>
        </p:nvSpPr>
        <p:spPr>
          <a:xfrm>
            <a:off x="242158" y="2731489"/>
            <a:ext cx="536996" cy="461327"/>
          </a:xfrm>
          <a:prstGeom prst="rect">
            <a:avLst/>
          </a:prstGeom>
          <a:solidFill>
            <a:srgbClr val="D97706"/>
          </a:solidFill>
          <a:ln w="12700">
            <a:solidFill>
              <a:srgbClr val="D97706"/>
            </a:solidFill>
            <a:prstDash val="solid"/>
          </a:ln>
        </p:spPr>
      </p:sp>
      <p:sp>
        <p:nvSpPr>
          <p:cNvPr id="43" name="Text 40"/>
          <p:cNvSpPr/>
          <p:nvPr/>
        </p:nvSpPr>
        <p:spPr>
          <a:xfrm>
            <a:off x="250607" y="2675402"/>
            <a:ext cx="614682"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4" name="Text 41"/>
          <p:cNvSpPr/>
          <p:nvPr/>
        </p:nvSpPr>
        <p:spPr>
          <a:xfrm>
            <a:off x="933658" y="2648242"/>
            <a:ext cx="3480235" cy="621792"/>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UC5 — Modifier Les Profils Utilisateurs</a:t>
            </a:r>
            <a:endParaRPr lang="en-US" sz="1100" dirty="0"/>
          </a:p>
        </p:txBody>
      </p:sp>
      <p:sp>
        <p:nvSpPr>
          <p:cNvPr id="45" name="Shape 42"/>
          <p:cNvSpPr/>
          <p:nvPr/>
        </p:nvSpPr>
        <p:spPr>
          <a:xfrm>
            <a:off x="4613147" y="2741436"/>
            <a:ext cx="4137660" cy="490862"/>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46" name="Shape 43"/>
          <p:cNvSpPr/>
          <p:nvPr/>
        </p:nvSpPr>
        <p:spPr>
          <a:xfrm>
            <a:off x="4619439" y="2756780"/>
            <a:ext cx="502920" cy="475518"/>
          </a:xfrm>
          <a:prstGeom prst="rect">
            <a:avLst/>
          </a:prstGeom>
          <a:solidFill>
            <a:srgbClr val="64748B"/>
          </a:solidFill>
          <a:ln w="12700">
            <a:solidFill>
              <a:srgbClr val="64748B"/>
            </a:solidFill>
            <a:prstDash val="solid"/>
          </a:ln>
        </p:spPr>
      </p:sp>
      <p:sp>
        <p:nvSpPr>
          <p:cNvPr id="47" name="Text 44"/>
          <p:cNvSpPr/>
          <p:nvPr/>
        </p:nvSpPr>
        <p:spPr>
          <a:xfrm>
            <a:off x="4711037" y="2751589"/>
            <a:ext cx="320040" cy="46486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cs typeface="Calibri" pitchFamily="34" charset="-120"/>
              </a:rPr>
              <a:t>08</a:t>
            </a:r>
            <a:endParaRPr lang="en-US" sz="1300" dirty="0"/>
          </a:p>
        </p:txBody>
      </p:sp>
      <p:sp>
        <p:nvSpPr>
          <p:cNvPr id="48" name="Text 45"/>
          <p:cNvSpPr/>
          <p:nvPr/>
        </p:nvSpPr>
        <p:spPr>
          <a:xfrm>
            <a:off x="5172809" y="2741436"/>
            <a:ext cx="3355848" cy="464864"/>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cs typeface="Calibri" pitchFamily="34" charset="-120"/>
              </a:rPr>
              <a:t>Diagramme de Cas D’Utilisation</a:t>
            </a:r>
            <a:endParaRPr lang="en-US" sz="1100" dirty="0"/>
          </a:p>
        </p:txBody>
      </p:sp>
      <p:sp>
        <p:nvSpPr>
          <p:cNvPr id="58" name="Text 40"/>
          <p:cNvSpPr/>
          <p:nvPr/>
        </p:nvSpPr>
        <p:spPr>
          <a:xfrm>
            <a:off x="4595284" y="3966472"/>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61" name="ZoneTexte 60"/>
          <p:cNvSpPr txBox="1"/>
          <p:nvPr/>
        </p:nvSpPr>
        <p:spPr>
          <a:xfrm>
            <a:off x="1005840" y="1051560"/>
            <a:ext cx="2673025" cy="261610"/>
          </a:xfrm>
          <a:prstGeom prst="rect">
            <a:avLst/>
          </a:prstGeom>
          <a:noFill/>
        </p:spPr>
        <p:txBody>
          <a:bodyPr wrap="square" rtlCol="0">
            <a:spAutoFit/>
          </a:bodyPr>
          <a:lstStyle/>
          <a:p>
            <a:r>
              <a:rPr lang="fr-CM" sz="1100" b="1" dirty="0">
                <a:solidFill>
                  <a:schemeClr val="accent1">
                    <a:lumMod val="50000"/>
                  </a:schemeClr>
                </a:solidFill>
              </a:rPr>
              <a:t>INTRODUCTION</a:t>
            </a:r>
          </a:p>
        </p:txBody>
      </p:sp>
      <p:sp>
        <p:nvSpPr>
          <p:cNvPr id="62" name="Shape 2"/>
          <p:cNvSpPr/>
          <p:nvPr/>
        </p:nvSpPr>
        <p:spPr>
          <a:xfrm>
            <a:off x="4595283" y="3400860"/>
            <a:ext cx="4155523" cy="484986"/>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txBody>
          <a:bodyPr/>
          <a:lstStyle/>
          <a:p>
            <a:endParaRPr lang="fr-CM" dirty="0"/>
          </a:p>
        </p:txBody>
      </p:sp>
      <p:sp>
        <p:nvSpPr>
          <p:cNvPr id="63" name="Shape 3"/>
          <p:cNvSpPr/>
          <p:nvPr/>
        </p:nvSpPr>
        <p:spPr>
          <a:xfrm>
            <a:off x="4604004" y="3413120"/>
            <a:ext cx="519985" cy="474833"/>
          </a:xfrm>
          <a:prstGeom prst="rect">
            <a:avLst/>
          </a:prstGeom>
          <a:solidFill>
            <a:srgbClr val="1B3A6B"/>
          </a:solidFill>
          <a:ln w="12700">
            <a:solidFill>
              <a:srgbClr val="1B3A6B"/>
            </a:solidFill>
            <a:prstDash val="solid"/>
          </a:ln>
        </p:spPr>
        <p:txBody>
          <a:bodyPr/>
          <a:lstStyle/>
          <a:p>
            <a:pPr algn="ctr"/>
            <a:r>
              <a:rPr lang="fr-FR" sz="1400" b="1" dirty="0">
                <a:solidFill>
                  <a:schemeClr val="bg1"/>
                </a:solidFill>
              </a:rPr>
              <a:t>0</a:t>
            </a:r>
            <a:r>
              <a:rPr lang="fr-CM" sz="1400" b="1" dirty="0">
                <a:solidFill>
                  <a:schemeClr val="bg1"/>
                </a:solidFill>
              </a:rPr>
              <a:t>9</a:t>
            </a:r>
          </a:p>
        </p:txBody>
      </p:sp>
      <p:sp>
        <p:nvSpPr>
          <p:cNvPr id="64" name="ZoneTexte 63"/>
          <p:cNvSpPr txBox="1"/>
          <p:nvPr/>
        </p:nvSpPr>
        <p:spPr>
          <a:xfrm>
            <a:off x="5308516" y="3519732"/>
            <a:ext cx="2673025" cy="261610"/>
          </a:xfrm>
          <a:prstGeom prst="rect">
            <a:avLst/>
          </a:prstGeom>
          <a:noFill/>
        </p:spPr>
        <p:txBody>
          <a:bodyPr wrap="square" rtlCol="0">
            <a:spAutoFit/>
          </a:bodyPr>
          <a:lstStyle/>
          <a:p>
            <a:pPr algn="ctr"/>
            <a:r>
              <a:rPr lang="fr-CM" sz="1100" b="1" dirty="0">
                <a:solidFill>
                  <a:schemeClr val="accent1">
                    <a:lumMod val="50000"/>
                  </a:schemeClr>
                </a:solidFil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3716"/>
            <a:ext cx="9144000" cy="868680"/>
          </a:xfrm>
          <a:prstGeom prst="rect">
            <a:avLst/>
          </a:prstGeom>
          <a:solidFill>
            <a:srgbClr val="1B3A6B"/>
          </a:solidFill>
          <a:ln w="12700">
            <a:solidFill>
              <a:srgbClr val="1B3A6B"/>
            </a:solidFill>
            <a:prstDash val="solid"/>
          </a:ln>
        </p:spPr>
      </p:sp>
      <p:sp>
        <p:nvSpPr>
          <p:cNvPr id="3" name="Text 1"/>
          <p:cNvSpPr/>
          <p:nvPr/>
        </p:nvSpPr>
        <p:spPr>
          <a:xfrm>
            <a:off x="914400" y="91440"/>
            <a:ext cx="6769395" cy="658368"/>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cs typeface="Calibri" pitchFamily="34" charset="-120"/>
              </a:rPr>
              <a:t>INTRODUCTION</a:t>
            </a:r>
            <a:endParaRPr lang="en-US" sz="3200" dirty="0"/>
          </a:p>
        </p:txBody>
      </p:sp>
      <p:sp>
        <p:nvSpPr>
          <p:cNvPr id="4" name="Shape 5"/>
          <p:cNvSpPr/>
          <p:nvPr/>
        </p:nvSpPr>
        <p:spPr>
          <a:xfrm>
            <a:off x="283534" y="960120"/>
            <a:ext cx="8576931" cy="297180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5" name="ZoneTexte 4"/>
          <p:cNvSpPr txBox="1"/>
          <p:nvPr/>
        </p:nvSpPr>
        <p:spPr>
          <a:xfrm>
            <a:off x="723015" y="1083750"/>
            <a:ext cx="7556205" cy="2585323"/>
          </a:xfrm>
          <a:prstGeom prst="rect">
            <a:avLst/>
          </a:prstGeom>
          <a:noFill/>
        </p:spPr>
        <p:txBody>
          <a:bodyPr wrap="square" rtlCol="0">
            <a:spAutoFit/>
          </a:bodyPr>
          <a:lstStyle/>
          <a:p>
            <a:pPr algn="just">
              <a:lnSpc>
                <a:spcPct val="150000"/>
              </a:lnSpc>
            </a:pPr>
            <a:r>
              <a:rPr lang="fr-FR" dirty="0"/>
              <a:t>	La modélisation de notre système repose sur une identification rigoureuse des entités qui interagissent avec lui. Cette analyse formalise les rôles des acteurs externes, initiateurs des requêtes d’accès ou des audits offensifs, et des composants internes automatisés, garants de l'intégrité cryptographique et de la capture des données. La définition précise de leurs actions jette ainsi les bases de notre diagramme de cas d'utilisation global.</a:t>
            </a:r>
            <a:endParaRPr lang="fr-CM" dirty="0"/>
          </a:p>
        </p:txBody>
      </p:sp>
    </p:spTree>
    <p:extLst>
      <p:ext uri="{BB962C8B-B14F-4D97-AF65-F5344CB8AC3E}">
        <p14:creationId xmlns:p14="http://schemas.microsoft.com/office/powerpoint/2010/main" val="2296918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57552"/>
            <a:ext cx="9143999" cy="868680"/>
          </a:xfrm>
          <a:prstGeom prst="rect">
            <a:avLst/>
          </a:prstGeom>
          <a:solidFill>
            <a:srgbClr val="1B3A6B"/>
          </a:solidFill>
          <a:ln w="12700">
            <a:solidFill>
              <a:srgbClr val="1B3A6B"/>
            </a:solidFill>
            <a:prstDash val="solid"/>
          </a:ln>
        </p:spPr>
      </p:sp>
      <p:sp>
        <p:nvSpPr>
          <p:cNvPr id="3" name="Text 1"/>
          <p:cNvSpPr/>
          <p:nvPr/>
        </p:nvSpPr>
        <p:spPr>
          <a:xfrm>
            <a:off x="914400" y="91440"/>
            <a:ext cx="6769395" cy="658368"/>
          </a:xfrm>
          <a:prstGeom prst="rect">
            <a:avLst/>
          </a:prstGeom>
          <a:noFill/>
          <a:ln/>
        </p:spPr>
        <p:txBody>
          <a:bodyPr wrap="square" lIns="0" tIns="0" rIns="0" bIns="0" rtlCol="0" anchor="ctr"/>
          <a:lstStyle/>
          <a:p>
            <a:pPr marL="0" indent="0" algn="ctr">
              <a:buNone/>
            </a:pPr>
            <a:r>
              <a:rPr lang="en-US" sz="3200" b="1" dirty="0">
                <a:solidFill>
                  <a:schemeClr val="bg1"/>
                </a:solidFill>
              </a:rPr>
              <a:t>Présentation des Acteurs</a:t>
            </a:r>
          </a:p>
        </p:txBody>
      </p:sp>
      <p:sp>
        <p:nvSpPr>
          <p:cNvPr id="4" name="Shape 5"/>
          <p:cNvSpPr/>
          <p:nvPr/>
        </p:nvSpPr>
        <p:spPr>
          <a:xfrm>
            <a:off x="283534" y="960120"/>
            <a:ext cx="8576931" cy="92538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6" name="ZoneTexte 5"/>
          <p:cNvSpPr txBox="1"/>
          <p:nvPr/>
        </p:nvSpPr>
        <p:spPr>
          <a:xfrm>
            <a:off x="503274" y="1041990"/>
            <a:ext cx="8109097" cy="738664"/>
          </a:xfrm>
          <a:prstGeom prst="rect">
            <a:avLst/>
          </a:prstGeom>
          <a:noFill/>
        </p:spPr>
        <p:txBody>
          <a:bodyPr wrap="square" rtlCol="0">
            <a:spAutoFit/>
          </a:bodyPr>
          <a:lstStyle/>
          <a:p>
            <a:pPr algn="just"/>
            <a:r>
              <a:rPr lang="fr-FR" sz="1050" dirty="0"/>
              <a:t>La modélisation de notre système d'authentification biométrique repose sur une identification rigoureuse des entités qui gravitent autour de l'application. Cette analyse formalise d'une part les </a:t>
            </a:r>
            <a:r>
              <a:rPr lang="fr-FR" sz="1050" b="1" dirty="0"/>
              <a:t>acteurs internes</a:t>
            </a:r>
            <a:r>
              <a:rPr lang="fr-FR" sz="1050" dirty="0"/>
              <a:t>, qui initient les demandes d'accès ou simulent des vecteurs de menace, et d'autre part les </a:t>
            </a:r>
            <a:r>
              <a:rPr lang="fr-FR" sz="1050" b="1" dirty="0"/>
              <a:t>acteurs externes</a:t>
            </a:r>
            <a:r>
              <a:rPr lang="fr-FR" sz="1050" dirty="0"/>
              <a:t>, qui correspondent aux composants matériels et cryptographiques sollicités de manière automatisée. La définition précise de leurs rôles et de leurs interactions jette les bases de notre analyse fonctionnelle globale. </a:t>
            </a:r>
            <a:endParaRPr lang="fr-CM" sz="1050" dirty="0"/>
          </a:p>
        </p:txBody>
      </p:sp>
      <p:sp>
        <p:nvSpPr>
          <p:cNvPr id="19" name="Shape 9">
            <a:extLst>
              <a:ext uri="{FF2B5EF4-FFF2-40B4-BE49-F238E27FC236}">
                <a16:creationId xmlns:a16="http://schemas.microsoft.com/office/drawing/2014/main" id="{29C9DEB5-DD7B-4046-806C-9ADC88570C7A}"/>
              </a:ext>
            </a:extLst>
          </p:cNvPr>
          <p:cNvSpPr/>
          <p:nvPr/>
        </p:nvSpPr>
        <p:spPr>
          <a:xfrm>
            <a:off x="2981052" y="2034499"/>
            <a:ext cx="3416595" cy="2928841"/>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20" name="Text 10">
            <a:extLst>
              <a:ext uri="{FF2B5EF4-FFF2-40B4-BE49-F238E27FC236}">
                <a16:creationId xmlns:a16="http://schemas.microsoft.com/office/drawing/2014/main" id="{088DDBB5-7A2C-430F-92D9-E37964EEC334}"/>
              </a:ext>
            </a:extLst>
          </p:cNvPr>
          <p:cNvSpPr/>
          <p:nvPr/>
        </p:nvSpPr>
        <p:spPr>
          <a:xfrm>
            <a:off x="3599478" y="2073676"/>
            <a:ext cx="2103120" cy="320040"/>
          </a:xfrm>
          <a:prstGeom prst="rect">
            <a:avLst/>
          </a:prstGeom>
          <a:noFill/>
          <a:ln/>
        </p:spPr>
        <p:txBody>
          <a:bodyPr wrap="square" lIns="0" tIns="0" rIns="0" bIns="0" rtlCol="0" anchor="ctr"/>
          <a:lstStyle/>
          <a:p>
            <a:r>
              <a:rPr lang="en-US" sz="1200" b="1" dirty="0"/>
              <a:t>Les Acteurs Internes</a:t>
            </a:r>
            <a:endParaRPr lang="en-US" sz="1150" b="1" dirty="0"/>
          </a:p>
        </p:txBody>
      </p:sp>
      <p:sp>
        <p:nvSpPr>
          <p:cNvPr id="21" name="Shape 11">
            <a:extLst>
              <a:ext uri="{FF2B5EF4-FFF2-40B4-BE49-F238E27FC236}">
                <a16:creationId xmlns:a16="http://schemas.microsoft.com/office/drawing/2014/main" id="{6CB82603-E0FE-4922-AD31-A74456B622BE}"/>
              </a:ext>
            </a:extLst>
          </p:cNvPr>
          <p:cNvSpPr/>
          <p:nvPr/>
        </p:nvSpPr>
        <p:spPr>
          <a:xfrm flipV="1">
            <a:off x="3233718" y="2375429"/>
            <a:ext cx="2962144" cy="45719"/>
          </a:xfrm>
          <a:prstGeom prst="rect">
            <a:avLst/>
          </a:prstGeom>
          <a:solidFill>
            <a:srgbClr val="CADCFC"/>
          </a:solidFill>
          <a:ln w="12700">
            <a:solidFill>
              <a:srgbClr val="CADCFC"/>
            </a:solidFill>
            <a:prstDash val="solid"/>
          </a:ln>
        </p:spPr>
      </p:sp>
      <p:sp>
        <p:nvSpPr>
          <p:cNvPr id="24" name="Rectangle 1">
            <a:extLst>
              <a:ext uri="{FF2B5EF4-FFF2-40B4-BE49-F238E27FC236}">
                <a16:creationId xmlns:a16="http://schemas.microsoft.com/office/drawing/2014/main" id="{7E5F3325-8E23-43C6-92ED-890BE2B27AF8}"/>
              </a:ext>
            </a:extLst>
          </p:cNvPr>
          <p:cNvSpPr>
            <a:spLocks noChangeArrowheads="1"/>
          </p:cNvSpPr>
          <p:nvPr/>
        </p:nvSpPr>
        <p:spPr bwMode="auto">
          <a:xfrm rot="10800000" flipV="1">
            <a:off x="3027856" y="2422967"/>
            <a:ext cx="217914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lvl="0" indent="-228600" eaLnBrk="0" fontAlgn="base" hangingPunct="0">
              <a:spcBef>
                <a:spcPct val="0"/>
              </a:spcBef>
              <a:spcAft>
                <a:spcPct val="0"/>
              </a:spcAft>
              <a:buFont typeface="+mj-lt"/>
              <a:buAutoNum type="arabicPeriod"/>
            </a:pPr>
            <a:r>
              <a:rPr lang="en-US" sz="1000" b="1" dirty="0"/>
              <a:t>L’Utilisateur Légitime:</a:t>
            </a:r>
          </a:p>
          <a:p>
            <a:pPr lvl="0" eaLnBrk="0" fontAlgn="base" hangingPunct="0">
              <a:spcBef>
                <a:spcPct val="0"/>
              </a:spcBef>
              <a:spcAft>
                <a:spcPct val="0"/>
              </a:spcAft>
            </a:pPr>
            <a:r>
              <a:rPr lang="en-US" sz="1000" b="1" dirty="0"/>
              <a:t>       </a:t>
            </a:r>
          </a:p>
          <a:p>
            <a:pPr lvl="0" eaLnBrk="0" fontAlgn="base" hangingPunct="0">
              <a:spcBef>
                <a:spcPct val="0"/>
              </a:spcBef>
              <a:spcAft>
                <a:spcPct val="0"/>
              </a:spcAft>
            </a:pPr>
            <a:endParaRPr kumimoji="0" lang="en-US" altLang="en-US" sz="1000" b="0" i="0" u="none" strike="noStrike" cap="none" normalizeH="0" baseline="0" dirty="0">
              <a:ln>
                <a:noFill/>
              </a:ln>
              <a:solidFill>
                <a:schemeClr val="tx1"/>
              </a:solidFill>
              <a:effectLst/>
            </a:endParaRPr>
          </a:p>
        </p:txBody>
      </p:sp>
      <p:sp>
        <p:nvSpPr>
          <p:cNvPr id="26" name="Rectangle 1">
            <a:extLst>
              <a:ext uri="{FF2B5EF4-FFF2-40B4-BE49-F238E27FC236}">
                <a16:creationId xmlns:a16="http://schemas.microsoft.com/office/drawing/2014/main" id="{EC94A9FC-AC8E-47D0-94A5-C5521F8F13BF}"/>
              </a:ext>
            </a:extLst>
          </p:cNvPr>
          <p:cNvSpPr>
            <a:spLocks noChangeArrowheads="1"/>
          </p:cNvSpPr>
          <p:nvPr/>
        </p:nvSpPr>
        <p:spPr bwMode="auto">
          <a:xfrm>
            <a:off x="3232551" y="2659773"/>
            <a:ext cx="246888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Initie la demande d'accès au système (</a:t>
            </a:r>
            <a:r>
              <a:rPr kumimoji="0" lang="en-US" altLang="en-US" sz="900" b="0" i="1" u="none" strike="noStrike" cap="none" normalizeH="0" baseline="0" dirty="0">
                <a:ln>
                  <a:noFill/>
                </a:ln>
                <a:solidFill>
                  <a:schemeClr val="tx1"/>
                </a:solidFill>
                <a:effectLst/>
                <a:latin typeface="+mj-lt"/>
              </a:rPr>
              <a:t>S'authentifier</a:t>
            </a:r>
            <a:r>
              <a:rPr kumimoji="0" lang="en-US" altLang="en-US" sz="9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900" dirty="0">
                <a:latin typeface="+mj-lt"/>
              </a:rPr>
              <a:t>Enregistrer sa présence</a:t>
            </a:r>
            <a:r>
              <a:rPr kumimoji="0" lang="en-US" altLang="en-US" sz="900" b="0" i="0" u="none" strike="noStrike" cap="none" normalizeH="0" baseline="0" dirty="0">
                <a:ln>
                  <a:noFill/>
                </a:ln>
                <a:solidFill>
                  <a:schemeClr val="tx1"/>
                </a:solidFill>
                <a:effectLst/>
                <a:latin typeface="+mj-lt"/>
              </a:rPr>
              <a:t>.</a:t>
            </a:r>
          </a:p>
        </p:txBody>
      </p:sp>
      <p:sp>
        <p:nvSpPr>
          <p:cNvPr id="29" name="Rectangle 1">
            <a:extLst>
              <a:ext uri="{FF2B5EF4-FFF2-40B4-BE49-F238E27FC236}">
                <a16:creationId xmlns:a16="http://schemas.microsoft.com/office/drawing/2014/main" id="{7CEF4495-2551-42B9-A31D-67AC6699686E}"/>
              </a:ext>
            </a:extLst>
          </p:cNvPr>
          <p:cNvSpPr>
            <a:spLocks noChangeArrowheads="1"/>
          </p:cNvSpPr>
          <p:nvPr/>
        </p:nvSpPr>
        <p:spPr bwMode="auto">
          <a:xfrm rot="10800000" flipV="1">
            <a:off x="3016635" y="3492441"/>
            <a:ext cx="217914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000" b="1" dirty="0"/>
              <a:t>3</a:t>
            </a:r>
            <a:r>
              <a:rPr kumimoji="0" lang="en-US" altLang="en-US" sz="1000" b="1" i="0" u="none" strike="noStrike" cap="none" normalizeH="0" baseline="0" dirty="0">
                <a:ln>
                  <a:noFill/>
                </a:ln>
                <a:solidFill>
                  <a:schemeClr val="tx1"/>
                </a:solidFill>
                <a:effectLst/>
              </a:rPr>
              <a:t>.        </a:t>
            </a:r>
            <a:r>
              <a:rPr lang="en-US" sz="1000" b="1" dirty="0"/>
              <a:t>L’administrateur:</a:t>
            </a:r>
          </a:p>
          <a:p>
            <a:pPr lvl="0" eaLnBrk="0" fontAlgn="base" hangingPunct="0">
              <a:spcBef>
                <a:spcPct val="0"/>
              </a:spcBef>
              <a:spcAft>
                <a:spcPct val="0"/>
              </a:spcAft>
            </a:pPr>
            <a:r>
              <a:rPr lang="en-US" sz="1000" b="1" dirty="0"/>
              <a:t>       </a:t>
            </a:r>
          </a:p>
          <a:p>
            <a:pPr lvl="0" eaLnBrk="0" fontAlgn="base" hangingPunct="0">
              <a:spcBef>
                <a:spcPct val="0"/>
              </a:spcBef>
              <a:spcAft>
                <a:spcPct val="0"/>
              </a:spcAft>
            </a:pPr>
            <a:endParaRPr kumimoji="0" lang="en-US" altLang="en-US" sz="1000" b="0" i="0" u="none" strike="noStrike" cap="none" normalizeH="0" baseline="0" dirty="0">
              <a:ln>
                <a:noFill/>
              </a:ln>
              <a:solidFill>
                <a:schemeClr val="tx1"/>
              </a:solidFill>
              <a:effectLst/>
            </a:endParaRPr>
          </a:p>
        </p:txBody>
      </p:sp>
      <p:sp>
        <p:nvSpPr>
          <p:cNvPr id="30" name="Rectangle 3">
            <a:extLst>
              <a:ext uri="{FF2B5EF4-FFF2-40B4-BE49-F238E27FC236}">
                <a16:creationId xmlns:a16="http://schemas.microsoft.com/office/drawing/2014/main" id="{DC32C1C8-73E3-4785-AE8F-2F660AD37AC9}"/>
              </a:ext>
            </a:extLst>
          </p:cNvPr>
          <p:cNvSpPr>
            <a:spLocks noChangeArrowheads="1"/>
          </p:cNvSpPr>
          <p:nvPr/>
        </p:nvSpPr>
        <p:spPr bwMode="auto">
          <a:xfrm rot="10800000" flipV="1">
            <a:off x="3209650" y="3745592"/>
            <a:ext cx="30188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Enrôle et enregistre les nouveaux utilisateurs dans le système.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Révoque et supprime les profils existants ainsi que leurs données.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Consulte et analyse les journaux d'audit (</a:t>
            </a:r>
            <a:r>
              <a:rPr kumimoji="0" lang="en-US" altLang="en-US" sz="900" b="0" i="1" u="none" strike="noStrike" cap="none" normalizeH="0" baseline="0" dirty="0">
                <a:ln>
                  <a:noFill/>
                </a:ln>
                <a:solidFill>
                  <a:schemeClr val="tx1"/>
                </a:solidFill>
                <a:effectLst/>
                <a:latin typeface="+mj-lt"/>
              </a:rPr>
              <a:t>Logs d'accès et d'alertes</a:t>
            </a:r>
            <a:r>
              <a:rPr kumimoji="0" lang="en-US" altLang="en-US" sz="9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mj-lt"/>
              </a:rPr>
              <a:t>Configure et ajuste le seuil de similarité de la reconnaissance</a:t>
            </a:r>
            <a:r>
              <a:rPr kumimoji="0" lang="en-US" altLang="en-US" sz="9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5515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B3A6B"/>
          </a:solidFill>
          <a:ln w="12700">
            <a:solidFill>
              <a:srgbClr val="1B3A6B"/>
            </a:solidFill>
            <a:prstDash val="solid"/>
          </a:ln>
        </p:spPr>
      </p:sp>
      <p:pic>
        <p:nvPicPr>
          <p:cNvPr id="3" name="Image 0" descr="preencoded.png"/>
          <p:cNvPicPr>
            <a:picLocks noChangeAspect="1"/>
          </p:cNvPicPr>
          <p:nvPr/>
        </p:nvPicPr>
        <p:blipFill>
          <a:blip r:embed="rId3"/>
          <a:stretch>
            <a:fillRect/>
          </a:stretch>
        </p:blipFill>
        <p:spPr>
          <a:xfrm>
            <a:off x="274320" y="182880"/>
            <a:ext cx="457200" cy="457200"/>
          </a:xfrm>
          <a:prstGeom prst="rect">
            <a:avLst/>
          </a:prstGeom>
        </p:spPr>
      </p:pic>
      <p:sp>
        <p:nvSpPr>
          <p:cNvPr id="4" name="Text 1"/>
          <p:cNvSpPr/>
          <p:nvPr/>
        </p:nvSpPr>
        <p:spPr>
          <a:xfrm>
            <a:off x="868680" y="54864"/>
            <a:ext cx="8046720" cy="292608"/>
          </a:xfrm>
          <a:prstGeom prst="rect">
            <a:avLst/>
          </a:prstGeom>
          <a:noFill/>
          <a:ln/>
        </p:spPr>
        <p:txBody>
          <a:bodyPr wrap="square" rtlCol="0" anchor="ctr"/>
          <a:lstStyle/>
          <a:p>
            <a:pPr marL="0" indent="0">
              <a:buNone/>
            </a:pPr>
            <a:r>
              <a:rPr lang="en-US" sz="1000" dirty="0">
                <a:solidFill>
                  <a:srgbClr val="B0C4DE"/>
                </a:solidFill>
                <a:latin typeface="Calibri" pitchFamily="34" charset="0"/>
                <a:ea typeface="Calibri" pitchFamily="34" charset="-122"/>
                <a:cs typeface="Calibri" pitchFamily="34" charset="-120"/>
              </a:rPr>
              <a:t>UC1 · Description du cas d'utilisation</a:t>
            </a:r>
            <a:endParaRPr lang="en-US" sz="1000" dirty="0"/>
          </a:p>
        </p:txBody>
      </p:sp>
      <p:sp>
        <p:nvSpPr>
          <p:cNvPr id="5" name="Text 2"/>
          <p:cNvSpPr/>
          <p:nvPr/>
        </p:nvSpPr>
        <p:spPr>
          <a:xfrm>
            <a:off x="868680" y="347472"/>
            <a:ext cx="8046720" cy="47548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S'authentifier par reconnaissance faciale</a:t>
            </a:r>
            <a:endParaRPr lang="en-US" sz="1700" dirty="0"/>
          </a:p>
        </p:txBody>
      </p:sp>
      <p:sp>
        <p:nvSpPr>
          <p:cNvPr id="6" name="Shape 3"/>
          <p:cNvSpPr/>
          <p:nvPr/>
        </p:nvSpPr>
        <p:spPr>
          <a:xfrm>
            <a:off x="256032" y="932688"/>
            <a:ext cx="8631936" cy="329184"/>
          </a:xfrm>
          <a:prstGeom prst="rect">
            <a:avLst/>
          </a:prstGeom>
          <a:solidFill>
            <a:srgbClr val="1B3A6B">
              <a:alpha val="85000"/>
            </a:srgbClr>
          </a:solidFill>
          <a:ln w="12700">
            <a:solidFill>
              <a:srgbClr val="1B3A6B"/>
            </a:solidFill>
            <a:prstDash val="solid"/>
          </a:ln>
        </p:spPr>
      </p:sp>
      <p:sp>
        <p:nvSpPr>
          <p:cNvPr id="7" name="Text 4"/>
          <p:cNvSpPr/>
          <p:nvPr/>
        </p:nvSpPr>
        <p:spPr>
          <a:xfrm>
            <a:off x="411480" y="950976"/>
            <a:ext cx="82296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Acteur principal : </a:t>
            </a:r>
            <a:r>
              <a:rPr lang="en-US" sz="1000" dirty="0">
                <a:solidFill>
                  <a:srgbClr val="E0F2FE"/>
                </a:solidFill>
                <a:latin typeface="Calibri" pitchFamily="34" charset="0"/>
                <a:ea typeface="Calibri" pitchFamily="34" charset="-122"/>
                <a:cs typeface="Calibri" pitchFamily="34" charset="-120"/>
              </a:rPr>
              <a:t>Utilisateur et Administrateur</a:t>
            </a:r>
            <a:endParaRPr lang="en-US" sz="1000" dirty="0"/>
          </a:p>
        </p:txBody>
      </p:sp>
      <p:sp>
        <p:nvSpPr>
          <p:cNvPr id="8" name="Shape 5"/>
          <p:cNvSpPr/>
          <p:nvPr/>
        </p:nvSpPr>
        <p:spPr>
          <a:xfrm>
            <a:off x="256032" y="1316736"/>
            <a:ext cx="8631936" cy="475488"/>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9" name="Shape 6"/>
          <p:cNvSpPr/>
          <p:nvPr/>
        </p:nvSpPr>
        <p:spPr>
          <a:xfrm>
            <a:off x="256032" y="1316736"/>
            <a:ext cx="164592" cy="475488"/>
          </a:xfrm>
          <a:prstGeom prst="rect">
            <a:avLst/>
          </a:prstGeom>
          <a:solidFill>
            <a:srgbClr val="0D9488"/>
          </a:solidFill>
          <a:ln w="12700">
            <a:solidFill>
              <a:srgbClr val="0D9488"/>
            </a:solidFill>
            <a:prstDash val="solid"/>
          </a:ln>
        </p:spPr>
      </p:sp>
      <p:sp>
        <p:nvSpPr>
          <p:cNvPr id="10" name="Shape 7"/>
          <p:cNvSpPr/>
          <p:nvPr/>
        </p:nvSpPr>
        <p:spPr>
          <a:xfrm>
            <a:off x="420624" y="1316736"/>
            <a:ext cx="8467344" cy="274320"/>
          </a:xfrm>
          <a:prstGeom prst="rect">
            <a:avLst/>
          </a:prstGeom>
          <a:solidFill>
            <a:srgbClr val="0D9488">
              <a:alpha val="12000"/>
            </a:srgbClr>
          </a:solidFill>
          <a:ln w="12700">
            <a:solidFill>
              <a:srgbClr val="0D9488"/>
            </a:solidFill>
            <a:prstDash val="solid"/>
          </a:ln>
        </p:spPr>
      </p:sp>
      <p:pic>
        <p:nvPicPr>
          <p:cNvPr id="11" name="Image 1" descr="preencoded.png"/>
          <p:cNvPicPr>
            <a:picLocks noChangeAspect="1"/>
          </p:cNvPicPr>
          <p:nvPr/>
        </p:nvPicPr>
        <p:blipFill>
          <a:blip r:embed="rId4"/>
          <a:stretch>
            <a:fillRect/>
          </a:stretch>
        </p:blipFill>
        <p:spPr>
          <a:xfrm>
            <a:off x="457200" y="1353312"/>
            <a:ext cx="201168" cy="201168"/>
          </a:xfrm>
          <a:prstGeom prst="rect">
            <a:avLst/>
          </a:prstGeom>
        </p:spPr>
      </p:pic>
      <p:sp>
        <p:nvSpPr>
          <p:cNvPr id="12" name="Text 8"/>
          <p:cNvSpPr/>
          <p:nvPr/>
        </p:nvSpPr>
        <p:spPr>
          <a:xfrm>
            <a:off x="704088" y="1344168"/>
            <a:ext cx="8046720" cy="237744"/>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Précondition</a:t>
            </a:r>
            <a:endParaRPr lang="en-US" sz="1000" dirty="0"/>
          </a:p>
        </p:txBody>
      </p:sp>
      <p:sp>
        <p:nvSpPr>
          <p:cNvPr id="13" name="Text 9"/>
          <p:cNvSpPr/>
          <p:nvPr/>
        </p:nvSpPr>
        <p:spPr>
          <a:xfrm>
            <a:off x="475488" y="1609344"/>
            <a:ext cx="8366760" cy="1828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L'utilisateur est devant la webcam. Le système est démarré. La BDD contient au moins un profil.</a:t>
            </a:r>
            <a:endParaRPr lang="en-US" sz="950" dirty="0"/>
          </a:p>
        </p:txBody>
      </p:sp>
      <p:sp>
        <p:nvSpPr>
          <p:cNvPr id="14" name="Shape 10"/>
          <p:cNvSpPr/>
          <p:nvPr/>
        </p:nvSpPr>
        <p:spPr>
          <a:xfrm>
            <a:off x="256032" y="1856232"/>
            <a:ext cx="8631936" cy="475488"/>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15" name="Shape 11"/>
          <p:cNvSpPr/>
          <p:nvPr/>
        </p:nvSpPr>
        <p:spPr>
          <a:xfrm>
            <a:off x="256032" y="1856232"/>
            <a:ext cx="164592" cy="475488"/>
          </a:xfrm>
          <a:prstGeom prst="rect">
            <a:avLst/>
          </a:prstGeom>
          <a:solidFill>
            <a:srgbClr val="10B981"/>
          </a:solidFill>
          <a:ln w="12700">
            <a:solidFill>
              <a:srgbClr val="10B981"/>
            </a:solidFill>
            <a:prstDash val="solid"/>
          </a:ln>
        </p:spPr>
      </p:sp>
      <p:sp>
        <p:nvSpPr>
          <p:cNvPr id="16" name="Shape 12"/>
          <p:cNvSpPr/>
          <p:nvPr/>
        </p:nvSpPr>
        <p:spPr>
          <a:xfrm>
            <a:off x="420624" y="1856232"/>
            <a:ext cx="8467344" cy="274320"/>
          </a:xfrm>
          <a:prstGeom prst="rect">
            <a:avLst/>
          </a:prstGeom>
          <a:solidFill>
            <a:srgbClr val="10B981">
              <a:alpha val="12000"/>
            </a:srgbClr>
          </a:solidFill>
          <a:ln w="12700">
            <a:solidFill>
              <a:srgbClr val="10B981"/>
            </a:solidFill>
            <a:prstDash val="solid"/>
          </a:ln>
        </p:spPr>
      </p:sp>
      <p:pic>
        <p:nvPicPr>
          <p:cNvPr id="17" name="Image 2" descr="preencoded.png"/>
          <p:cNvPicPr>
            <a:picLocks noChangeAspect="1"/>
          </p:cNvPicPr>
          <p:nvPr/>
        </p:nvPicPr>
        <p:blipFill>
          <a:blip r:embed="rId5"/>
          <a:stretch>
            <a:fillRect/>
          </a:stretch>
        </p:blipFill>
        <p:spPr>
          <a:xfrm>
            <a:off x="457200" y="1892808"/>
            <a:ext cx="201168" cy="201168"/>
          </a:xfrm>
          <a:prstGeom prst="rect">
            <a:avLst/>
          </a:prstGeom>
        </p:spPr>
      </p:pic>
      <p:sp>
        <p:nvSpPr>
          <p:cNvPr id="18" name="Text 13"/>
          <p:cNvSpPr/>
          <p:nvPr/>
        </p:nvSpPr>
        <p:spPr>
          <a:xfrm>
            <a:off x="704088" y="1883664"/>
            <a:ext cx="8046720" cy="237744"/>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Postcondition</a:t>
            </a:r>
            <a:endParaRPr lang="en-US" sz="1000" dirty="0"/>
          </a:p>
        </p:txBody>
      </p:sp>
      <p:sp>
        <p:nvSpPr>
          <p:cNvPr id="19" name="Text 14"/>
          <p:cNvSpPr/>
          <p:nvPr/>
        </p:nvSpPr>
        <p:spPr>
          <a:xfrm>
            <a:off x="475488" y="2148840"/>
            <a:ext cx="8366760" cy="1828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L'utilisateur est authentifié (accès accordé) ou rejeté. La tentative est journalisée.</a:t>
            </a:r>
            <a:endParaRPr lang="en-US" sz="950" dirty="0"/>
          </a:p>
        </p:txBody>
      </p:sp>
      <p:sp>
        <p:nvSpPr>
          <p:cNvPr id="20" name="Shape 15"/>
          <p:cNvSpPr/>
          <p:nvPr/>
        </p:nvSpPr>
        <p:spPr>
          <a:xfrm>
            <a:off x="256032" y="2395728"/>
            <a:ext cx="8631936" cy="1614085"/>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21" name="Shape 16"/>
          <p:cNvSpPr/>
          <p:nvPr/>
        </p:nvSpPr>
        <p:spPr>
          <a:xfrm>
            <a:off x="256032" y="2395728"/>
            <a:ext cx="164592" cy="1985889"/>
          </a:xfrm>
          <a:prstGeom prst="rect">
            <a:avLst/>
          </a:prstGeom>
          <a:solidFill>
            <a:srgbClr val="1B3A6B"/>
          </a:solidFill>
          <a:ln w="12700">
            <a:solidFill>
              <a:srgbClr val="1B3A6B"/>
            </a:solidFill>
            <a:prstDash val="solid"/>
          </a:ln>
        </p:spPr>
      </p:sp>
      <p:sp>
        <p:nvSpPr>
          <p:cNvPr id="22" name="Shape 17"/>
          <p:cNvSpPr/>
          <p:nvPr/>
        </p:nvSpPr>
        <p:spPr>
          <a:xfrm>
            <a:off x="420624" y="2395728"/>
            <a:ext cx="8467344" cy="274320"/>
          </a:xfrm>
          <a:prstGeom prst="rect">
            <a:avLst/>
          </a:prstGeom>
          <a:solidFill>
            <a:srgbClr val="1B3A6B">
              <a:alpha val="12000"/>
            </a:srgbClr>
          </a:solidFill>
          <a:ln w="12700">
            <a:solidFill>
              <a:srgbClr val="1B3A6B"/>
            </a:solidFill>
            <a:prstDash val="solid"/>
          </a:ln>
        </p:spPr>
      </p:sp>
      <p:pic>
        <p:nvPicPr>
          <p:cNvPr id="23" name="Image 3" descr="preencoded.png"/>
          <p:cNvPicPr>
            <a:picLocks noChangeAspect="1"/>
          </p:cNvPicPr>
          <p:nvPr/>
        </p:nvPicPr>
        <p:blipFill>
          <a:blip r:embed="rId6"/>
          <a:stretch>
            <a:fillRect/>
          </a:stretch>
        </p:blipFill>
        <p:spPr>
          <a:xfrm>
            <a:off x="457200" y="2432304"/>
            <a:ext cx="201168" cy="201168"/>
          </a:xfrm>
          <a:prstGeom prst="rect">
            <a:avLst/>
          </a:prstGeom>
        </p:spPr>
      </p:pic>
      <p:sp>
        <p:nvSpPr>
          <p:cNvPr id="24" name="Text 18"/>
          <p:cNvSpPr/>
          <p:nvPr/>
        </p:nvSpPr>
        <p:spPr>
          <a:xfrm>
            <a:off x="704088" y="2423160"/>
            <a:ext cx="8046720" cy="237744"/>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Flux principal</a:t>
            </a:r>
            <a:endParaRPr lang="en-US" sz="1000" dirty="0"/>
          </a:p>
        </p:txBody>
      </p:sp>
      <p:sp>
        <p:nvSpPr>
          <p:cNvPr id="25" name="Text 19"/>
          <p:cNvSpPr/>
          <p:nvPr/>
        </p:nvSpPr>
        <p:spPr>
          <a:xfrm>
            <a:off x="475488" y="2688336"/>
            <a:ext cx="8366760" cy="1674993"/>
          </a:xfrm>
          <a:prstGeom prst="rect">
            <a:avLst/>
          </a:prstGeom>
          <a:noFill/>
          <a:ln/>
        </p:spPr>
        <p:txBody>
          <a:bodyPr wrap="square" rtlCol="0" anchor="t"/>
          <a:lstStyle/>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1. L'utilisateur lance la procédure via l'interface</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2. Le système active la webcam et capture le flux</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3. Le système détecte un visage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4. Le système génère l'encodage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5. Le système compare avec les profils BDD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6. Le liveness est vérifié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7. Si distance ≤ seuil ET liveness OK → accès accordé ; sinon → refusé</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8. La tentative est journalisée </a:t>
            </a:r>
            <a:endParaRPr lang="en-US" sz="950" dirty="0"/>
          </a:p>
        </p:txBody>
      </p:sp>
      <p:sp>
        <p:nvSpPr>
          <p:cNvPr id="26" name="Shape 20"/>
          <p:cNvSpPr/>
          <p:nvPr/>
        </p:nvSpPr>
        <p:spPr>
          <a:xfrm>
            <a:off x="411480" y="4104542"/>
            <a:ext cx="8494776" cy="631874"/>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27" name="Shape 21"/>
          <p:cNvSpPr/>
          <p:nvPr/>
        </p:nvSpPr>
        <p:spPr>
          <a:xfrm>
            <a:off x="241855" y="4125241"/>
            <a:ext cx="197057" cy="857282"/>
          </a:xfrm>
          <a:prstGeom prst="rect">
            <a:avLst/>
          </a:prstGeom>
          <a:solidFill>
            <a:srgbClr val="D97706"/>
          </a:solidFill>
          <a:ln w="12700">
            <a:solidFill>
              <a:srgbClr val="D97706"/>
            </a:solidFill>
            <a:prstDash val="solid"/>
          </a:ln>
        </p:spPr>
      </p:sp>
      <p:sp>
        <p:nvSpPr>
          <p:cNvPr id="28" name="Shape 22"/>
          <p:cNvSpPr/>
          <p:nvPr/>
        </p:nvSpPr>
        <p:spPr>
          <a:xfrm>
            <a:off x="411480" y="4156464"/>
            <a:ext cx="8467344" cy="274320"/>
          </a:xfrm>
          <a:prstGeom prst="rect">
            <a:avLst/>
          </a:prstGeom>
          <a:solidFill>
            <a:srgbClr val="D97706">
              <a:alpha val="12000"/>
            </a:srgbClr>
          </a:solidFill>
          <a:ln w="12700">
            <a:solidFill>
              <a:srgbClr val="D97706"/>
            </a:solidFill>
            <a:prstDash val="solid"/>
          </a:ln>
        </p:spPr>
      </p:sp>
      <p:pic>
        <p:nvPicPr>
          <p:cNvPr id="29" name="Image 4" descr="preencoded.png"/>
          <p:cNvPicPr>
            <a:picLocks noChangeAspect="1"/>
          </p:cNvPicPr>
          <p:nvPr/>
        </p:nvPicPr>
        <p:blipFill>
          <a:blip r:embed="rId7"/>
          <a:stretch>
            <a:fillRect/>
          </a:stretch>
        </p:blipFill>
        <p:spPr>
          <a:xfrm>
            <a:off x="502991" y="4171305"/>
            <a:ext cx="201168" cy="201168"/>
          </a:xfrm>
          <a:prstGeom prst="rect">
            <a:avLst/>
          </a:prstGeom>
        </p:spPr>
      </p:pic>
      <p:sp>
        <p:nvSpPr>
          <p:cNvPr id="30" name="Text 23"/>
          <p:cNvSpPr/>
          <p:nvPr/>
        </p:nvSpPr>
        <p:spPr>
          <a:xfrm>
            <a:off x="795528" y="4197799"/>
            <a:ext cx="8046720" cy="237744"/>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Flux alternatif</a:t>
            </a:r>
            <a:endParaRPr lang="en-US" sz="1000" dirty="0"/>
          </a:p>
        </p:txBody>
      </p:sp>
      <p:sp>
        <p:nvSpPr>
          <p:cNvPr id="31" name="Text 24"/>
          <p:cNvSpPr/>
          <p:nvPr/>
        </p:nvSpPr>
        <p:spPr>
          <a:xfrm>
            <a:off x="411480" y="4462006"/>
            <a:ext cx="8366760" cy="202106"/>
          </a:xfrm>
          <a:prstGeom prst="rect">
            <a:avLst/>
          </a:prstGeom>
          <a:noFill/>
          <a:ln/>
        </p:spPr>
        <p:txBody>
          <a:bodyPr wrap="square" rtlCol="0" anchor="t"/>
          <a:lstStyle/>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Alt A : Aucun visage → message d'erreur, procédure relancée</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Alt B : Liveness échouée (photo/vidéo) → refus avec log « Attaque suspectée »</a:t>
            </a:r>
            <a:endParaRPr lang="en-US" sz="950" dirty="0"/>
          </a:p>
          <a:p>
            <a:pPr marL="342900" indent="-342900">
              <a:buSzPct val="100000"/>
              <a:buChar char="•"/>
            </a:pPr>
            <a:r>
              <a:rPr lang="en-US" sz="950" dirty="0">
                <a:solidFill>
                  <a:srgbClr val="1E293B"/>
                </a:solidFill>
                <a:latin typeface="Calibri" pitchFamily="34" charset="0"/>
                <a:ea typeface="Calibri" pitchFamily="34" charset="-122"/>
                <a:cs typeface="Calibri" pitchFamily="34" charset="-120"/>
              </a:rPr>
              <a:t>Alt C : BDD vide → authentification impossible</a:t>
            </a:r>
            <a:endParaRPr lang="en-US" sz="950" dirty="0"/>
          </a:p>
        </p:txBody>
      </p:sp>
      <p:sp>
        <p:nvSpPr>
          <p:cNvPr id="32" name="Shape 25"/>
          <p:cNvSpPr/>
          <p:nvPr/>
        </p:nvSpPr>
        <p:spPr>
          <a:xfrm>
            <a:off x="274320" y="5092094"/>
            <a:ext cx="8631936" cy="352213"/>
          </a:xfrm>
          <a:prstGeom prst="rect">
            <a:avLst/>
          </a:prstGeom>
          <a:solidFill>
            <a:srgbClr val="FFFFFF"/>
          </a:solidFill>
          <a:ln w="9525">
            <a:solidFill>
              <a:srgbClr val="CBD5E1"/>
            </a:solidFill>
            <a:prstDash val="solid"/>
          </a:ln>
          <a:effectLst>
            <a:outerShdw blurRad="101600" dist="38100" dir="8100000" algn="bl" rotWithShape="0">
              <a:srgbClr val="000000">
                <a:alpha val="12000"/>
              </a:srgbClr>
            </a:outerShdw>
          </a:effectLst>
        </p:spPr>
      </p:sp>
      <p:sp>
        <p:nvSpPr>
          <p:cNvPr id="33" name="Shape 26"/>
          <p:cNvSpPr/>
          <p:nvPr/>
        </p:nvSpPr>
        <p:spPr>
          <a:xfrm>
            <a:off x="241854" y="4968800"/>
            <a:ext cx="215345" cy="475508"/>
          </a:xfrm>
          <a:prstGeom prst="rect">
            <a:avLst/>
          </a:prstGeom>
          <a:solidFill>
            <a:srgbClr val="7C3AED"/>
          </a:solidFill>
          <a:ln w="12700">
            <a:solidFill>
              <a:srgbClr val="7C3AED"/>
            </a:solidFill>
            <a:prstDash val="solid"/>
          </a:ln>
        </p:spPr>
      </p:sp>
      <p:sp>
        <p:nvSpPr>
          <p:cNvPr id="34" name="Shape 27"/>
          <p:cNvSpPr/>
          <p:nvPr/>
        </p:nvSpPr>
        <p:spPr>
          <a:xfrm>
            <a:off x="420624" y="4981793"/>
            <a:ext cx="8467344" cy="274320"/>
          </a:xfrm>
          <a:prstGeom prst="rect">
            <a:avLst/>
          </a:prstGeom>
          <a:solidFill>
            <a:srgbClr val="7C3AED">
              <a:alpha val="12000"/>
            </a:srgbClr>
          </a:solidFill>
          <a:ln w="12700">
            <a:solidFill>
              <a:srgbClr val="7C3AED"/>
            </a:solidFill>
            <a:prstDash val="solid"/>
          </a:ln>
        </p:spPr>
      </p:sp>
      <p:pic>
        <p:nvPicPr>
          <p:cNvPr id="35" name="Image 5" descr="preencoded.png"/>
          <p:cNvPicPr>
            <a:picLocks noChangeAspect="1"/>
          </p:cNvPicPr>
          <p:nvPr/>
        </p:nvPicPr>
        <p:blipFill>
          <a:blip r:embed="rId8"/>
          <a:stretch>
            <a:fillRect/>
          </a:stretch>
        </p:blipFill>
        <p:spPr>
          <a:xfrm>
            <a:off x="493812" y="5037545"/>
            <a:ext cx="201168" cy="201168"/>
          </a:xfrm>
          <a:prstGeom prst="rect">
            <a:avLst/>
          </a:prstGeom>
        </p:spPr>
      </p:pic>
      <p:sp>
        <p:nvSpPr>
          <p:cNvPr id="36" name="Text 28"/>
          <p:cNvSpPr/>
          <p:nvPr/>
        </p:nvSpPr>
        <p:spPr>
          <a:xfrm>
            <a:off x="758952" y="5006206"/>
            <a:ext cx="8046720" cy="237744"/>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Résultat attendu</a:t>
            </a:r>
            <a:endParaRPr lang="en-US" sz="1000" dirty="0"/>
          </a:p>
        </p:txBody>
      </p:sp>
      <p:sp>
        <p:nvSpPr>
          <p:cNvPr id="37" name="Text 29"/>
          <p:cNvSpPr/>
          <p:nvPr/>
        </p:nvSpPr>
        <p:spPr>
          <a:xfrm>
            <a:off x="585145" y="5221765"/>
            <a:ext cx="8366760" cy="1828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Accès accordé </a:t>
            </a:r>
            <a:r>
              <a:rPr lang="en-US" sz="950" dirty="0" err="1">
                <a:solidFill>
                  <a:srgbClr val="1E293B"/>
                </a:solidFill>
                <a:latin typeface="Calibri" pitchFamily="34" charset="0"/>
                <a:ea typeface="Calibri" pitchFamily="34" charset="-122"/>
                <a:cs typeface="Calibri" pitchFamily="34" charset="-120"/>
              </a:rPr>
              <a:t>si</a:t>
            </a:r>
            <a:r>
              <a:rPr lang="en-US" sz="950" dirty="0">
                <a:solidFill>
                  <a:srgbClr val="1E293B"/>
                </a:solidFill>
                <a:latin typeface="Calibri" pitchFamily="34" charset="0"/>
                <a:ea typeface="Calibri" pitchFamily="34" charset="-122"/>
                <a:cs typeface="Calibri" pitchFamily="34" charset="-120"/>
              </a:rPr>
              <a:t> Utilisateur reconnu ET vivacité validée. Refusé sinon. Tout est tracé.</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21140" cy="720090"/>
          </a:xfrm>
          <a:prstGeom prst="rect">
            <a:avLst/>
          </a:prstGeom>
          <a:solidFill>
            <a:srgbClr val="1A2A4A"/>
          </a:solidFill>
          <a:ln w="12700">
            <a:solidFill>
              <a:srgbClr val="1A2A4A"/>
            </a:solidFill>
            <a:prstDash val="solid"/>
          </a:ln>
        </p:spPr>
      </p:sp>
      <p:sp>
        <p:nvSpPr>
          <p:cNvPr id="3" name="Shape 1"/>
          <p:cNvSpPr/>
          <p:nvPr/>
        </p:nvSpPr>
        <p:spPr>
          <a:xfrm>
            <a:off x="192024" y="89154"/>
            <a:ext cx="377190" cy="377190"/>
          </a:xfrm>
          <a:prstGeom prst="rect">
            <a:avLst/>
          </a:prstGeom>
          <a:solidFill>
            <a:srgbClr val="FFFFFF">
              <a:alpha val="30000"/>
            </a:srgbClr>
          </a:solidFill>
          <a:ln w="6350">
            <a:solidFill>
              <a:srgbClr val="FFFFFF">
                <a:alpha val="50000"/>
              </a:srgbClr>
            </a:solidFill>
            <a:prstDash val="solid"/>
          </a:ln>
        </p:spPr>
      </p:sp>
      <p:sp>
        <p:nvSpPr>
          <p:cNvPr id="4" name="Shape 2"/>
          <p:cNvSpPr/>
          <p:nvPr/>
        </p:nvSpPr>
        <p:spPr>
          <a:xfrm>
            <a:off x="288036" y="185166"/>
            <a:ext cx="192024" cy="192024"/>
          </a:xfrm>
          <a:prstGeom prst="rect">
            <a:avLst/>
          </a:prstGeom>
          <a:solidFill>
            <a:srgbClr val="FFFFFF"/>
          </a:solidFill>
          <a:ln w="12700">
            <a:solidFill>
              <a:srgbClr val="FFFFFF"/>
            </a:solidFill>
            <a:prstDash val="solid"/>
          </a:ln>
        </p:spPr>
      </p:sp>
      <p:sp>
        <p:nvSpPr>
          <p:cNvPr id="5" name="Text 3"/>
          <p:cNvSpPr/>
          <p:nvPr/>
        </p:nvSpPr>
        <p:spPr>
          <a:xfrm>
            <a:off x="651510" y="54864"/>
            <a:ext cx="7543800" cy="150876"/>
          </a:xfrm>
          <a:prstGeom prst="rect">
            <a:avLst/>
          </a:prstGeom>
          <a:noFill/>
          <a:ln/>
        </p:spPr>
        <p:txBody>
          <a:bodyPr wrap="square" lIns="0" tIns="0" rIns="0" bIns="0" rtlCol="0" anchor="ctr"/>
          <a:lstStyle/>
          <a:p>
            <a:pPr defTabSz="685800"/>
            <a:r>
              <a:rPr lang="en-US" sz="675" dirty="0">
                <a:solidFill>
                  <a:srgbClr val="AABBD0"/>
                </a:solidFill>
                <a:latin typeface="Arial" pitchFamily="34" charset="0"/>
                <a:ea typeface="Arial" pitchFamily="34" charset="-122"/>
                <a:cs typeface="Arial" pitchFamily="34" charset="-120"/>
              </a:rPr>
              <a:t>UC2 · Description du cas d'utilisation</a:t>
            </a:r>
            <a:endParaRPr lang="en-US" sz="675" dirty="0">
              <a:solidFill>
                <a:prstClr val="black"/>
              </a:solidFill>
              <a:latin typeface="Calibri" panose="020F0502020204030204"/>
            </a:endParaRPr>
          </a:p>
        </p:txBody>
      </p:sp>
      <p:sp>
        <p:nvSpPr>
          <p:cNvPr id="6" name="Text 4"/>
          <p:cNvSpPr/>
          <p:nvPr/>
        </p:nvSpPr>
        <p:spPr>
          <a:xfrm>
            <a:off x="651510" y="192024"/>
            <a:ext cx="7543800" cy="445770"/>
          </a:xfrm>
          <a:prstGeom prst="rect">
            <a:avLst/>
          </a:prstGeom>
          <a:noFill/>
          <a:ln/>
        </p:spPr>
        <p:txBody>
          <a:bodyPr wrap="square" lIns="0" tIns="0" rIns="0" bIns="0" rtlCol="0" anchor="ctr"/>
          <a:lstStyle/>
          <a:p>
            <a:pPr defTabSz="685800"/>
            <a:r>
              <a:rPr lang="en-US" sz="1650" b="1" dirty="0">
                <a:solidFill>
                  <a:srgbClr val="FFFFFF"/>
                </a:solidFill>
                <a:latin typeface="Arial" pitchFamily="34" charset="0"/>
                <a:ea typeface="Arial" pitchFamily="34" charset="-122"/>
                <a:cs typeface="Arial" pitchFamily="34" charset="-120"/>
              </a:rPr>
              <a:t>S'enrôler par reconnaissance faciale</a:t>
            </a:r>
            <a:endParaRPr lang="en-US" sz="1650" dirty="0">
              <a:solidFill>
                <a:prstClr val="black"/>
              </a:solidFill>
              <a:latin typeface="Calibri" panose="020F0502020204030204"/>
            </a:endParaRPr>
          </a:p>
        </p:txBody>
      </p:sp>
      <p:sp>
        <p:nvSpPr>
          <p:cNvPr id="7" name="Shape 5"/>
          <p:cNvSpPr/>
          <p:nvPr/>
        </p:nvSpPr>
        <p:spPr>
          <a:xfrm>
            <a:off x="0" y="720090"/>
            <a:ext cx="9121140" cy="260604"/>
          </a:xfrm>
          <a:prstGeom prst="rect">
            <a:avLst/>
          </a:prstGeom>
          <a:solidFill>
            <a:srgbClr val="2D3F6B"/>
          </a:solidFill>
          <a:ln w="12700">
            <a:solidFill>
              <a:srgbClr val="2D3F6B"/>
            </a:solidFill>
            <a:prstDash val="solid"/>
          </a:ln>
        </p:spPr>
      </p:sp>
      <p:sp>
        <p:nvSpPr>
          <p:cNvPr id="8" name="Text 6"/>
          <p:cNvSpPr/>
          <p:nvPr/>
        </p:nvSpPr>
        <p:spPr>
          <a:xfrm>
            <a:off x="192024" y="733806"/>
            <a:ext cx="6858000" cy="219456"/>
          </a:xfrm>
          <a:prstGeom prst="rect">
            <a:avLst/>
          </a:prstGeom>
          <a:noFill/>
          <a:ln/>
        </p:spPr>
        <p:txBody>
          <a:bodyPr wrap="square" lIns="0" tIns="0" rIns="0" bIns="0" rtlCol="0" anchor="ctr"/>
          <a:lstStyle/>
          <a:p>
            <a:pPr defTabSz="685800"/>
            <a:r>
              <a:rPr lang="en-US" sz="788" b="1" dirty="0">
                <a:solidFill>
                  <a:srgbClr val="FFFFFF"/>
                </a:solidFill>
                <a:latin typeface="Arial" pitchFamily="34" charset="0"/>
                <a:ea typeface="Arial" pitchFamily="34" charset="-122"/>
                <a:cs typeface="Arial" pitchFamily="34" charset="-120"/>
              </a:rPr>
              <a:t>Acteur principal : </a:t>
            </a:r>
            <a:r>
              <a:rPr lang="en-US" sz="788" dirty="0">
                <a:solidFill>
                  <a:srgbClr val="D0DFEE"/>
                </a:solidFill>
                <a:latin typeface="Arial" pitchFamily="34" charset="0"/>
                <a:ea typeface="Arial" pitchFamily="34" charset="-122"/>
                <a:cs typeface="Arial" pitchFamily="34" charset="-120"/>
              </a:rPr>
              <a:t>Utilisateur non enregistré</a:t>
            </a:r>
            <a:endParaRPr lang="en-US" sz="788" dirty="0">
              <a:solidFill>
                <a:prstClr val="black"/>
              </a:solidFill>
              <a:latin typeface="Calibri" panose="020F0502020204030204"/>
            </a:endParaRPr>
          </a:p>
        </p:txBody>
      </p:sp>
      <p:sp>
        <p:nvSpPr>
          <p:cNvPr id="9" name="Shape 7"/>
          <p:cNvSpPr/>
          <p:nvPr/>
        </p:nvSpPr>
        <p:spPr>
          <a:xfrm>
            <a:off x="192024" y="1062990"/>
            <a:ext cx="48006" cy="514350"/>
          </a:xfrm>
          <a:prstGeom prst="rect">
            <a:avLst/>
          </a:prstGeom>
          <a:solidFill>
            <a:srgbClr val="1D9E75"/>
          </a:solidFill>
          <a:ln w="12700">
            <a:solidFill>
              <a:srgbClr val="1D9E75"/>
            </a:solidFill>
            <a:prstDash val="solid"/>
          </a:ln>
        </p:spPr>
      </p:sp>
      <p:sp>
        <p:nvSpPr>
          <p:cNvPr id="10" name="Shape 8"/>
          <p:cNvSpPr/>
          <p:nvPr/>
        </p:nvSpPr>
        <p:spPr>
          <a:xfrm>
            <a:off x="240030" y="1062990"/>
            <a:ext cx="8689086" cy="226314"/>
          </a:xfrm>
          <a:prstGeom prst="rect">
            <a:avLst/>
          </a:prstGeom>
          <a:solidFill>
            <a:srgbClr val="E1F5EE"/>
          </a:solidFill>
          <a:ln w="12700">
            <a:solidFill>
              <a:srgbClr val="E1F5EE"/>
            </a:solidFill>
            <a:prstDash val="solid"/>
          </a:ln>
        </p:spPr>
      </p:sp>
      <p:sp>
        <p:nvSpPr>
          <p:cNvPr id="11" name="Text 9"/>
          <p:cNvSpPr/>
          <p:nvPr/>
        </p:nvSpPr>
        <p:spPr>
          <a:xfrm>
            <a:off x="315468" y="1062990"/>
            <a:ext cx="8599932" cy="226314"/>
          </a:xfrm>
          <a:prstGeom prst="rect">
            <a:avLst/>
          </a:prstGeom>
          <a:noFill/>
          <a:ln/>
        </p:spPr>
        <p:txBody>
          <a:bodyPr wrap="square" lIns="0" tIns="0" rIns="0" bIns="0" rtlCol="0" anchor="ctr"/>
          <a:lstStyle/>
          <a:p>
            <a:pPr defTabSz="685800"/>
            <a:r>
              <a:rPr lang="en-US" sz="825" b="1" dirty="0">
                <a:solidFill>
                  <a:srgbClr val="0F6E56"/>
                </a:solidFill>
                <a:latin typeface="Arial" pitchFamily="34" charset="0"/>
                <a:ea typeface="Arial" pitchFamily="34" charset="-122"/>
                <a:cs typeface="Arial" pitchFamily="34" charset="-120"/>
              </a:rPr>
              <a:t>✔  Précondition</a:t>
            </a:r>
            <a:endParaRPr lang="en-US" sz="825" dirty="0">
              <a:solidFill>
                <a:prstClr val="black"/>
              </a:solidFill>
              <a:latin typeface="Calibri" panose="020F0502020204030204"/>
            </a:endParaRPr>
          </a:p>
        </p:txBody>
      </p:sp>
      <p:sp>
        <p:nvSpPr>
          <p:cNvPr id="12" name="Shape 10"/>
          <p:cNvSpPr/>
          <p:nvPr/>
        </p:nvSpPr>
        <p:spPr>
          <a:xfrm>
            <a:off x="240030" y="1289304"/>
            <a:ext cx="8689086" cy="288036"/>
          </a:xfrm>
          <a:prstGeom prst="rect">
            <a:avLst/>
          </a:prstGeom>
          <a:solidFill>
            <a:srgbClr val="FFFFFF"/>
          </a:solidFill>
          <a:ln w="6350">
            <a:solidFill>
              <a:srgbClr val="E0E0E0"/>
            </a:solidFill>
            <a:prstDash val="solid"/>
          </a:ln>
        </p:spPr>
      </p:sp>
      <p:sp>
        <p:nvSpPr>
          <p:cNvPr id="13" name="Text 11"/>
          <p:cNvSpPr/>
          <p:nvPr/>
        </p:nvSpPr>
        <p:spPr>
          <a:xfrm>
            <a:off x="342900" y="1289304"/>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L'utilisateur est devant la webcam. Le système est démarré. La BDD ne contient pas encore de profil pour </a:t>
            </a:r>
            <a:r>
              <a:rPr lang="en-US" sz="713" dirty="0" err="1">
                <a:solidFill>
                  <a:srgbClr val="222222"/>
                </a:solidFill>
                <a:latin typeface="Arial" pitchFamily="34" charset="0"/>
                <a:ea typeface="Arial" pitchFamily="34" charset="-122"/>
                <a:cs typeface="Arial" pitchFamily="34" charset="-120"/>
              </a:rPr>
              <a:t>cet</a:t>
            </a:r>
            <a:r>
              <a:rPr lang="en-US" sz="713" dirty="0">
                <a:solidFill>
                  <a:srgbClr val="222222"/>
                </a:solidFill>
                <a:latin typeface="Arial" pitchFamily="34" charset="0"/>
                <a:ea typeface="Arial" pitchFamily="34" charset="-122"/>
                <a:cs typeface="Arial" pitchFamily="34" charset="-120"/>
              </a:rPr>
              <a:t> Utilisateur.</a:t>
            </a:r>
            <a:endParaRPr lang="en-US" sz="713" dirty="0">
              <a:solidFill>
                <a:prstClr val="black"/>
              </a:solidFill>
              <a:latin typeface="Calibri" panose="020F0502020204030204"/>
            </a:endParaRPr>
          </a:p>
        </p:txBody>
      </p:sp>
      <p:sp>
        <p:nvSpPr>
          <p:cNvPr id="14" name="Shape 12"/>
          <p:cNvSpPr/>
          <p:nvPr/>
        </p:nvSpPr>
        <p:spPr>
          <a:xfrm>
            <a:off x="192024" y="1666494"/>
            <a:ext cx="48006" cy="514350"/>
          </a:xfrm>
          <a:prstGeom prst="rect">
            <a:avLst/>
          </a:prstGeom>
          <a:solidFill>
            <a:srgbClr val="1D9E75"/>
          </a:solidFill>
          <a:ln w="12700">
            <a:solidFill>
              <a:srgbClr val="1D9E75"/>
            </a:solidFill>
            <a:prstDash val="solid"/>
          </a:ln>
        </p:spPr>
      </p:sp>
      <p:sp>
        <p:nvSpPr>
          <p:cNvPr id="15" name="Shape 13"/>
          <p:cNvSpPr/>
          <p:nvPr/>
        </p:nvSpPr>
        <p:spPr>
          <a:xfrm>
            <a:off x="240030" y="1666494"/>
            <a:ext cx="8689086" cy="226314"/>
          </a:xfrm>
          <a:prstGeom prst="rect">
            <a:avLst/>
          </a:prstGeom>
          <a:solidFill>
            <a:srgbClr val="E1F5EE"/>
          </a:solidFill>
          <a:ln w="12700">
            <a:solidFill>
              <a:srgbClr val="E1F5EE"/>
            </a:solidFill>
            <a:prstDash val="solid"/>
          </a:ln>
        </p:spPr>
      </p:sp>
      <p:sp>
        <p:nvSpPr>
          <p:cNvPr id="16" name="Text 14"/>
          <p:cNvSpPr/>
          <p:nvPr/>
        </p:nvSpPr>
        <p:spPr>
          <a:xfrm>
            <a:off x="315468" y="1666494"/>
            <a:ext cx="8599932" cy="226314"/>
          </a:xfrm>
          <a:prstGeom prst="rect">
            <a:avLst/>
          </a:prstGeom>
          <a:noFill/>
          <a:ln/>
        </p:spPr>
        <p:txBody>
          <a:bodyPr wrap="square" lIns="0" tIns="0" rIns="0" bIns="0" rtlCol="0" anchor="ctr"/>
          <a:lstStyle/>
          <a:p>
            <a:pPr defTabSz="685800"/>
            <a:r>
              <a:rPr lang="en-US" sz="825" b="1" dirty="0">
                <a:solidFill>
                  <a:srgbClr val="0F6E56"/>
                </a:solidFill>
                <a:latin typeface="Arial" pitchFamily="34" charset="0"/>
                <a:ea typeface="Arial" pitchFamily="34" charset="-122"/>
                <a:cs typeface="Arial" pitchFamily="34" charset="-120"/>
              </a:rPr>
              <a:t>✔  Postcondition</a:t>
            </a:r>
            <a:endParaRPr lang="en-US" sz="825" dirty="0">
              <a:solidFill>
                <a:prstClr val="black"/>
              </a:solidFill>
              <a:latin typeface="Calibri" panose="020F0502020204030204"/>
            </a:endParaRPr>
          </a:p>
        </p:txBody>
      </p:sp>
      <p:sp>
        <p:nvSpPr>
          <p:cNvPr id="17" name="Shape 15"/>
          <p:cNvSpPr/>
          <p:nvPr/>
        </p:nvSpPr>
        <p:spPr>
          <a:xfrm>
            <a:off x="240030" y="1892808"/>
            <a:ext cx="8689086" cy="288036"/>
          </a:xfrm>
          <a:prstGeom prst="rect">
            <a:avLst/>
          </a:prstGeom>
          <a:solidFill>
            <a:srgbClr val="FFFFFF"/>
          </a:solidFill>
          <a:ln w="6350">
            <a:solidFill>
              <a:srgbClr val="E0E0E0"/>
            </a:solidFill>
            <a:prstDash val="solid"/>
          </a:ln>
        </p:spPr>
      </p:sp>
      <p:sp>
        <p:nvSpPr>
          <p:cNvPr id="18" name="Text 16"/>
          <p:cNvSpPr/>
          <p:nvPr/>
        </p:nvSpPr>
        <p:spPr>
          <a:xfrm>
            <a:off x="342900" y="1892808"/>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Le profil de l'utilisateur est enregistré dans la BDD (enrôlement réussi) ou rejeté. La tentative est journalisée.</a:t>
            </a:r>
            <a:endParaRPr lang="en-US" sz="713" dirty="0">
              <a:solidFill>
                <a:prstClr val="black"/>
              </a:solidFill>
              <a:latin typeface="Calibri" panose="020F0502020204030204"/>
            </a:endParaRPr>
          </a:p>
        </p:txBody>
      </p:sp>
      <p:sp>
        <p:nvSpPr>
          <p:cNvPr id="19" name="Shape 17"/>
          <p:cNvSpPr/>
          <p:nvPr/>
        </p:nvSpPr>
        <p:spPr>
          <a:xfrm>
            <a:off x="192024" y="2269998"/>
            <a:ext cx="48006" cy="1200150"/>
          </a:xfrm>
          <a:prstGeom prst="rect">
            <a:avLst/>
          </a:prstGeom>
          <a:solidFill>
            <a:srgbClr val="378ADD"/>
          </a:solidFill>
          <a:ln w="12700">
            <a:solidFill>
              <a:srgbClr val="378ADD"/>
            </a:solidFill>
            <a:prstDash val="solid"/>
          </a:ln>
        </p:spPr>
      </p:sp>
      <p:sp>
        <p:nvSpPr>
          <p:cNvPr id="20" name="Shape 18"/>
          <p:cNvSpPr/>
          <p:nvPr/>
        </p:nvSpPr>
        <p:spPr>
          <a:xfrm>
            <a:off x="240030" y="2269998"/>
            <a:ext cx="8689086" cy="226314"/>
          </a:xfrm>
          <a:prstGeom prst="rect">
            <a:avLst/>
          </a:prstGeom>
          <a:solidFill>
            <a:srgbClr val="E6F1FB"/>
          </a:solidFill>
          <a:ln w="12700">
            <a:solidFill>
              <a:srgbClr val="E6F1FB"/>
            </a:solidFill>
            <a:prstDash val="solid"/>
          </a:ln>
        </p:spPr>
      </p:sp>
      <p:sp>
        <p:nvSpPr>
          <p:cNvPr id="21" name="Text 19"/>
          <p:cNvSpPr/>
          <p:nvPr/>
        </p:nvSpPr>
        <p:spPr>
          <a:xfrm>
            <a:off x="315468" y="2269998"/>
            <a:ext cx="8599932" cy="226314"/>
          </a:xfrm>
          <a:prstGeom prst="rect">
            <a:avLst/>
          </a:prstGeom>
          <a:noFill/>
          <a:ln/>
        </p:spPr>
        <p:txBody>
          <a:bodyPr wrap="square" lIns="0" tIns="0" rIns="0" bIns="0" rtlCol="0" anchor="ctr"/>
          <a:lstStyle/>
          <a:p>
            <a:pPr defTabSz="685800"/>
            <a:r>
              <a:rPr lang="en-US" sz="825" b="1" dirty="0">
                <a:solidFill>
                  <a:srgbClr val="185FA5"/>
                </a:solidFill>
                <a:latin typeface="Arial" pitchFamily="34" charset="0"/>
                <a:ea typeface="Arial" pitchFamily="34" charset="-122"/>
                <a:cs typeface="Arial" pitchFamily="34" charset="-120"/>
              </a:rPr>
              <a:t>→  Flux principal</a:t>
            </a:r>
            <a:endParaRPr lang="en-US" sz="825" dirty="0">
              <a:solidFill>
                <a:prstClr val="black"/>
              </a:solidFill>
              <a:latin typeface="Calibri" panose="020F0502020204030204"/>
            </a:endParaRPr>
          </a:p>
        </p:txBody>
      </p:sp>
      <p:sp>
        <p:nvSpPr>
          <p:cNvPr id="22" name="Shape 20"/>
          <p:cNvSpPr/>
          <p:nvPr/>
        </p:nvSpPr>
        <p:spPr>
          <a:xfrm>
            <a:off x="240030" y="2496312"/>
            <a:ext cx="8689086" cy="973836"/>
          </a:xfrm>
          <a:prstGeom prst="rect">
            <a:avLst/>
          </a:prstGeom>
          <a:solidFill>
            <a:srgbClr val="FFFFFF"/>
          </a:solidFill>
          <a:ln w="6350">
            <a:solidFill>
              <a:srgbClr val="E0E0E0"/>
            </a:solidFill>
            <a:prstDash val="solid"/>
          </a:ln>
        </p:spPr>
      </p:sp>
      <p:sp>
        <p:nvSpPr>
          <p:cNvPr id="23" name="Text 21"/>
          <p:cNvSpPr/>
          <p:nvPr/>
        </p:nvSpPr>
        <p:spPr>
          <a:xfrm>
            <a:off x="342900" y="2496312"/>
            <a:ext cx="8545068" cy="973836"/>
          </a:xfrm>
          <a:prstGeom prst="rect">
            <a:avLst/>
          </a:prstGeom>
          <a:noFill/>
          <a:ln/>
        </p:spPr>
        <p:txBody>
          <a:bodyPr wrap="square" lIns="47625" tIns="0" rIns="0" bIns="0" rtlCol="0" anchor="t"/>
          <a:lstStyle/>
          <a:p>
            <a:pPr defTabSz="685800"/>
            <a:r>
              <a:rPr lang="en-US" sz="713" b="1" dirty="0">
                <a:solidFill>
                  <a:srgbClr val="185FA5"/>
                </a:solidFill>
                <a:latin typeface="Arial" pitchFamily="34" charset="0"/>
                <a:ea typeface="Arial" pitchFamily="34" charset="-122"/>
                <a:cs typeface="Arial" pitchFamily="34" charset="-120"/>
              </a:rPr>
              <a:t>1. </a:t>
            </a:r>
            <a:r>
              <a:rPr lang="en-US" sz="713" dirty="0">
                <a:solidFill>
                  <a:srgbClr val="222222"/>
                </a:solidFill>
                <a:latin typeface="Arial" pitchFamily="34" charset="0"/>
                <a:ea typeface="Arial" pitchFamily="34" charset="-122"/>
                <a:cs typeface="Arial" pitchFamily="34" charset="-120"/>
              </a:rPr>
              <a:t>L'utilisateur lance la procédure d'enrôlement via l'interface</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2. </a:t>
            </a:r>
            <a:r>
              <a:rPr lang="en-US" sz="713" dirty="0">
                <a:solidFill>
                  <a:srgbClr val="222222"/>
                </a:solidFill>
                <a:latin typeface="Arial" pitchFamily="34" charset="0"/>
                <a:ea typeface="Arial" pitchFamily="34" charset="-122"/>
                <a:cs typeface="Arial" pitchFamily="34" charset="-120"/>
              </a:rPr>
              <a:t>Le système active la webcam et capture le flux vidéo</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3. </a:t>
            </a:r>
            <a:r>
              <a:rPr lang="en-US" sz="713" dirty="0">
                <a:solidFill>
                  <a:srgbClr val="222222"/>
                </a:solidFill>
                <a:latin typeface="Arial" pitchFamily="34" charset="0"/>
                <a:ea typeface="Arial" pitchFamily="34" charset="-122"/>
                <a:cs typeface="Arial" pitchFamily="34" charset="-120"/>
              </a:rPr>
              <a:t>Le système détecte un visage</a:t>
            </a:r>
            <a:r>
              <a:rPr lang="en-US" sz="638" dirty="0">
                <a:solidFill>
                  <a:srgbClr val="185FA5"/>
                </a:solidFill>
                <a:latin typeface="Arial" pitchFamily="34" charset="0"/>
                <a:ea typeface="Arial" pitchFamily="34" charset="-122"/>
                <a:cs typeface="Arial" pitchFamily="34" charset="-120"/>
              </a:rPr>
              <a:t>  </a:t>
            </a:r>
          </a:p>
          <a:p>
            <a:pPr defTabSz="685800"/>
            <a:r>
              <a:rPr lang="en-US" sz="713" b="1" dirty="0">
                <a:solidFill>
                  <a:srgbClr val="185FA5"/>
                </a:solidFill>
                <a:latin typeface="Arial" pitchFamily="34" charset="0"/>
                <a:ea typeface="Arial" pitchFamily="34" charset="-122"/>
                <a:cs typeface="Arial" pitchFamily="34" charset="-120"/>
              </a:rPr>
              <a:t>4. </a:t>
            </a:r>
            <a:r>
              <a:rPr lang="en-US" sz="713" dirty="0">
                <a:solidFill>
                  <a:srgbClr val="222222"/>
                </a:solidFill>
                <a:latin typeface="Arial" pitchFamily="34" charset="0"/>
                <a:ea typeface="Arial" pitchFamily="34" charset="-122"/>
                <a:cs typeface="Arial" pitchFamily="34" charset="-120"/>
              </a:rPr>
              <a:t>Le système génère l'encodage du visage capturé</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5. </a:t>
            </a:r>
            <a:r>
              <a:rPr lang="en-US" sz="713" dirty="0">
                <a:solidFill>
                  <a:srgbClr val="222222"/>
                </a:solidFill>
                <a:latin typeface="Arial" pitchFamily="34" charset="0"/>
                <a:ea typeface="Arial" pitchFamily="34" charset="-122"/>
                <a:cs typeface="Arial" pitchFamily="34" charset="-120"/>
              </a:rPr>
              <a:t>Le système vérifie que le profil n'existe pas déjà dans la BDD</a:t>
            </a:r>
            <a:r>
              <a:rPr lang="en-US" sz="638" dirty="0">
                <a:solidFill>
                  <a:srgbClr val="185FA5"/>
                </a:solidFill>
                <a:latin typeface="Arial" pitchFamily="34" charset="0"/>
                <a:ea typeface="Arial" pitchFamily="34" charset="-122"/>
                <a:cs typeface="Arial" pitchFamily="34" charset="-120"/>
              </a:rPr>
              <a:t>  </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6. </a:t>
            </a:r>
            <a:r>
              <a:rPr lang="en-US" sz="713" dirty="0">
                <a:solidFill>
                  <a:srgbClr val="222222"/>
                </a:solidFill>
                <a:latin typeface="Arial" pitchFamily="34" charset="0"/>
                <a:ea typeface="Arial" pitchFamily="34" charset="-122"/>
                <a:cs typeface="Arial" pitchFamily="34" charset="-120"/>
              </a:rPr>
              <a:t>Le liveness est vérifié pour éviter une usurpation</a:t>
            </a:r>
            <a:r>
              <a:rPr lang="en-US" sz="638" dirty="0">
                <a:solidFill>
                  <a:srgbClr val="185FA5"/>
                </a:solidFill>
                <a:latin typeface="Arial" pitchFamily="34" charset="0"/>
                <a:ea typeface="Arial" pitchFamily="34" charset="-122"/>
                <a:cs typeface="Arial" pitchFamily="34" charset="-120"/>
              </a:rPr>
              <a:t>  </a:t>
            </a:r>
          </a:p>
          <a:p>
            <a:pPr defTabSz="685800"/>
            <a:r>
              <a:rPr lang="en-US" sz="713" b="1" dirty="0">
                <a:solidFill>
                  <a:srgbClr val="185FA5"/>
                </a:solidFill>
                <a:latin typeface="Arial" pitchFamily="34" charset="0"/>
                <a:ea typeface="Arial" pitchFamily="34" charset="-122"/>
                <a:cs typeface="Arial" pitchFamily="34" charset="-120"/>
              </a:rPr>
              <a:t>7. </a:t>
            </a:r>
            <a:r>
              <a:rPr lang="en-US" sz="713" dirty="0">
                <a:solidFill>
                  <a:srgbClr val="222222"/>
                </a:solidFill>
                <a:latin typeface="Arial" pitchFamily="34" charset="0"/>
                <a:ea typeface="Arial" pitchFamily="34" charset="-122"/>
                <a:cs typeface="Arial" pitchFamily="34" charset="-120"/>
              </a:rPr>
              <a:t>Si visage valide ET liveness OK ET profil inexistant → profil enregistré dans la BDD ; sinon → enrôlement refusé</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8. </a:t>
            </a:r>
            <a:r>
              <a:rPr lang="en-US" sz="713" dirty="0">
                <a:solidFill>
                  <a:srgbClr val="222222"/>
                </a:solidFill>
                <a:latin typeface="Arial" pitchFamily="34" charset="0"/>
                <a:ea typeface="Arial" pitchFamily="34" charset="-122"/>
                <a:cs typeface="Arial" pitchFamily="34" charset="-120"/>
              </a:rPr>
              <a:t>La tentative est journalisée</a:t>
            </a:r>
            <a:r>
              <a:rPr lang="en-US" sz="638" dirty="0">
                <a:solidFill>
                  <a:srgbClr val="185FA5"/>
                </a:solidFill>
                <a:latin typeface="Arial" pitchFamily="34" charset="0"/>
                <a:ea typeface="Arial" pitchFamily="34" charset="-122"/>
                <a:cs typeface="Arial" pitchFamily="34" charset="-120"/>
              </a:rPr>
              <a:t>  </a:t>
            </a:r>
            <a:endParaRPr lang="en-US" sz="713" dirty="0">
              <a:solidFill>
                <a:prstClr val="black"/>
              </a:solidFill>
              <a:latin typeface="Calibri" panose="020F0502020204030204"/>
            </a:endParaRPr>
          </a:p>
        </p:txBody>
      </p:sp>
      <p:sp>
        <p:nvSpPr>
          <p:cNvPr id="24" name="Shape 22"/>
          <p:cNvSpPr/>
          <p:nvPr/>
        </p:nvSpPr>
        <p:spPr>
          <a:xfrm>
            <a:off x="192024" y="3559302"/>
            <a:ext cx="48006" cy="843534"/>
          </a:xfrm>
          <a:prstGeom prst="rect">
            <a:avLst/>
          </a:prstGeom>
          <a:solidFill>
            <a:srgbClr val="EF9F27"/>
          </a:solidFill>
          <a:ln w="12700">
            <a:solidFill>
              <a:srgbClr val="EF9F27"/>
            </a:solidFill>
            <a:prstDash val="solid"/>
          </a:ln>
        </p:spPr>
      </p:sp>
      <p:sp>
        <p:nvSpPr>
          <p:cNvPr id="25" name="Shape 23"/>
          <p:cNvSpPr/>
          <p:nvPr/>
        </p:nvSpPr>
        <p:spPr>
          <a:xfrm>
            <a:off x="240030" y="3559302"/>
            <a:ext cx="8689086" cy="226314"/>
          </a:xfrm>
          <a:prstGeom prst="rect">
            <a:avLst/>
          </a:prstGeom>
          <a:solidFill>
            <a:srgbClr val="FAEEDA"/>
          </a:solidFill>
          <a:ln w="12700">
            <a:solidFill>
              <a:srgbClr val="FAEEDA"/>
            </a:solidFill>
            <a:prstDash val="solid"/>
          </a:ln>
        </p:spPr>
      </p:sp>
      <p:sp>
        <p:nvSpPr>
          <p:cNvPr id="26" name="Text 24"/>
          <p:cNvSpPr/>
          <p:nvPr/>
        </p:nvSpPr>
        <p:spPr>
          <a:xfrm>
            <a:off x="315468" y="3559302"/>
            <a:ext cx="8599932" cy="226314"/>
          </a:xfrm>
          <a:prstGeom prst="rect">
            <a:avLst/>
          </a:prstGeom>
          <a:noFill/>
          <a:ln/>
        </p:spPr>
        <p:txBody>
          <a:bodyPr wrap="square" lIns="0" tIns="0" rIns="0" bIns="0" rtlCol="0" anchor="ctr"/>
          <a:lstStyle/>
          <a:p>
            <a:pPr defTabSz="685800"/>
            <a:r>
              <a:rPr lang="en-US" sz="825" b="1" dirty="0">
                <a:solidFill>
                  <a:srgbClr val="854F0B"/>
                </a:solidFill>
                <a:latin typeface="Arial" pitchFamily="34" charset="0"/>
                <a:ea typeface="Arial" pitchFamily="34" charset="-122"/>
                <a:cs typeface="Arial" pitchFamily="34" charset="-120"/>
              </a:rPr>
              <a:t>⚠  Flux alternatif</a:t>
            </a:r>
            <a:endParaRPr lang="en-US" sz="825" dirty="0">
              <a:solidFill>
                <a:prstClr val="black"/>
              </a:solidFill>
              <a:latin typeface="Calibri" panose="020F0502020204030204"/>
            </a:endParaRPr>
          </a:p>
        </p:txBody>
      </p:sp>
      <p:sp>
        <p:nvSpPr>
          <p:cNvPr id="27" name="Shape 25"/>
          <p:cNvSpPr/>
          <p:nvPr/>
        </p:nvSpPr>
        <p:spPr>
          <a:xfrm>
            <a:off x="240030" y="3785616"/>
            <a:ext cx="8689086" cy="617220"/>
          </a:xfrm>
          <a:prstGeom prst="rect">
            <a:avLst/>
          </a:prstGeom>
          <a:solidFill>
            <a:srgbClr val="FFFFFF"/>
          </a:solidFill>
          <a:ln w="6350">
            <a:solidFill>
              <a:srgbClr val="E0E0E0"/>
            </a:solidFill>
            <a:prstDash val="solid"/>
          </a:ln>
        </p:spPr>
      </p:sp>
      <p:sp>
        <p:nvSpPr>
          <p:cNvPr id="28" name="Text 26"/>
          <p:cNvSpPr/>
          <p:nvPr/>
        </p:nvSpPr>
        <p:spPr>
          <a:xfrm>
            <a:off x="342900" y="3785616"/>
            <a:ext cx="8545068" cy="617220"/>
          </a:xfrm>
          <a:prstGeom prst="rect">
            <a:avLst/>
          </a:prstGeom>
          <a:noFill/>
          <a:ln/>
        </p:spPr>
        <p:txBody>
          <a:bodyPr wrap="square" lIns="47625" tIns="0" rIns="0" bIns="0" rtlCol="0" anchor="t"/>
          <a:lstStyle/>
          <a:p>
            <a:pPr defTabSz="685800"/>
            <a:r>
              <a:rPr lang="en-US" sz="713" b="1" dirty="0">
                <a:solidFill>
                  <a:srgbClr val="854F0B"/>
                </a:solidFill>
                <a:latin typeface="Arial" pitchFamily="34" charset="0"/>
                <a:ea typeface="Arial" pitchFamily="34" charset="-122"/>
                <a:cs typeface="Arial" pitchFamily="34" charset="-120"/>
              </a:rPr>
              <a:t>Alt A : </a:t>
            </a:r>
            <a:r>
              <a:rPr lang="en-US" sz="713" dirty="0">
                <a:solidFill>
                  <a:srgbClr val="222222"/>
                </a:solidFill>
                <a:latin typeface="Arial" pitchFamily="34" charset="0"/>
                <a:ea typeface="Arial" pitchFamily="34" charset="-122"/>
                <a:cs typeface="Arial" pitchFamily="34" charset="-120"/>
              </a:rPr>
              <a:t>Aucun visage détecté → message d'erreur, procédure relancée</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B : </a:t>
            </a:r>
            <a:r>
              <a:rPr lang="en-US" sz="713" dirty="0">
                <a:solidFill>
                  <a:srgbClr val="222222"/>
                </a:solidFill>
                <a:latin typeface="Arial" pitchFamily="34" charset="0"/>
                <a:ea typeface="Arial" pitchFamily="34" charset="-122"/>
                <a:cs typeface="Arial" pitchFamily="34" charset="-120"/>
              </a:rPr>
              <a:t>Liveness échouée (photo/vidéo) → refus avec log « Attaque suspectée »</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C : </a:t>
            </a:r>
            <a:r>
              <a:rPr lang="en-US" sz="713" dirty="0">
                <a:solidFill>
                  <a:srgbClr val="222222"/>
                </a:solidFill>
                <a:latin typeface="Arial" pitchFamily="34" charset="0"/>
                <a:ea typeface="Arial" pitchFamily="34" charset="-122"/>
                <a:cs typeface="Arial" pitchFamily="34" charset="-120"/>
              </a:rPr>
              <a:t>Profil déjà existant dans la BDD → enrôlement refusé avec message « Utilisateur déjà enregistré »</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D : </a:t>
            </a:r>
            <a:r>
              <a:rPr lang="en-US" sz="713" dirty="0">
                <a:solidFill>
                  <a:srgbClr val="222222"/>
                </a:solidFill>
                <a:latin typeface="Arial" pitchFamily="34" charset="0"/>
                <a:ea typeface="Arial" pitchFamily="34" charset="-122"/>
                <a:cs typeface="Arial" pitchFamily="34" charset="-120"/>
              </a:rPr>
              <a:t>Qualité d'image insuffisante → message d'erreur, nouvelle capture demandée</a:t>
            </a:r>
            <a:endParaRPr lang="en-US" sz="713" dirty="0">
              <a:solidFill>
                <a:prstClr val="black"/>
              </a:solidFill>
              <a:latin typeface="Calibri" panose="020F0502020204030204"/>
            </a:endParaRPr>
          </a:p>
        </p:txBody>
      </p:sp>
      <p:sp>
        <p:nvSpPr>
          <p:cNvPr id="29" name="Shape 27"/>
          <p:cNvSpPr/>
          <p:nvPr/>
        </p:nvSpPr>
        <p:spPr>
          <a:xfrm>
            <a:off x="192024" y="4491990"/>
            <a:ext cx="48006" cy="514350"/>
          </a:xfrm>
          <a:prstGeom prst="rect">
            <a:avLst/>
          </a:prstGeom>
          <a:solidFill>
            <a:srgbClr val="7F77DD"/>
          </a:solidFill>
          <a:ln w="12700">
            <a:solidFill>
              <a:srgbClr val="7F77DD"/>
            </a:solidFill>
            <a:prstDash val="solid"/>
          </a:ln>
        </p:spPr>
      </p:sp>
      <p:sp>
        <p:nvSpPr>
          <p:cNvPr id="30" name="Shape 28"/>
          <p:cNvSpPr/>
          <p:nvPr/>
        </p:nvSpPr>
        <p:spPr>
          <a:xfrm>
            <a:off x="240030" y="4491990"/>
            <a:ext cx="8689086" cy="226314"/>
          </a:xfrm>
          <a:prstGeom prst="rect">
            <a:avLst/>
          </a:prstGeom>
          <a:solidFill>
            <a:srgbClr val="EEEDFE"/>
          </a:solidFill>
          <a:ln w="12700">
            <a:solidFill>
              <a:srgbClr val="EEEDFE"/>
            </a:solidFill>
            <a:prstDash val="solid"/>
          </a:ln>
        </p:spPr>
      </p:sp>
      <p:sp>
        <p:nvSpPr>
          <p:cNvPr id="31" name="Text 29"/>
          <p:cNvSpPr/>
          <p:nvPr/>
        </p:nvSpPr>
        <p:spPr>
          <a:xfrm>
            <a:off x="315468" y="4491990"/>
            <a:ext cx="8599932" cy="226314"/>
          </a:xfrm>
          <a:prstGeom prst="rect">
            <a:avLst/>
          </a:prstGeom>
          <a:noFill/>
          <a:ln/>
        </p:spPr>
        <p:txBody>
          <a:bodyPr wrap="square" lIns="0" tIns="0" rIns="0" bIns="0" rtlCol="0" anchor="ctr"/>
          <a:lstStyle/>
          <a:p>
            <a:pPr defTabSz="685800"/>
            <a:r>
              <a:rPr lang="en-US" sz="825" b="1" dirty="0">
                <a:solidFill>
                  <a:srgbClr val="534AB7"/>
                </a:solidFill>
                <a:latin typeface="Arial" pitchFamily="34" charset="0"/>
                <a:ea typeface="Arial" pitchFamily="34" charset="-122"/>
                <a:cs typeface="Arial" pitchFamily="34" charset="-120"/>
              </a:rPr>
              <a:t>◉  Résultat attendu</a:t>
            </a:r>
            <a:endParaRPr lang="en-US" sz="825" dirty="0">
              <a:solidFill>
                <a:prstClr val="black"/>
              </a:solidFill>
              <a:latin typeface="Calibri" panose="020F0502020204030204"/>
            </a:endParaRPr>
          </a:p>
        </p:txBody>
      </p:sp>
      <p:sp>
        <p:nvSpPr>
          <p:cNvPr id="32" name="Shape 30"/>
          <p:cNvSpPr/>
          <p:nvPr/>
        </p:nvSpPr>
        <p:spPr>
          <a:xfrm>
            <a:off x="240030" y="4718304"/>
            <a:ext cx="8689086" cy="288036"/>
          </a:xfrm>
          <a:prstGeom prst="rect">
            <a:avLst/>
          </a:prstGeom>
          <a:solidFill>
            <a:srgbClr val="FFFFFF"/>
          </a:solidFill>
          <a:ln w="6350">
            <a:solidFill>
              <a:srgbClr val="E0E0E0"/>
            </a:solidFill>
            <a:prstDash val="solid"/>
          </a:ln>
        </p:spPr>
      </p:sp>
      <p:sp>
        <p:nvSpPr>
          <p:cNvPr id="33" name="Text 31"/>
          <p:cNvSpPr/>
          <p:nvPr/>
        </p:nvSpPr>
        <p:spPr>
          <a:xfrm>
            <a:off x="342900" y="4718304"/>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Le profil biométrique (</a:t>
            </a:r>
            <a:r>
              <a:rPr lang="en-US" sz="713" dirty="0" err="1">
                <a:solidFill>
                  <a:srgbClr val="222222"/>
                </a:solidFill>
                <a:latin typeface="Arial" pitchFamily="34" charset="0"/>
                <a:ea typeface="Arial" pitchFamily="34" charset="-122"/>
                <a:cs typeface="Arial" pitchFamily="34" charset="-120"/>
              </a:rPr>
              <a:t>encodage</a:t>
            </a:r>
            <a:r>
              <a:rPr lang="en-US" sz="713" dirty="0">
                <a:solidFill>
                  <a:srgbClr val="222222"/>
                </a:solidFill>
                <a:latin typeface="Arial" pitchFamily="34" charset="0"/>
                <a:ea typeface="Arial" pitchFamily="34" charset="-122"/>
                <a:cs typeface="Arial" pitchFamily="34" charset="-120"/>
              </a:rPr>
              <a:t>) de l'utilisateur est stocké dans la BDD et disponible pour les futures authentifications.</a:t>
            </a:r>
            <a:endParaRPr lang="en-US" sz="713" dirty="0">
              <a:solidFill>
                <a:prstClr val="black"/>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21140" cy="720090"/>
          </a:xfrm>
          <a:prstGeom prst="rect">
            <a:avLst/>
          </a:prstGeom>
          <a:solidFill>
            <a:srgbClr val="1A2A4A"/>
          </a:solidFill>
          <a:ln w="12700">
            <a:solidFill>
              <a:srgbClr val="1A2A4A"/>
            </a:solidFill>
            <a:prstDash val="solid"/>
          </a:ln>
        </p:spPr>
      </p:sp>
      <p:sp>
        <p:nvSpPr>
          <p:cNvPr id="3" name="Shape 1"/>
          <p:cNvSpPr/>
          <p:nvPr/>
        </p:nvSpPr>
        <p:spPr>
          <a:xfrm>
            <a:off x="192024" y="89154"/>
            <a:ext cx="377190" cy="377190"/>
          </a:xfrm>
          <a:prstGeom prst="rect">
            <a:avLst/>
          </a:prstGeom>
          <a:solidFill>
            <a:srgbClr val="FFFFFF">
              <a:alpha val="30000"/>
            </a:srgbClr>
          </a:solidFill>
          <a:ln w="6350">
            <a:solidFill>
              <a:srgbClr val="FFFFFF">
                <a:alpha val="50000"/>
              </a:srgbClr>
            </a:solidFill>
            <a:prstDash val="solid"/>
          </a:ln>
        </p:spPr>
      </p:sp>
      <p:sp>
        <p:nvSpPr>
          <p:cNvPr id="4" name="Shape 2"/>
          <p:cNvSpPr/>
          <p:nvPr/>
        </p:nvSpPr>
        <p:spPr>
          <a:xfrm>
            <a:off x="288036" y="185166"/>
            <a:ext cx="192024" cy="192024"/>
          </a:xfrm>
          <a:prstGeom prst="rect">
            <a:avLst/>
          </a:prstGeom>
          <a:solidFill>
            <a:srgbClr val="FFFFFF"/>
          </a:solidFill>
          <a:ln w="12700">
            <a:solidFill>
              <a:srgbClr val="FFFFFF"/>
            </a:solidFill>
            <a:prstDash val="solid"/>
          </a:ln>
        </p:spPr>
      </p:sp>
      <p:sp>
        <p:nvSpPr>
          <p:cNvPr id="5" name="Text 3"/>
          <p:cNvSpPr/>
          <p:nvPr/>
        </p:nvSpPr>
        <p:spPr>
          <a:xfrm>
            <a:off x="651510" y="54864"/>
            <a:ext cx="7543800" cy="150876"/>
          </a:xfrm>
          <a:prstGeom prst="rect">
            <a:avLst/>
          </a:prstGeom>
          <a:noFill/>
          <a:ln/>
        </p:spPr>
        <p:txBody>
          <a:bodyPr wrap="square" lIns="0" tIns="0" rIns="0" bIns="0" rtlCol="0" anchor="ctr"/>
          <a:lstStyle/>
          <a:p>
            <a:pPr defTabSz="685800"/>
            <a:r>
              <a:rPr lang="en-US" sz="675" dirty="0">
                <a:solidFill>
                  <a:srgbClr val="AABBD0"/>
                </a:solidFill>
                <a:latin typeface="Arial" pitchFamily="34" charset="0"/>
                <a:ea typeface="Arial" pitchFamily="34" charset="-122"/>
                <a:cs typeface="Arial" pitchFamily="34" charset="-120"/>
              </a:rPr>
              <a:t>UC3 - Description du cas d'utilisation</a:t>
            </a:r>
            <a:endParaRPr lang="en-US" sz="675" dirty="0">
              <a:solidFill>
                <a:prstClr val="black"/>
              </a:solidFill>
              <a:latin typeface="Calibri" panose="020F0502020204030204"/>
            </a:endParaRPr>
          </a:p>
        </p:txBody>
      </p:sp>
      <p:sp>
        <p:nvSpPr>
          <p:cNvPr id="6" name="Text 4"/>
          <p:cNvSpPr/>
          <p:nvPr/>
        </p:nvSpPr>
        <p:spPr>
          <a:xfrm>
            <a:off x="651510" y="192024"/>
            <a:ext cx="7543800" cy="445770"/>
          </a:xfrm>
          <a:prstGeom prst="rect">
            <a:avLst/>
          </a:prstGeom>
          <a:noFill/>
          <a:ln/>
        </p:spPr>
        <p:txBody>
          <a:bodyPr wrap="square" lIns="0" tIns="0" rIns="0" bIns="0" rtlCol="0" anchor="ctr"/>
          <a:lstStyle/>
          <a:p>
            <a:pPr defTabSz="685800"/>
            <a:r>
              <a:rPr lang="en-US" sz="1650" b="1" dirty="0">
                <a:solidFill>
                  <a:srgbClr val="FFFFFF"/>
                </a:solidFill>
                <a:latin typeface="Arial" pitchFamily="34" charset="0"/>
                <a:ea typeface="Arial" pitchFamily="34" charset="-122"/>
                <a:cs typeface="Arial" pitchFamily="34" charset="-120"/>
              </a:rPr>
              <a:t>Supprimer un Utilisateur</a:t>
            </a:r>
            <a:endParaRPr lang="en-US" sz="1650" dirty="0">
              <a:solidFill>
                <a:prstClr val="black"/>
              </a:solidFill>
              <a:latin typeface="Calibri" panose="020F0502020204030204"/>
            </a:endParaRPr>
          </a:p>
        </p:txBody>
      </p:sp>
      <p:sp>
        <p:nvSpPr>
          <p:cNvPr id="7" name="Shape 5"/>
          <p:cNvSpPr/>
          <p:nvPr/>
        </p:nvSpPr>
        <p:spPr>
          <a:xfrm>
            <a:off x="0" y="720090"/>
            <a:ext cx="9121140" cy="260604"/>
          </a:xfrm>
          <a:prstGeom prst="rect">
            <a:avLst/>
          </a:prstGeom>
          <a:solidFill>
            <a:srgbClr val="2D3F6B"/>
          </a:solidFill>
          <a:ln w="12700">
            <a:solidFill>
              <a:srgbClr val="2D3F6B"/>
            </a:solidFill>
            <a:prstDash val="solid"/>
          </a:ln>
        </p:spPr>
      </p:sp>
      <p:sp>
        <p:nvSpPr>
          <p:cNvPr id="8" name="Text 6"/>
          <p:cNvSpPr/>
          <p:nvPr/>
        </p:nvSpPr>
        <p:spPr>
          <a:xfrm>
            <a:off x="192024" y="733806"/>
            <a:ext cx="6858000" cy="219456"/>
          </a:xfrm>
          <a:prstGeom prst="rect">
            <a:avLst/>
          </a:prstGeom>
          <a:noFill/>
          <a:ln/>
        </p:spPr>
        <p:txBody>
          <a:bodyPr wrap="square" lIns="0" tIns="0" rIns="0" bIns="0" rtlCol="0" anchor="ctr"/>
          <a:lstStyle/>
          <a:p>
            <a:pPr defTabSz="685800"/>
            <a:r>
              <a:rPr lang="en-US" sz="788" b="1" dirty="0">
                <a:solidFill>
                  <a:srgbClr val="FFFFFF"/>
                </a:solidFill>
                <a:latin typeface="Arial" pitchFamily="34" charset="0"/>
                <a:ea typeface="Arial" pitchFamily="34" charset="-122"/>
                <a:cs typeface="Arial" pitchFamily="34" charset="-120"/>
              </a:rPr>
              <a:t>Acteur principal : </a:t>
            </a:r>
            <a:r>
              <a:rPr lang="en-US" sz="788" dirty="0">
                <a:solidFill>
                  <a:srgbClr val="D0DFEE"/>
                </a:solidFill>
                <a:latin typeface="Arial" pitchFamily="34" charset="0"/>
                <a:ea typeface="Arial" pitchFamily="34" charset="-122"/>
                <a:cs typeface="Arial" pitchFamily="34" charset="-120"/>
              </a:rPr>
              <a:t>Administrateur système</a:t>
            </a:r>
            <a:endParaRPr lang="en-US" sz="788" dirty="0">
              <a:solidFill>
                <a:prstClr val="black"/>
              </a:solidFill>
              <a:latin typeface="Calibri" panose="020F0502020204030204"/>
            </a:endParaRPr>
          </a:p>
        </p:txBody>
      </p:sp>
      <p:sp>
        <p:nvSpPr>
          <p:cNvPr id="9" name="Shape 7"/>
          <p:cNvSpPr/>
          <p:nvPr/>
        </p:nvSpPr>
        <p:spPr>
          <a:xfrm>
            <a:off x="192024" y="1062990"/>
            <a:ext cx="48006" cy="514350"/>
          </a:xfrm>
          <a:prstGeom prst="rect">
            <a:avLst/>
          </a:prstGeom>
          <a:solidFill>
            <a:srgbClr val="1D9E75"/>
          </a:solidFill>
          <a:ln w="12700">
            <a:solidFill>
              <a:srgbClr val="1D9E75"/>
            </a:solidFill>
            <a:prstDash val="solid"/>
          </a:ln>
        </p:spPr>
      </p:sp>
      <p:sp>
        <p:nvSpPr>
          <p:cNvPr id="10" name="Shape 8"/>
          <p:cNvSpPr/>
          <p:nvPr/>
        </p:nvSpPr>
        <p:spPr>
          <a:xfrm>
            <a:off x="240030" y="1062990"/>
            <a:ext cx="8689086" cy="226314"/>
          </a:xfrm>
          <a:prstGeom prst="rect">
            <a:avLst/>
          </a:prstGeom>
          <a:solidFill>
            <a:srgbClr val="E1F5EE"/>
          </a:solidFill>
          <a:ln w="12700">
            <a:solidFill>
              <a:srgbClr val="E1F5EE"/>
            </a:solidFill>
            <a:prstDash val="solid"/>
          </a:ln>
        </p:spPr>
      </p:sp>
      <p:sp>
        <p:nvSpPr>
          <p:cNvPr id="11" name="Text 9"/>
          <p:cNvSpPr/>
          <p:nvPr/>
        </p:nvSpPr>
        <p:spPr>
          <a:xfrm>
            <a:off x="315468" y="1062990"/>
            <a:ext cx="8599932" cy="226314"/>
          </a:xfrm>
          <a:prstGeom prst="rect">
            <a:avLst/>
          </a:prstGeom>
          <a:noFill/>
          <a:ln/>
        </p:spPr>
        <p:txBody>
          <a:bodyPr wrap="square" lIns="0" tIns="0" rIns="0" bIns="0" rtlCol="0" anchor="ctr"/>
          <a:lstStyle/>
          <a:p>
            <a:pPr defTabSz="685800"/>
            <a:r>
              <a:rPr lang="en-US" sz="825" b="1" dirty="0">
                <a:solidFill>
                  <a:srgbClr val="0F6E56"/>
                </a:solidFill>
                <a:latin typeface="Arial" pitchFamily="34" charset="0"/>
                <a:ea typeface="Arial" pitchFamily="34" charset="-122"/>
                <a:cs typeface="Arial" pitchFamily="34" charset="-120"/>
              </a:rPr>
              <a:t>✔  Précondition</a:t>
            </a:r>
            <a:endParaRPr lang="en-US" sz="825" dirty="0">
              <a:solidFill>
                <a:prstClr val="black"/>
              </a:solidFill>
              <a:latin typeface="Calibri" panose="020F0502020204030204"/>
            </a:endParaRPr>
          </a:p>
        </p:txBody>
      </p:sp>
      <p:sp>
        <p:nvSpPr>
          <p:cNvPr id="12" name="Shape 10"/>
          <p:cNvSpPr/>
          <p:nvPr/>
        </p:nvSpPr>
        <p:spPr>
          <a:xfrm>
            <a:off x="240030" y="1289304"/>
            <a:ext cx="8689086" cy="288036"/>
          </a:xfrm>
          <a:prstGeom prst="rect">
            <a:avLst/>
          </a:prstGeom>
          <a:solidFill>
            <a:srgbClr val="FFFFFF"/>
          </a:solidFill>
          <a:ln w="6350">
            <a:solidFill>
              <a:srgbClr val="E0E0E0"/>
            </a:solidFill>
            <a:prstDash val="solid"/>
          </a:ln>
        </p:spPr>
      </p:sp>
      <p:sp>
        <p:nvSpPr>
          <p:cNvPr id="13" name="Text 11"/>
          <p:cNvSpPr/>
          <p:nvPr/>
        </p:nvSpPr>
        <p:spPr>
          <a:xfrm>
            <a:off x="342900" y="1289304"/>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L'administrateur est authentifié. Le système est démarré. La BDD contient au moins un profil Utilisateur enregistré.</a:t>
            </a:r>
            <a:endParaRPr lang="en-US" sz="713" dirty="0">
              <a:solidFill>
                <a:prstClr val="black"/>
              </a:solidFill>
              <a:latin typeface="Calibri" panose="020F0502020204030204"/>
            </a:endParaRPr>
          </a:p>
        </p:txBody>
      </p:sp>
      <p:sp>
        <p:nvSpPr>
          <p:cNvPr id="14" name="Shape 12"/>
          <p:cNvSpPr/>
          <p:nvPr/>
        </p:nvSpPr>
        <p:spPr>
          <a:xfrm>
            <a:off x="192024" y="1666494"/>
            <a:ext cx="48006" cy="514350"/>
          </a:xfrm>
          <a:prstGeom prst="rect">
            <a:avLst/>
          </a:prstGeom>
          <a:solidFill>
            <a:srgbClr val="1D9E75"/>
          </a:solidFill>
          <a:ln w="12700">
            <a:solidFill>
              <a:srgbClr val="1D9E75"/>
            </a:solidFill>
            <a:prstDash val="solid"/>
          </a:ln>
        </p:spPr>
      </p:sp>
      <p:sp>
        <p:nvSpPr>
          <p:cNvPr id="15" name="Shape 13"/>
          <p:cNvSpPr/>
          <p:nvPr/>
        </p:nvSpPr>
        <p:spPr>
          <a:xfrm>
            <a:off x="240030" y="1666494"/>
            <a:ext cx="8689086" cy="226314"/>
          </a:xfrm>
          <a:prstGeom prst="rect">
            <a:avLst/>
          </a:prstGeom>
          <a:solidFill>
            <a:srgbClr val="E1F5EE"/>
          </a:solidFill>
          <a:ln w="12700">
            <a:solidFill>
              <a:srgbClr val="E1F5EE"/>
            </a:solidFill>
            <a:prstDash val="solid"/>
          </a:ln>
        </p:spPr>
      </p:sp>
      <p:sp>
        <p:nvSpPr>
          <p:cNvPr id="16" name="Text 14"/>
          <p:cNvSpPr/>
          <p:nvPr/>
        </p:nvSpPr>
        <p:spPr>
          <a:xfrm>
            <a:off x="315468" y="1666494"/>
            <a:ext cx="8599932" cy="226314"/>
          </a:xfrm>
          <a:prstGeom prst="rect">
            <a:avLst/>
          </a:prstGeom>
          <a:noFill/>
          <a:ln/>
        </p:spPr>
        <p:txBody>
          <a:bodyPr wrap="square" lIns="0" tIns="0" rIns="0" bIns="0" rtlCol="0" anchor="ctr"/>
          <a:lstStyle/>
          <a:p>
            <a:pPr defTabSz="685800"/>
            <a:r>
              <a:rPr lang="en-US" sz="825" b="1" dirty="0">
                <a:solidFill>
                  <a:srgbClr val="0F6E56"/>
                </a:solidFill>
                <a:latin typeface="Arial" pitchFamily="34" charset="0"/>
                <a:ea typeface="Arial" pitchFamily="34" charset="-122"/>
                <a:cs typeface="Arial" pitchFamily="34" charset="-120"/>
              </a:rPr>
              <a:t>✔  Postcondition</a:t>
            </a:r>
            <a:endParaRPr lang="en-US" sz="825" dirty="0">
              <a:solidFill>
                <a:prstClr val="black"/>
              </a:solidFill>
              <a:latin typeface="Calibri" panose="020F0502020204030204"/>
            </a:endParaRPr>
          </a:p>
        </p:txBody>
      </p:sp>
      <p:sp>
        <p:nvSpPr>
          <p:cNvPr id="17" name="Shape 15"/>
          <p:cNvSpPr/>
          <p:nvPr/>
        </p:nvSpPr>
        <p:spPr>
          <a:xfrm>
            <a:off x="240030" y="1892808"/>
            <a:ext cx="8689086" cy="288036"/>
          </a:xfrm>
          <a:prstGeom prst="rect">
            <a:avLst/>
          </a:prstGeom>
          <a:solidFill>
            <a:srgbClr val="FFFFFF"/>
          </a:solidFill>
          <a:ln w="6350">
            <a:solidFill>
              <a:srgbClr val="E0E0E0"/>
            </a:solidFill>
            <a:prstDash val="solid"/>
          </a:ln>
        </p:spPr>
      </p:sp>
      <p:sp>
        <p:nvSpPr>
          <p:cNvPr id="18" name="Text 16"/>
          <p:cNvSpPr/>
          <p:nvPr/>
        </p:nvSpPr>
        <p:spPr>
          <a:xfrm>
            <a:off x="342900" y="1892808"/>
            <a:ext cx="8545068" cy="28803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Le profil de l'utilisateur est supprimé de la BDD. La suppression est journalisée.</a:t>
            </a:r>
            <a:endParaRPr lang="en-US" sz="713" dirty="0">
              <a:solidFill>
                <a:prstClr val="black"/>
              </a:solidFill>
              <a:latin typeface="Calibri" panose="020F0502020204030204"/>
            </a:endParaRPr>
          </a:p>
        </p:txBody>
      </p:sp>
      <p:sp>
        <p:nvSpPr>
          <p:cNvPr id="19" name="Shape 17"/>
          <p:cNvSpPr/>
          <p:nvPr/>
        </p:nvSpPr>
        <p:spPr>
          <a:xfrm>
            <a:off x="192024" y="2269998"/>
            <a:ext cx="48006" cy="1200150"/>
          </a:xfrm>
          <a:prstGeom prst="rect">
            <a:avLst/>
          </a:prstGeom>
          <a:solidFill>
            <a:srgbClr val="378ADD"/>
          </a:solidFill>
          <a:ln w="12700">
            <a:solidFill>
              <a:srgbClr val="378ADD"/>
            </a:solidFill>
            <a:prstDash val="solid"/>
          </a:ln>
        </p:spPr>
      </p:sp>
      <p:sp>
        <p:nvSpPr>
          <p:cNvPr id="20" name="Shape 18"/>
          <p:cNvSpPr/>
          <p:nvPr/>
        </p:nvSpPr>
        <p:spPr>
          <a:xfrm>
            <a:off x="240030" y="2269998"/>
            <a:ext cx="8689086" cy="226314"/>
          </a:xfrm>
          <a:prstGeom prst="rect">
            <a:avLst/>
          </a:prstGeom>
          <a:solidFill>
            <a:srgbClr val="E6F1FB"/>
          </a:solidFill>
          <a:ln w="12700">
            <a:solidFill>
              <a:srgbClr val="E6F1FB"/>
            </a:solidFill>
            <a:prstDash val="solid"/>
          </a:ln>
        </p:spPr>
      </p:sp>
      <p:sp>
        <p:nvSpPr>
          <p:cNvPr id="21" name="Text 19"/>
          <p:cNvSpPr/>
          <p:nvPr/>
        </p:nvSpPr>
        <p:spPr>
          <a:xfrm>
            <a:off x="315468" y="2269998"/>
            <a:ext cx="8599932" cy="226314"/>
          </a:xfrm>
          <a:prstGeom prst="rect">
            <a:avLst/>
          </a:prstGeom>
          <a:noFill/>
          <a:ln/>
        </p:spPr>
        <p:txBody>
          <a:bodyPr wrap="square" lIns="0" tIns="0" rIns="0" bIns="0" rtlCol="0" anchor="ctr"/>
          <a:lstStyle/>
          <a:p>
            <a:pPr defTabSz="685800"/>
            <a:r>
              <a:rPr lang="en-US" sz="825" b="1" dirty="0">
                <a:solidFill>
                  <a:srgbClr val="185FA5"/>
                </a:solidFill>
                <a:latin typeface="Arial" pitchFamily="34" charset="0"/>
                <a:ea typeface="Arial" pitchFamily="34" charset="-122"/>
                <a:cs typeface="Arial" pitchFamily="34" charset="-120"/>
              </a:rPr>
              <a:t>→  Flux principal</a:t>
            </a:r>
            <a:endParaRPr lang="en-US" sz="825" dirty="0">
              <a:solidFill>
                <a:prstClr val="black"/>
              </a:solidFill>
              <a:latin typeface="Calibri" panose="020F0502020204030204"/>
            </a:endParaRPr>
          </a:p>
        </p:txBody>
      </p:sp>
      <p:sp>
        <p:nvSpPr>
          <p:cNvPr id="22" name="Shape 20"/>
          <p:cNvSpPr/>
          <p:nvPr/>
        </p:nvSpPr>
        <p:spPr>
          <a:xfrm>
            <a:off x="240030" y="2496312"/>
            <a:ext cx="8689086" cy="973836"/>
          </a:xfrm>
          <a:prstGeom prst="rect">
            <a:avLst/>
          </a:prstGeom>
          <a:solidFill>
            <a:srgbClr val="FFFFFF"/>
          </a:solidFill>
          <a:ln w="6350">
            <a:solidFill>
              <a:srgbClr val="E0E0E0"/>
            </a:solidFill>
            <a:prstDash val="solid"/>
          </a:ln>
        </p:spPr>
      </p:sp>
      <p:sp>
        <p:nvSpPr>
          <p:cNvPr id="23" name="Text 21"/>
          <p:cNvSpPr/>
          <p:nvPr/>
        </p:nvSpPr>
        <p:spPr>
          <a:xfrm>
            <a:off x="342900" y="2496312"/>
            <a:ext cx="8545068" cy="973836"/>
          </a:xfrm>
          <a:prstGeom prst="rect">
            <a:avLst/>
          </a:prstGeom>
          <a:noFill/>
          <a:ln/>
        </p:spPr>
        <p:txBody>
          <a:bodyPr wrap="square" lIns="47625" tIns="0" rIns="0" bIns="0" rtlCol="0" anchor="t"/>
          <a:lstStyle/>
          <a:p>
            <a:pPr defTabSz="685800"/>
            <a:r>
              <a:rPr lang="en-US" sz="713" b="1" dirty="0">
                <a:solidFill>
                  <a:srgbClr val="185FA5"/>
                </a:solidFill>
                <a:latin typeface="Arial" pitchFamily="34" charset="0"/>
                <a:ea typeface="Arial" pitchFamily="34" charset="-122"/>
                <a:cs typeface="Arial" pitchFamily="34" charset="-120"/>
              </a:rPr>
              <a:t>1. </a:t>
            </a:r>
            <a:r>
              <a:rPr lang="en-US" sz="713" dirty="0">
                <a:solidFill>
                  <a:srgbClr val="222222"/>
                </a:solidFill>
                <a:latin typeface="Arial" pitchFamily="34" charset="0"/>
                <a:ea typeface="Arial" pitchFamily="34" charset="-122"/>
                <a:cs typeface="Arial" pitchFamily="34" charset="-120"/>
              </a:rPr>
              <a:t>L'administrateur accède à l'interface de gestion des utilisateurs</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2. </a:t>
            </a:r>
            <a:r>
              <a:rPr lang="en-US" sz="713" dirty="0">
                <a:solidFill>
                  <a:srgbClr val="222222"/>
                </a:solidFill>
                <a:latin typeface="Arial" pitchFamily="34" charset="0"/>
                <a:ea typeface="Arial" pitchFamily="34" charset="-122"/>
                <a:cs typeface="Arial" pitchFamily="34" charset="-120"/>
              </a:rPr>
              <a:t>Le système affiche la liste des utilisateurs enregistrés dans la BDD</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3. </a:t>
            </a:r>
            <a:r>
              <a:rPr lang="en-US" sz="713" dirty="0">
                <a:solidFill>
                  <a:srgbClr val="222222"/>
                </a:solidFill>
                <a:latin typeface="Arial" pitchFamily="34" charset="0"/>
                <a:ea typeface="Arial" pitchFamily="34" charset="-122"/>
                <a:cs typeface="Arial" pitchFamily="34" charset="-120"/>
              </a:rPr>
              <a:t>L'administrateur sélectionne le profil de l'utilisateur à Supprimer</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4. </a:t>
            </a:r>
            <a:r>
              <a:rPr lang="en-US" sz="713" dirty="0">
                <a:solidFill>
                  <a:srgbClr val="222222"/>
                </a:solidFill>
                <a:latin typeface="Arial" pitchFamily="34" charset="0"/>
                <a:ea typeface="Arial" pitchFamily="34" charset="-122"/>
                <a:cs typeface="Arial" pitchFamily="34" charset="-120"/>
              </a:rPr>
              <a:t>Le système affiche les informations du profil sélectionné et demande confirmation</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5. </a:t>
            </a:r>
            <a:r>
              <a:rPr lang="en-US" sz="713" dirty="0">
                <a:solidFill>
                  <a:srgbClr val="222222"/>
                </a:solidFill>
                <a:latin typeface="Arial" pitchFamily="34" charset="0"/>
                <a:ea typeface="Arial" pitchFamily="34" charset="-122"/>
                <a:cs typeface="Arial" pitchFamily="34" charset="-120"/>
              </a:rPr>
              <a:t>L'administrateur confirme la suppression</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6. </a:t>
            </a:r>
            <a:r>
              <a:rPr lang="en-US" sz="713" dirty="0">
                <a:solidFill>
                  <a:srgbClr val="222222"/>
                </a:solidFill>
                <a:latin typeface="Arial" pitchFamily="34" charset="0"/>
                <a:ea typeface="Arial" pitchFamily="34" charset="-122"/>
                <a:cs typeface="Arial" pitchFamily="34" charset="-120"/>
              </a:rPr>
              <a:t>Le système supprime le profil (encodage 128D + métadonnées) de la BDD</a:t>
            </a:r>
            <a:r>
              <a:rPr lang="en-US" sz="638" dirty="0">
                <a:solidFill>
                  <a:srgbClr val="185FA5"/>
                </a:solidFill>
                <a:latin typeface="Arial" pitchFamily="34" charset="0"/>
                <a:ea typeface="Arial" pitchFamily="34" charset="-122"/>
                <a:cs typeface="Arial" pitchFamily="34" charset="-120"/>
              </a:rPr>
              <a:t>  </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7. </a:t>
            </a:r>
            <a:r>
              <a:rPr lang="en-US" sz="713" dirty="0">
                <a:solidFill>
                  <a:srgbClr val="222222"/>
                </a:solidFill>
                <a:latin typeface="Arial" pitchFamily="34" charset="0"/>
                <a:ea typeface="Arial" pitchFamily="34" charset="-122"/>
                <a:cs typeface="Arial" pitchFamily="34" charset="-120"/>
              </a:rPr>
              <a:t>La suppression est journalisée avec l'horodatage et l'identifiant de l'administrateur</a:t>
            </a:r>
            <a:r>
              <a:rPr lang="en-US" sz="638" dirty="0">
                <a:solidFill>
                  <a:srgbClr val="185FA5"/>
                </a:solidFill>
                <a:latin typeface="Arial" pitchFamily="34" charset="0"/>
                <a:ea typeface="Arial" pitchFamily="34" charset="-122"/>
                <a:cs typeface="Arial" pitchFamily="34" charset="-120"/>
              </a:rPr>
              <a:t> </a:t>
            </a:r>
            <a:endParaRPr lang="en-US" sz="713" dirty="0">
              <a:solidFill>
                <a:prstClr val="black"/>
              </a:solidFill>
              <a:latin typeface="Calibri" panose="020F0502020204030204"/>
            </a:endParaRPr>
          </a:p>
          <a:p>
            <a:pPr defTabSz="685800"/>
            <a:r>
              <a:rPr lang="en-US" sz="713" b="1" dirty="0">
                <a:solidFill>
                  <a:srgbClr val="185FA5"/>
                </a:solidFill>
                <a:latin typeface="Arial" pitchFamily="34" charset="0"/>
                <a:ea typeface="Arial" pitchFamily="34" charset="-122"/>
                <a:cs typeface="Arial" pitchFamily="34" charset="-120"/>
              </a:rPr>
              <a:t>8. </a:t>
            </a:r>
            <a:r>
              <a:rPr lang="en-US" sz="713" dirty="0">
                <a:solidFill>
                  <a:srgbClr val="222222"/>
                </a:solidFill>
                <a:latin typeface="Arial" pitchFamily="34" charset="0"/>
                <a:ea typeface="Arial" pitchFamily="34" charset="-122"/>
                <a:cs typeface="Arial" pitchFamily="34" charset="-120"/>
              </a:rPr>
              <a:t>Le système affiche une confirmation de succès de la suppression</a:t>
            </a:r>
            <a:endParaRPr lang="en-US" sz="713" dirty="0">
              <a:solidFill>
                <a:prstClr val="black"/>
              </a:solidFill>
              <a:latin typeface="Calibri" panose="020F0502020204030204"/>
            </a:endParaRPr>
          </a:p>
        </p:txBody>
      </p:sp>
      <p:sp>
        <p:nvSpPr>
          <p:cNvPr id="24" name="Shape 22"/>
          <p:cNvSpPr/>
          <p:nvPr/>
        </p:nvSpPr>
        <p:spPr>
          <a:xfrm>
            <a:off x="192024" y="3559302"/>
            <a:ext cx="48006" cy="843534"/>
          </a:xfrm>
          <a:prstGeom prst="rect">
            <a:avLst/>
          </a:prstGeom>
          <a:solidFill>
            <a:srgbClr val="EF9F27"/>
          </a:solidFill>
          <a:ln w="12700">
            <a:solidFill>
              <a:srgbClr val="EF9F27"/>
            </a:solidFill>
            <a:prstDash val="solid"/>
          </a:ln>
        </p:spPr>
      </p:sp>
      <p:sp>
        <p:nvSpPr>
          <p:cNvPr id="25" name="Shape 23"/>
          <p:cNvSpPr/>
          <p:nvPr/>
        </p:nvSpPr>
        <p:spPr>
          <a:xfrm>
            <a:off x="240030" y="3559302"/>
            <a:ext cx="8689086" cy="226314"/>
          </a:xfrm>
          <a:prstGeom prst="rect">
            <a:avLst/>
          </a:prstGeom>
          <a:solidFill>
            <a:srgbClr val="FAEEDA"/>
          </a:solidFill>
          <a:ln w="12700">
            <a:solidFill>
              <a:srgbClr val="FAEEDA"/>
            </a:solidFill>
            <a:prstDash val="solid"/>
          </a:ln>
        </p:spPr>
      </p:sp>
      <p:sp>
        <p:nvSpPr>
          <p:cNvPr id="26" name="Text 24"/>
          <p:cNvSpPr/>
          <p:nvPr/>
        </p:nvSpPr>
        <p:spPr>
          <a:xfrm>
            <a:off x="315468" y="3559302"/>
            <a:ext cx="8599932" cy="226314"/>
          </a:xfrm>
          <a:prstGeom prst="rect">
            <a:avLst/>
          </a:prstGeom>
          <a:noFill/>
          <a:ln/>
        </p:spPr>
        <p:txBody>
          <a:bodyPr wrap="square" lIns="0" tIns="0" rIns="0" bIns="0" rtlCol="0" anchor="ctr"/>
          <a:lstStyle/>
          <a:p>
            <a:pPr defTabSz="685800"/>
            <a:r>
              <a:rPr lang="en-US" sz="825" b="1" dirty="0">
                <a:solidFill>
                  <a:srgbClr val="854F0B"/>
                </a:solidFill>
                <a:latin typeface="Arial" pitchFamily="34" charset="0"/>
                <a:ea typeface="Arial" pitchFamily="34" charset="-122"/>
                <a:cs typeface="Arial" pitchFamily="34" charset="-120"/>
              </a:rPr>
              <a:t>⚠  Flux alternatif</a:t>
            </a:r>
            <a:endParaRPr lang="en-US" sz="825" dirty="0">
              <a:solidFill>
                <a:prstClr val="black"/>
              </a:solidFill>
              <a:latin typeface="Calibri" panose="020F0502020204030204"/>
            </a:endParaRPr>
          </a:p>
        </p:txBody>
      </p:sp>
      <p:sp>
        <p:nvSpPr>
          <p:cNvPr id="27" name="Shape 25"/>
          <p:cNvSpPr/>
          <p:nvPr/>
        </p:nvSpPr>
        <p:spPr>
          <a:xfrm>
            <a:off x="240030" y="3785616"/>
            <a:ext cx="8689086" cy="617220"/>
          </a:xfrm>
          <a:prstGeom prst="rect">
            <a:avLst/>
          </a:prstGeom>
          <a:solidFill>
            <a:srgbClr val="FFFFFF"/>
          </a:solidFill>
          <a:ln w="6350">
            <a:solidFill>
              <a:srgbClr val="E0E0E0"/>
            </a:solidFill>
            <a:prstDash val="solid"/>
          </a:ln>
        </p:spPr>
      </p:sp>
      <p:sp>
        <p:nvSpPr>
          <p:cNvPr id="28" name="Text 26"/>
          <p:cNvSpPr/>
          <p:nvPr/>
        </p:nvSpPr>
        <p:spPr>
          <a:xfrm>
            <a:off x="342900" y="3785616"/>
            <a:ext cx="8545068" cy="617220"/>
          </a:xfrm>
          <a:prstGeom prst="rect">
            <a:avLst/>
          </a:prstGeom>
          <a:noFill/>
          <a:ln/>
        </p:spPr>
        <p:txBody>
          <a:bodyPr wrap="square" lIns="47625" tIns="0" rIns="0" bIns="0" rtlCol="0" anchor="t"/>
          <a:lstStyle/>
          <a:p>
            <a:pPr defTabSz="685800"/>
            <a:r>
              <a:rPr lang="en-US" sz="713" b="1" dirty="0">
                <a:solidFill>
                  <a:srgbClr val="854F0B"/>
                </a:solidFill>
                <a:latin typeface="Arial" pitchFamily="34" charset="0"/>
                <a:ea typeface="Arial" pitchFamily="34" charset="-122"/>
                <a:cs typeface="Arial" pitchFamily="34" charset="-120"/>
              </a:rPr>
              <a:t>Alt A : </a:t>
            </a:r>
            <a:r>
              <a:rPr lang="en-US" sz="713" dirty="0">
                <a:solidFill>
                  <a:srgbClr val="222222"/>
                </a:solidFill>
                <a:latin typeface="Arial" pitchFamily="34" charset="0"/>
                <a:ea typeface="Arial" pitchFamily="34" charset="-122"/>
                <a:cs typeface="Arial" pitchFamily="34" charset="-120"/>
              </a:rPr>
              <a:t>Utilisateur introuvable dans la BDD → message d'erreur « Profil inexistant »</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B : </a:t>
            </a:r>
            <a:r>
              <a:rPr lang="en-US" sz="713" dirty="0">
                <a:solidFill>
                  <a:srgbClr val="222222"/>
                </a:solidFill>
                <a:latin typeface="Arial" pitchFamily="34" charset="0"/>
                <a:ea typeface="Arial" pitchFamily="34" charset="-122"/>
                <a:cs typeface="Arial" pitchFamily="34" charset="-120"/>
              </a:rPr>
              <a:t>L'administrateur annule la suppression → retour à la liste sans modification</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C : </a:t>
            </a:r>
            <a:r>
              <a:rPr lang="en-US" sz="713" dirty="0">
                <a:solidFill>
                  <a:srgbClr val="222222"/>
                </a:solidFill>
                <a:latin typeface="Arial" pitchFamily="34" charset="0"/>
                <a:ea typeface="Arial" pitchFamily="34" charset="-122"/>
                <a:cs typeface="Arial" pitchFamily="34" charset="-120"/>
              </a:rPr>
              <a:t>Suppression refusée (Utilisateur protégé / dernier admin) → message d'erreur et journalisation du refus</a:t>
            </a:r>
            <a:endParaRPr lang="en-US" sz="713" dirty="0">
              <a:solidFill>
                <a:prstClr val="black"/>
              </a:solidFill>
              <a:latin typeface="Calibri" panose="020F0502020204030204"/>
            </a:endParaRPr>
          </a:p>
          <a:p>
            <a:pPr defTabSz="685800"/>
            <a:r>
              <a:rPr lang="en-US" sz="713" b="1" dirty="0">
                <a:solidFill>
                  <a:srgbClr val="854F0B"/>
                </a:solidFill>
                <a:latin typeface="Arial" pitchFamily="34" charset="0"/>
                <a:ea typeface="Arial" pitchFamily="34" charset="-122"/>
                <a:cs typeface="Arial" pitchFamily="34" charset="-120"/>
              </a:rPr>
              <a:t>Alt D : </a:t>
            </a:r>
            <a:r>
              <a:rPr lang="en-US" sz="713" dirty="0">
                <a:solidFill>
                  <a:srgbClr val="222222"/>
                </a:solidFill>
                <a:latin typeface="Arial" pitchFamily="34" charset="0"/>
                <a:ea typeface="Arial" pitchFamily="34" charset="-122"/>
                <a:cs typeface="Arial" pitchFamily="34" charset="-120"/>
              </a:rPr>
              <a:t>Erreur système lors de la suppression → rollback, message d'erreur et journalisation de l'incident</a:t>
            </a:r>
            <a:endParaRPr lang="en-US" sz="713" dirty="0">
              <a:solidFill>
                <a:prstClr val="black"/>
              </a:solidFill>
              <a:latin typeface="Calibri" panose="020F0502020204030204"/>
            </a:endParaRPr>
          </a:p>
        </p:txBody>
      </p:sp>
      <p:sp>
        <p:nvSpPr>
          <p:cNvPr id="29" name="Shape 27"/>
          <p:cNvSpPr/>
          <p:nvPr/>
        </p:nvSpPr>
        <p:spPr>
          <a:xfrm>
            <a:off x="192024" y="4491990"/>
            <a:ext cx="48006" cy="582930"/>
          </a:xfrm>
          <a:prstGeom prst="rect">
            <a:avLst/>
          </a:prstGeom>
          <a:solidFill>
            <a:srgbClr val="7F77DD"/>
          </a:solidFill>
          <a:ln w="12700">
            <a:solidFill>
              <a:srgbClr val="7F77DD"/>
            </a:solidFill>
            <a:prstDash val="solid"/>
          </a:ln>
        </p:spPr>
      </p:sp>
      <p:sp>
        <p:nvSpPr>
          <p:cNvPr id="30" name="Shape 28"/>
          <p:cNvSpPr/>
          <p:nvPr/>
        </p:nvSpPr>
        <p:spPr>
          <a:xfrm>
            <a:off x="240030" y="4491990"/>
            <a:ext cx="8689086" cy="226314"/>
          </a:xfrm>
          <a:prstGeom prst="rect">
            <a:avLst/>
          </a:prstGeom>
          <a:solidFill>
            <a:srgbClr val="EEEDFE"/>
          </a:solidFill>
          <a:ln w="12700">
            <a:solidFill>
              <a:srgbClr val="EEEDFE"/>
            </a:solidFill>
            <a:prstDash val="solid"/>
          </a:ln>
        </p:spPr>
      </p:sp>
      <p:sp>
        <p:nvSpPr>
          <p:cNvPr id="31" name="Text 29"/>
          <p:cNvSpPr/>
          <p:nvPr/>
        </p:nvSpPr>
        <p:spPr>
          <a:xfrm>
            <a:off x="315468" y="4491990"/>
            <a:ext cx="8599932" cy="226314"/>
          </a:xfrm>
          <a:prstGeom prst="rect">
            <a:avLst/>
          </a:prstGeom>
          <a:noFill/>
          <a:ln/>
        </p:spPr>
        <p:txBody>
          <a:bodyPr wrap="square" lIns="0" tIns="0" rIns="0" bIns="0" rtlCol="0" anchor="ctr"/>
          <a:lstStyle/>
          <a:p>
            <a:pPr defTabSz="685800"/>
            <a:r>
              <a:rPr lang="en-US" sz="825" b="1" dirty="0">
                <a:solidFill>
                  <a:srgbClr val="534AB7"/>
                </a:solidFill>
                <a:latin typeface="Arial" pitchFamily="34" charset="0"/>
                <a:ea typeface="Arial" pitchFamily="34" charset="-122"/>
                <a:cs typeface="Arial" pitchFamily="34" charset="-120"/>
              </a:rPr>
              <a:t>◉  Résultat attendu</a:t>
            </a:r>
            <a:endParaRPr lang="en-US" sz="825" dirty="0">
              <a:solidFill>
                <a:prstClr val="black"/>
              </a:solidFill>
              <a:latin typeface="Calibri" panose="020F0502020204030204"/>
            </a:endParaRPr>
          </a:p>
        </p:txBody>
      </p:sp>
      <p:sp>
        <p:nvSpPr>
          <p:cNvPr id="32" name="Shape 30"/>
          <p:cNvSpPr/>
          <p:nvPr/>
        </p:nvSpPr>
        <p:spPr>
          <a:xfrm>
            <a:off x="240030" y="4718304"/>
            <a:ext cx="8689086" cy="356616"/>
          </a:xfrm>
          <a:prstGeom prst="rect">
            <a:avLst/>
          </a:prstGeom>
          <a:solidFill>
            <a:srgbClr val="FFFFFF"/>
          </a:solidFill>
          <a:ln w="6350">
            <a:solidFill>
              <a:srgbClr val="E0E0E0"/>
            </a:solidFill>
            <a:prstDash val="solid"/>
          </a:ln>
        </p:spPr>
      </p:sp>
      <p:sp>
        <p:nvSpPr>
          <p:cNvPr id="33" name="Text 31"/>
          <p:cNvSpPr/>
          <p:nvPr/>
        </p:nvSpPr>
        <p:spPr>
          <a:xfrm>
            <a:off x="342900" y="4718304"/>
            <a:ext cx="8545068" cy="356616"/>
          </a:xfrm>
          <a:prstGeom prst="rect">
            <a:avLst/>
          </a:prstGeom>
          <a:noFill/>
          <a:ln/>
        </p:spPr>
        <p:txBody>
          <a:bodyPr wrap="square" lIns="47625" tIns="0" rIns="0" bIns="0" rtlCol="0" anchor="t"/>
          <a:lstStyle/>
          <a:p>
            <a:pPr defTabSz="685800"/>
            <a:r>
              <a:rPr lang="en-US" sz="713" dirty="0">
                <a:solidFill>
                  <a:srgbClr val="222222"/>
                </a:solidFill>
                <a:latin typeface="Arial" pitchFamily="34" charset="0"/>
                <a:ea typeface="Arial" pitchFamily="34" charset="-122"/>
                <a:cs typeface="Arial" pitchFamily="34" charset="-120"/>
              </a:rPr>
              <a:t>Le profil biométrique de l'utilisateur est définitivement supprimé de la BDD. Il ne peut plus s'authentifier par reconnaissance faciale. L'opération est tracée dans les journaux.</a:t>
            </a:r>
            <a:endParaRPr lang="en-US" sz="713"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274320" y="137160"/>
            <a:ext cx="8595360" cy="822960"/>
          </a:xfrm>
          <a:prstGeom prst="rect">
            <a:avLst/>
          </a:prstGeom>
          <a:solidFill>
            <a:srgbClr val="1A3A5C"/>
          </a:solidFill>
          <a:ln w="12700">
            <a:solidFill>
              <a:srgbClr val="1A3A5C"/>
            </a:solidFill>
            <a:prstDash val="solid"/>
          </a:ln>
          <a:effectLst>
            <a:outerShdw blurRad="63500" dist="12700" dir="2700000" algn="bl" rotWithShape="0">
              <a:srgbClr val="000000">
                <a:alpha val="10000"/>
              </a:srgbClr>
            </a:outerShdw>
          </a:effectLst>
        </p:spPr>
      </p:sp>
      <p:sp>
        <p:nvSpPr>
          <p:cNvPr id="3" name="Text 1"/>
          <p:cNvSpPr/>
          <p:nvPr/>
        </p:nvSpPr>
        <p:spPr>
          <a:xfrm>
            <a:off x="274320" y="137160"/>
            <a:ext cx="8595360" cy="237744"/>
          </a:xfrm>
          <a:prstGeom prst="rect">
            <a:avLst/>
          </a:prstGeom>
          <a:noFill/>
          <a:ln/>
        </p:spPr>
        <p:txBody>
          <a:bodyPr wrap="square" lIns="50800" tIns="101600" rIns="10160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8C4E0"/>
                </a:solidFill>
                <a:effectLst/>
                <a:uLnTx/>
                <a:uFillTx/>
                <a:latin typeface="Arial" pitchFamily="34" charset="0"/>
                <a:ea typeface="Arial" pitchFamily="34" charset="-122"/>
                <a:cs typeface="Arial" pitchFamily="34" charset="-120"/>
              </a:rPr>
              <a:t>UC4 – Description du cas d'utilisation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274320" y="320040"/>
            <a:ext cx="8595360" cy="594360"/>
          </a:xfrm>
          <a:prstGeom prst="rect">
            <a:avLst/>
          </a:prstGeom>
          <a:noFill/>
          <a:ln/>
        </p:spPr>
        <p:txBody>
          <a:bodyPr wrap="square" lIns="0" tIns="152400" rIns="1016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Lister les profils utilisateurs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274320" y="978408"/>
            <a:ext cx="8595360" cy="292608"/>
          </a:xfrm>
          <a:prstGeom prst="rect">
            <a:avLst/>
          </a:prstGeom>
          <a:solidFill>
            <a:srgbClr val="2E6DA4"/>
          </a:solidFill>
          <a:ln w="12700">
            <a:solidFill>
              <a:srgbClr val="2E6DA4"/>
            </a:solidFill>
            <a:prstDash val="solid"/>
          </a:ln>
        </p:spPr>
      </p:sp>
      <p:sp>
        <p:nvSpPr>
          <p:cNvPr id="6" name="Text 4"/>
          <p:cNvSpPr/>
          <p:nvPr/>
        </p:nvSpPr>
        <p:spPr>
          <a:xfrm>
            <a:off x="274320" y="978408"/>
            <a:ext cx="8595360" cy="292608"/>
          </a:xfrm>
          <a:prstGeom prst="rect">
            <a:avLst/>
          </a:prstGeom>
          <a:noFill/>
          <a:ln/>
        </p:spPr>
        <p:txBody>
          <a:bodyPr wrap="square" lIns="0" tIns="15240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Acteur principal : </a:t>
            </a:r>
            <a:r>
              <a:rPr kumimoji="0" lang="en-US" sz="1000" b="0" i="0" u="none" strike="noStrike" kern="1200" cap="none" spc="0" normalizeH="0" baseline="0" noProof="0" dirty="0">
                <a:ln>
                  <a:noFill/>
                </a:ln>
                <a:solidFill>
                  <a:srgbClr val="D4E8FF"/>
                </a:solidFill>
                <a:effectLst/>
                <a:uLnTx/>
                <a:uFillTx/>
                <a:latin typeface="Arial" pitchFamily="34" charset="0"/>
                <a:ea typeface="Arial" pitchFamily="34" charset="-122"/>
                <a:cs typeface="Arial" pitchFamily="34" charset="-120"/>
              </a:rPr>
              <a:t>Administrateur système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274320" y="1371600"/>
            <a:ext cx="2926080" cy="1005840"/>
          </a:xfrm>
          <a:prstGeom prst="roundRect">
            <a:avLst>
              <a:gd name="adj" fmla="val 5455"/>
            </a:avLst>
          </a:prstGeom>
          <a:solidFill>
            <a:srgbClr val="EAF7EE"/>
          </a:solidFill>
          <a:ln w="15240">
            <a:solidFill>
              <a:srgbClr val="2E8B57"/>
            </a:solidFill>
            <a:prstDash val="solid"/>
          </a:ln>
          <a:effectLst>
            <a:outerShdw blurRad="63500" dist="12700" dir="2700000" algn="bl" rotWithShape="0">
              <a:srgbClr val="000000">
                <a:alpha val="10000"/>
              </a:srgbClr>
            </a:outerShdw>
          </a:effectLst>
        </p:spPr>
      </p:sp>
      <p:pic>
        <p:nvPicPr>
          <p:cNvPr id="8" name="Image 0" descr="preencoded.png"/>
          <p:cNvPicPr>
            <a:picLocks noChangeAspect="1"/>
          </p:cNvPicPr>
          <p:nvPr/>
        </p:nvPicPr>
        <p:blipFill>
          <a:blip r:embed="rId3"/>
          <a:stretch>
            <a:fillRect/>
          </a:stretch>
        </p:blipFill>
        <p:spPr>
          <a:xfrm>
            <a:off x="384048" y="1463040"/>
            <a:ext cx="201168" cy="201168"/>
          </a:xfrm>
          <a:prstGeom prst="rect">
            <a:avLst/>
          </a:prstGeom>
        </p:spPr>
      </p:pic>
      <p:sp>
        <p:nvSpPr>
          <p:cNvPr id="9" name="Text 6"/>
          <p:cNvSpPr/>
          <p:nvPr/>
        </p:nvSpPr>
        <p:spPr>
          <a:xfrm>
            <a:off x="621792" y="1435608"/>
            <a:ext cx="2514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E7A3E"/>
                </a:solidFill>
                <a:effectLst/>
                <a:uLnTx/>
                <a:uFillTx/>
                <a:latin typeface="Arial" pitchFamily="34" charset="0"/>
                <a:ea typeface="Arial" pitchFamily="34" charset="-122"/>
                <a:cs typeface="Arial" pitchFamily="34" charset="-120"/>
              </a:rPr>
              <a:t>Précondition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365760" y="1700784"/>
            <a:ext cx="2743200" cy="621792"/>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L'administrateur est authentifié avec les droits d'accès requis. Le module de gestion des utilisateurs est disponible.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74320" y="2450592"/>
            <a:ext cx="2926080" cy="1005840"/>
          </a:xfrm>
          <a:prstGeom prst="roundRect">
            <a:avLst>
              <a:gd name="adj" fmla="val 5455"/>
            </a:avLst>
          </a:prstGeom>
          <a:solidFill>
            <a:srgbClr val="EAF7EE"/>
          </a:solidFill>
          <a:ln w="15240">
            <a:solidFill>
              <a:srgbClr val="2E8B57"/>
            </a:solidFill>
            <a:prstDash val="solid"/>
          </a:ln>
          <a:effectLst>
            <a:outerShdw blurRad="63500" dist="12700" dir="2700000" algn="bl" rotWithShape="0">
              <a:srgbClr val="000000">
                <a:alpha val="10000"/>
              </a:srgbClr>
            </a:outerShdw>
          </a:effectLst>
        </p:spPr>
      </p:sp>
      <p:pic>
        <p:nvPicPr>
          <p:cNvPr id="12" name="Image 1" descr="preencoded.png"/>
          <p:cNvPicPr>
            <a:picLocks noChangeAspect="1"/>
          </p:cNvPicPr>
          <p:nvPr/>
        </p:nvPicPr>
        <p:blipFill>
          <a:blip r:embed="rId3"/>
          <a:stretch>
            <a:fillRect/>
          </a:stretch>
        </p:blipFill>
        <p:spPr>
          <a:xfrm>
            <a:off x="384048" y="2542032"/>
            <a:ext cx="201168" cy="201168"/>
          </a:xfrm>
          <a:prstGeom prst="rect">
            <a:avLst/>
          </a:prstGeom>
        </p:spPr>
      </p:pic>
      <p:sp>
        <p:nvSpPr>
          <p:cNvPr id="13" name="Text 9"/>
          <p:cNvSpPr/>
          <p:nvPr/>
        </p:nvSpPr>
        <p:spPr>
          <a:xfrm>
            <a:off x="621792" y="2514600"/>
            <a:ext cx="2514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E7A3E"/>
                </a:solidFill>
                <a:effectLst/>
                <a:uLnTx/>
                <a:uFillTx/>
                <a:latin typeface="Arial" pitchFamily="34" charset="0"/>
                <a:ea typeface="Arial" pitchFamily="34" charset="-122"/>
                <a:cs typeface="Arial" pitchFamily="34" charset="-120"/>
              </a:rPr>
              <a:t>Postcondition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365760" y="2779776"/>
            <a:ext cx="2743200" cy="621792"/>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 liste paginée des profils est affichée. Les filtres et critères de tri appliqués sont visibles. La consultation est journalisée.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3356187" y="1417320"/>
            <a:ext cx="5468112" cy="2084832"/>
          </a:xfrm>
          <a:prstGeom prst="roundRect">
            <a:avLst>
              <a:gd name="adj" fmla="val 2632"/>
            </a:avLst>
          </a:prstGeom>
          <a:solidFill>
            <a:srgbClr val="EAF2FB"/>
          </a:solidFill>
          <a:ln w="15240">
            <a:solidFill>
              <a:srgbClr val="2E6DA4"/>
            </a:solidFill>
            <a:prstDash val="solid"/>
          </a:ln>
          <a:effectLst>
            <a:outerShdw blurRad="63500" dist="12700" dir="2700000" algn="bl" rotWithShape="0">
              <a:srgbClr val="000000">
                <a:alpha val="10000"/>
              </a:srgbClr>
            </a:outerShdw>
          </a:effectLst>
        </p:spPr>
      </p:sp>
      <p:pic>
        <p:nvPicPr>
          <p:cNvPr id="16" name="Image 2" descr="preencoded.png"/>
          <p:cNvPicPr>
            <a:picLocks noChangeAspect="1"/>
          </p:cNvPicPr>
          <p:nvPr/>
        </p:nvPicPr>
        <p:blipFill>
          <a:blip r:embed="rId4"/>
          <a:stretch>
            <a:fillRect/>
          </a:stretch>
        </p:blipFill>
        <p:spPr>
          <a:xfrm>
            <a:off x="3474720" y="1463040"/>
            <a:ext cx="201168" cy="201168"/>
          </a:xfrm>
          <a:prstGeom prst="rect">
            <a:avLst/>
          </a:prstGeom>
        </p:spPr>
      </p:pic>
      <p:sp>
        <p:nvSpPr>
          <p:cNvPr id="17" name="Text 12"/>
          <p:cNvSpPr/>
          <p:nvPr/>
        </p:nvSpPr>
        <p:spPr>
          <a:xfrm>
            <a:off x="3712464" y="1435608"/>
            <a:ext cx="505663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  Flux principal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3493008" y="1719072"/>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1.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L'administrateur accède au module « Gestion des utilisateurs » via l'interface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3493008" y="1915668"/>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2.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vérifie les droits d'accès de l'administrateur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3474720" y="2167297"/>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1A3A5C"/>
                </a:solidFill>
                <a:latin typeface="Arial" pitchFamily="34" charset="0"/>
                <a:ea typeface="Arial" pitchFamily="34" charset="-122"/>
                <a:cs typeface="Arial" pitchFamily="34" charset="-120"/>
              </a:rPr>
              <a:t>3</a:t>
            </a: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interroge la BDD et récupère les profils correspondants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3465915" y="2427901"/>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1A3A5C"/>
                </a:solidFill>
                <a:latin typeface="Arial" pitchFamily="34" charset="0"/>
                <a:ea typeface="Arial" pitchFamily="34" charset="-122"/>
                <a:cs typeface="Arial" pitchFamily="34" charset="-120"/>
              </a:rPr>
              <a:t>4</a:t>
            </a: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affiche la liste avec : nom, email, rôle, statut, date de création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1"/>
          <p:cNvSpPr/>
          <p:nvPr/>
        </p:nvSpPr>
        <p:spPr>
          <a:xfrm>
            <a:off x="274320" y="3566160"/>
            <a:ext cx="5010912" cy="1389888"/>
          </a:xfrm>
          <a:prstGeom prst="roundRect">
            <a:avLst>
              <a:gd name="adj" fmla="val 3947"/>
            </a:avLst>
          </a:prstGeom>
          <a:solidFill>
            <a:srgbClr val="FFF8EC"/>
          </a:solidFill>
          <a:ln w="15240">
            <a:solidFill>
              <a:srgbClr val="E07B00"/>
            </a:solidFill>
            <a:prstDash val="solid"/>
          </a:ln>
          <a:effectLst>
            <a:outerShdw blurRad="63500" dist="12700" dir="2700000" algn="bl" rotWithShape="0">
              <a:srgbClr val="000000">
                <a:alpha val="10000"/>
              </a:srgbClr>
            </a:outerShdw>
          </a:effectLst>
        </p:spPr>
      </p:sp>
      <p:pic>
        <p:nvPicPr>
          <p:cNvPr id="27" name="Image 3" descr="preencoded.png"/>
          <p:cNvPicPr>
            <a:picLocks noChangeAspect="1"/>
          </p:cNvPicPr>
          <p:nvPr/>
        </p:nvPicPr>
        <p:blipFill>
          <a:blip r:embed="rId5"/>
          <a:stretch>
            <a:fillRect/>
          </a:stretch>
        </p:blipFill>
        <p:spPr>
          <a:xfrm>
            <a:off x="384048" y="3657600"/>
            <a:ext cx="201168" cy="201168"/>
          </a:xfrm>
          <a:prstGeom prst="rect">
            <a:avLst/>
          </a:prstGeom>
        </p:spPr>
      </p:pic>
      <p:sp>
        <p:nvSpPr>
          <p:cNvPr id="28" name="Text 22"/>
          <p:cNvSpPr/>
          <p:nvPr/>
        </p:nvSpPr>
        <p:spPr>
          <a:xfrm>
            <a:off x="621792" y="3630168"/>
            <a:ext cx="46634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A05000"/>
                </a:solidFill>
                <a:effectLst/>
                <a:uLnTx/>
                <a:uFillTx/>
                <a:latin typeface="Arial" pitchFamily="34" charset="0"/>
                <a:ea typeface="Arial" pitchFamily="34" charset="-122"/>
                <a:cs typeface="Arial" pitchFamily="34" charset="-120"/>
              </a:rPr>
              <a:t>Flux alternatif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402336" y="3904488"/>
            <a:ext cx="4754880" cy="1005840"/>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A : Aucun profil ne correspond aux filtres → message « Aucun résultat trouvé », filtres réinitialisables</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B : Droits insuffisants → accès refusé avec message « Permissions insuffisantes »</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C : Erreur de connexion à la BDD → message d'erreur système, retour au tableau de bord</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D : Export demandé (CSV/PDF) → génération et téléchargement du fichier (extend UC11)</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4"/>
          <p:cNvSpPr/>
          <p:nvPr/>
        </p:nvSpPr>
        <p:spPr>
          <a:xfrm>
            <a:off x="5376672" y="3566160"/>
            <a:ext cx="3767328" cy="1389888"/>
          </a:xfrm>
          <a:prstGeom prst="roundRect">
            <a:avLst>
              <a:gd name="adj" fmla="val 3947"/>
            </a:avLst>
          </a:prstGeom>
          <a:solidFill>
            <a:srgbClr val="F0ECF8"/>
          </a:solidFill>
          <a:ln w="15240">
            <a:solidFill>
              <a:srgbClr val="5B3F8C"/>
            </a:solidFill>
            <a:prstDash val="solid"/>
          </a:ln>
          <a:effectLst>
            <a:outerShdw blurRad="63500" dist="12700" dir="2700000" algn="bl" rotWithShape="0">
              <a:srgbClr val="000000">
                <a:alpha val="10000"/>
              </a:srgbClr>
            </a:outerShdw>
          </a:effectLst>
        </p:spPr>
      </p:sp>
      <p:pic>
        <p:nvPicPr>
          <p:cNvPr id="31" name="Image 4" descr="preencoded.png"/>
          <p:cNvPicPr>
            <a:picLocks noChangeAspect="1"/>
          </p:cNvPicPr>
          <p:nvPr/>
        </p:nvPicPr>
        <p:blipFill>
          <a:blip r:embed="rId6"/>
          <a:stretch>
            <a:fillRect/>
          </a:stretch>
        </p:blipFill>
        <p:spPr>
          <a:xfrm>
            <a:off x="5486400" y="3657600"/>
            <a:ext cx="201168" cy="201168"/>
          </a:xfrm>
          <a:prstGeom prst="rect">
            <a:avLst/>
          </a:prstGeom>
        </p:spPr>
      </p:pic>
      <p:sp>
        <p:nvSpPr>
          <p:cNvPr id="32" name="Text 25"/>
          <p:cNvSpPr/>
          <p:nvPr/>
        </p:nvSpPr>
        <p:spPr>
          <a:xfrm>
            <a:off x="5724144" y="3630168"/>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3D2670"/>
                </a:solidFill>
                <a:effectLst/>
                <a:uLnTx/>
                <a:uFillTx/>
                <a:latin typeface="Arial" pitchFamily="34" charset="0"/>
                <a:ea typeface="Arial" pitchFamily="34" charset="-122"/>
                <a:cs typeface="Arial" pitchFamily="34" charset="-120"/>
              </a:rPr>
              <a:t>Résultat attendu</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5504688" y="3904488"/>
            <a:ext cx="3566160" cy="1005840"/>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 liste paginée des profils utilisateurs est affichée avec les informations clés (nom, email, rôle, statut). L'administrateur peut naviguer, filtrer et trier les résultats en temps réel.</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1206" y="137160"/>
            <a:ext cx="8818474" cy="822960"/>
          </a:xfrm>
          <a:prstGeom prst="rect">
            <a:avLst/>
          </a:prstGeom>
          <a:solidFill>
            <a:srgbClr val="1A3A5C"/>
          </a:solidFill>
          <a:ln w="12700">
            <a:solidFill>
              <a:srgbClr val="1A3A5C"/>
            </a:solidFill>
            <a:prstDash val="solid"/>
          </a:ln>
          <a:effectLst>
            <a:outerShdw blurRad="63500" dist="12700" dir="2700000" algn="bl" rotWithShape="0">
              <a:srgbClr val="000000">
                <a:alpha val="10000"/>
              </a:srgbClr>
            </a:outerShdw>
          </a:effectLst>
        </p:spPr>
      </p:sp>
      <p:sp>
        <p:nvSpPr>
          <p:cNvPr id="3" name="Text 1"/>
          <p:cNvSpPr/>
          <p:nvPr/>
        </p:nvSpPr>
        <p:spPr>
          <a:xfrm>
            <a:off x="274320" y="137160"/>
            <a:ext cx="8595360" cy="237744"/>
          </a:xfrm>
          <a:prstGeom prst="rect">
            <a:avLst/>
          </a:prstGeom>
          <a:noFill/>
          <a:ln/>
        </p:spPr>
        <p:txBody>
          <a:bodyPr wrap="square" lIns="50800" tIns="101600" rIns="10160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A8C4E0"/>
                </a:solidFill>
                <a:effectLst/>
                <a:uLnTx/>
                <a:uFillTx/>
                <a:latin typeface="Arial" pitchFamily="34" charset="0"/>
                <a:ea typeface="Arial" pitchFamily="34" charset="-122"/>
                <a:cs typeface="Arial" pitchFamily="34" charset="-120"/>
              </a:rPr>
              <a:t>UC5 – Description du cas d'utilisation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274320" y="320040"/>
            <a:ext cx="8595360" cy="594360"/>
          </a:xfrm>
          <a:prstGeom prst="rect">
            <a:avLst/>
          </a:prstGeom>
          <a:noFill/>
          <a:ln/>
        </p:spPr>
        <p:txBody>
          <a:bodyPr wrap="square" lIns="0" tIns="152400" rIns="10160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Modifier le profil Utilisateur</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274320" y="978408"/>
            <a:ext cx="8595360" cy="292608"/>
          </a:xfrm>
          <a:prstGeom prst="rect">
            <a:avLst/>
          </a:prstGeom>
          <a:solidFill>
            <a:srgbClr val="2E6DA4"/>
          </a:solidFill>
          <a:ln w="12700">
            <a:solidFill>
              <a:srgbClr val="2E6DA4"/>
            </a:solidFill>
            <a:prstDash val="solid"/>
          </a:ln>
        </p:spPr>
      </p:sp>
      <p:sp>
        <p:nvSpPr>
          <p:cNvPr id="6" name="Text 4"/>
          <p:cNvSpPr/>
          <p:nvPr/>
        </p:nvSpPr>
        <p:spPr>
          <a:xfrm>
            <a:off x="274320" y="978408"/>
            <a:ext cx="8595360" cy="292608"/>
          </a:xfrm>
          <a:prstGeom prst="rect">
            <a:avLst/>
          </a:prstGeom>
          <a:noFill/>
          <a:ln/>
        </p:spPr>
        <p:txBody>
          <a:bodyPr wrap="square" lIns="0" tIns="15240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Acteur principal : </a:t>
            </a:r>
            <a:r>
              <a:rPr kumimoji="0" lang="en-US" sz="1000" b="0" i="0" u="none" strike="noStrike" kern="1200" cap="none" spc="0" normalizeH="0" baseline="0" noProof="0" dirty="0">
                <a:ln>
                  <a:noFill/>
                </a:ln>
                <a:solidFill>
                  <a:srgbClr val="D4E8FF"/>
                </a:solidFill>
                <a:effectLst/>
                <a:uLnTx/>
                <a:uFillTx/>
                <a:latin typeface="Arial" pitchFamily="34" charset="0"/>
                <a:ea typeface="Arial" pitchFamily="34" charset="-122"/>
                <a:cs typeface="Arial" pitchFamily="34" charset="-120"/>
              </a:rPr>
              <a:t>Utilisateur enregistré</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146304" y="1371600"/>
            <a:ext cx="3054096" cy="1005840"/>
          </a:xfrm>
          <a:prstGeom prst="roundRect">
            <a:avLst>
              <a:gd name="adj" fmla="val 5455"/>
            </a:avLst>
          </a:prstGeom>
          <a:solidFill>
            <a:srgbClr val="EAF7EE"/>
          </a:solidFill>
          <a:ln w="15240">
            <a:solidFill>
              <a:srgbClr val="2E8B57"/>
            </a:solidFill>
            <a:prstDash val="solid"/>
          </a:ln>
          <a:effectLst>
            <a:outerShdw blurRad="63500" dist="12700" dir="2700000" algn="bl" rotWithShape="0">
              <a:srgbClr val="000000">
                <a:alpha val="10000"/>
              </a:srgbClr>
            </a:outerShdw>
          </a:effectLst>
        </p:spPr>
      </p:sp>
      <p:pic>
        <p:nvPicPr>
          <p:cNvPr id="8" name="Image 0" descr="preencoded.png"/>
          <p:cNvPicPr>
            <a:picLocks noChangeAspect="1"/>
          </p:cNvPicPr>
          <p:nvPr/>
        </p:nvPicPr>
        <p:blipFill>
          <a:blip r:embed="rId3"/>
          <a:stretch>
            <a:fillRect/>
          </a:stretch>
        </p:blipFill>
        <p:spPr>
          <a:xfrm>
            <a:off x="384048" y="1463040"/>
            <a:ext cx="201168" cy="201168"/>
          </a:xfrm>
          <a:prstGeom prst="rect">
            <a:avLst/>
          </a:prstGeom>
        </p:spPr>
      </p:pic>
      <p:sp>
        <p:nvSpPr>
          <p:cNvPr id="9" name="Text 6"/>
          <p:cNvSpPr/>
          <p:nvPr/>
        </p:nvSpPr>
        <p:spPr>
          <a:xfrm>
            <a:off x="621792" y="1435608"/>
            <a:ext cx="2514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E7A3E"/>
                </a:solidFill>
                <a:effectLst/>
                <a:uLnTx/>
                <a:uFillTx/>
                <a:latin typeface="Arial" pitchFamily="34" charset="0"/>
                <a:ea typeface="Arial" pitchFamily="34" charset="-122"/>
                <a:cs typeface="Arial" pitchFamily="34" charset="-120"/>
              </a:rPr>
              <a:t>Précondition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365760" y="1700784"/>
            <a:ext cx="2743200" cy="621792"/>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L'utilisateur est authentifié. Son profil existe dans la BDD. La session est activée.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274320" y="2450592"/>
            <a:ext cx="2926080" cy="1005840"/>
          </a:xfrm>
          <a:prstGeom prst="roundRect">
            <a:avLst>
              <a:gd name="adj" fmla="val 5455"/>
            </a:avLst>
          </a:prstGeom>
          <a:solidFill>
            <a:srgbClr val="EAF7EE"/>
          </a:solidFill>
          <a:ln w="15240">
            <a:solidFill>
              <a:srgbClr val="2E8B57"/>
            </a:solidFill>
            <a:prstDash val="solid"/>
          </a:ln>
          <a:effectLst>
            <a:outerShdw blurRad="63500" dist="12700" dir="2700000" algn="bl" rotWithShape="0">
              <a:srgbClr val="000000">
                <a:alpha val="10000"/>
              </a:srgbClr>
            </a:outerShdw>
          </a:effectLst>
        </p:spPr>
      </p:sp>
      <p:pic>
        <p:nvPicPr>
          <p:cNvPr id="12" name="Image 1" descr="preencoded.png"/>
          <p:cNvPicPr>
            <a:picLocks noChangeAspect="1"/>
          </p:cNvPicPr>
          <p:nvPr/>
        </p:nvPicPr>
        <p:blipFill>
          <a:blip r:embed="rId3"/>
          <a:stretch>
            <a:fillRect/>
          </a:stretch>
        </p:blipFill>
        <p:spPr>
          <a:xfrm>
            <a:off x="384048" y="2542032"/>
            <a:ext cx="201168" cy="201168"/>
          </a:xfrm>
          <a:prstGeom prst="rect">
            <a:avLst/>
          </a:prstGeom>
        </p:spPr>
      </p:pic>
      <p:sp>
        <p:nvSpPr>
          <p:cNvPr id="13" name="Text 9"/>
          <p:cNvSpPr/>
          <p:nvPr/>
        </p:nvSpPr>
        <p:spPr>
          <a:xfrm>
            <a:off x="621792" y="2514600"/>
            <a:ext cx="2514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E7A3E"/>
                </a:solidFill>
                <a:effectLst/>
                <a:uLnTx/>
                <a:uFillTx/>
                <a:latin typeface="Arial" pitchFamily="34" charset="0"/>
                <a:ea typeface="Arial" pitchFamily="34" charset="-122"/>
                <a:cs typeface="Arial" pitchFamily="34" charset="-120"/>
              </a:rPr>
              <a:t>Postcondition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365760" y="2779776"/>
            <a:ext cx="2743200" cy="621792"/>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Les nouvelles informations sont enregistrées dans la BDD. L'utilisateur reçoit une confirmation de mise à jour. La modification est journalisée.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3364991" y="1371600"/>
            <a:ext cx="5588813" cy="2084832"/>
          </a:xfrm>
          <a:prstGeom prst="roundRect">
            <a:avLst>
              <a:gd name="adj" fmla="val 2632"/>
            </a:avLst>
          </a:prstGeom>
          <a:solidFill>
            <a:srgbClr val="EAF2FB"/>
          </a:solidFill>
          <a:ln w="15240">
            <a:solidFill>
              <a:srgbClr val="2E6DA4"/>
            </a:solidFill>
            <a:prstDash val="solid"/>
          </a:ln>
          <a:effectLst>
            <a:outerShdw blurRad="63500" dist="12700" dir="2700000" algn="bl" rotWithShape="0">
              <a:srgbClr val="000000">
                <a:alpha val="10000"/>
              </a:srgbClr>
            </a:outerShdw>
          </a:effectLst>
        </p:spPr>
      </p:sp>
      <p:pic>
        <p:nvPicPr>
          <p:cNvPr id="16" name="Image 2" descr="preencoded.png"/>
          <p:cNvPicPr>
            <a:picLocks noChangeAspect="1"/>
          </p:cNvPicPr>
          <p:nvPr/>
        </p:nvPicPr>
        <p:blipFill>
          <a:blip r:embed="rId4"/>
          <a:stretch>
            <a:fillRect/>
          </a:stretch>
        </p:blipFill>
        <p:spPr>
          <a:xfrm>
            <a:off x="3474720" y="1463040"/>
            <a:ext cx="201168" cy="201168"/>
          </a:xfrm>
          <a:prstGeom prst="rect">
            <a:avLst/>
          </a:prstGeom>
        </p:spPr>
      </p:pic>
      <p:sp>
        <p:nvSpPr>
          <p:cNvPr id="17" name="Text 12"/>
          <p:cNvSpPr/>
          <p:nvPr/>
        </p:nvSpPr>
        <p:spPr>
          <a:xfrm>
            <a:off x="3712464" y="1435608"/>
            <a:ext cx="505663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  Flux principal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3493008" y="1719072"/>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1.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L'utilisateur accède à la section « Mon profil » via l'interface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3493008" y="1915668"/>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2.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charge et affiche les données actuelles du profil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p:nvPr/>
        </p:nvSpPr>
        <p:spPr>
          <a:xfrm>
            <a:off x="3493008" y="2112264"/>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3.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L'utilisateur modifie les champs souhaités (nom, email, mot de passe, avatar)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3493008" y="2308860"/>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4.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valide le format et la cohérence des données saisies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8"/>
          <p:cNvSpPr/>
          <p:nvPr/>
        </p:nvSpPr>
        <p:spPr>
          <a:xfrm>
            <a:off x="3481832" y="2532888"/>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6.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met à jour le profil dans la BDD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9"/>
          <p:cNvSpPr/>
          <p:nvPr/>
        </p:nvSpPr>
        <p:spPr>
          <a:xfrm>
            <a:off x="3493008" y="2751497"/>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7.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 système envoie un message de  confirmation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0"/>
          <p:cNvSpPr/>
          <p:nvPr/>
        </p:nvSpPr>
        <p:spPr>
          <a:xfrm>
            <a:off x="3493008" y="2969514"/>
            <a:ext cx="5248656" cy="1965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A3A5C"/>
                </a:solidFill>
                <a:effectLst/>
                <a:uLnTx/>
                <a:uFillTx/>
                <a:latin typeface="Arial" pitchFamily="34" charset="0"/>
                <a:ea typeface="Arial" pitchFamily="34" charset="-122"/>
                <a:cs typeface="Arial" pitchFamily="34" charset="-120"/>
              </a:rPr>
              <a:t>8. </a:t>
            </a:r>
            <a:r>
              <a:rPr kumimoji="0" lang="en-US" sz="8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La modification est journalisée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1"/>
          <p:cNvSpPr/>
          <p:nvPr/>
        </p:nvSpPr>
        <p:spPr>
          <a:xfrm>
            <a:off x="274320" y="3566160"/>
            <a:ext cx="5010912" cy="1389888"/>
          </a:xfrm>
          <a:prstGeom prst="roundRect">
            <a:avLst>
              <a:gd name="adj" fmla="val 3947"/>
            </a:avLst>
          </a:prstGeom>
          <a:solidFill>
            <a:srgbClr val="FFF8EC"/>
          </a:solidFill>
          <a:ln w="15240">
            <a:solidFill>
              <a:srgbClr val="E07B00"/>
            </a:solidFill>
            <a:prstDash val="solid"/>
          </a:ln>
          <a:effectLst>
            <a:outerShdw blurRad="63500" dist="12700" dir="2700000" algn="bl" rotWithShape="0">
              <a:srgbClr val="000000">
                <a:alpha val="10000"/>
              </a:srgbClr>
            </a:outerShdw>
          </a:effectLst>
        </p:spPr>
      </p:sp>
      <p:pic>
        <p:nvPicPr>
          <p:cNvPr id="27" name="Image 3" descr="preencoded.png"/>
          <p:cNvPicPr>
            <a:picLocks noChangeAspect="1"/>
          </p:cNvPicPr>
          <p:nvPr/>
        </p:nvPicPr>
        <p:blipFill>
          <a:blip r:embed="rId5"/>
          <a:stretch>
            <a:fillRect/>
          </a:stretch>
        </p:blipFill>
        <p:spPr>
          <a:xfrm>
            <a:off x="384048" y="3657600"/>
            <a:ext cx="201168" cy="201168"/>
          </a:xfrm>
          <a:prstGeom prst="rect">
            <a:avLst/>
          </a:prstGeom>
        </p:spPr>
      </p:pic>
      <p:sp>
        <p:nvSpPr>
          <p:cNvPr id="28" name="Text 22"/>
          <p:cNvSpPr/>
          <p:nvPr/>
        </p:nvSpPr>
        <p:spPr>
          <a:xfrm>
            <a:off x="621792" y="3630168"/>
            <a:ext cx="46634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A05000"/>
                </a:solidFill>
                <a:effectLst/>
                <a:uLnTx/>
                <a:uFillTx/>
                <a:latin typeface="Arial" pitchFamily="34" charset="0"/>
                <a:ea typeface="Arial" pitchFamily="34" charset="-122"/>
                <a:cs typeface="Arial" pitchFamily="34" charset="-120"/>
              </a:rPr>
              <a:t>Flux alternatif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3"/>
          <p:cNvSpPr/>
          <p:nvPr/>
        </p:nvSpPr>
        <p:spPr>
          <a:xfrm>
            <a:off x="402336" y="3904488"/>
            <a:ext cx="4754880" cy="1005840"/>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A : Données invalides (format email, mot de passe trop court) → message d'erreur, correction demandée</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B : Email déjà utilisé par un autre compte → refus avec message « Email déjà enregistré »</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C : Aucune modification détectée → message « Aucun changement à enregistrer »</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Alt D : Timeout de session durant la modification → redirection vers la page de connexion</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4"/>
          <p:cNvSpPr/>
          <p:nvPr/>
        </p:nvSpPr>
        <p:spPr>
          <a:xfrm>
            <a:off x="5376672" y="3566160"/>
            <a:ext cx="3767328" cy="1389888"/>
          </a:xfrm>
          <a:prstGeom prst="roundRect">
            <a:avLst>
              <a:gd name="adj" fmla="val 3947"/>
            </a:avLst>
          </a:prstGeom>
          <a:solidFill>
            <a:srgbClr val="F0ECF8"/>
          </a:solidFill>
          <a:ln w="15240">
            <a:solidFill>
              <a:srgbClr val="5B3F8C"/>
            </a:solidFill>
            <a:prstDash val="solid"/>
          </a:ln>
          <a:effectLst>
            <a:outerShdw blurRad="63500" dist="12700" dir="2700000" algn="bl" rotWithShape="0">
              <a:srgbClr val="000000">
                <a:alpha val="10000"/>
              </a:srgbClr>
            </a:outerShdw>
          </a:effectLst>
        </p:spPr>
      </p:sp>
      <p:pic>
        <p:nvPicPr>
          <p:cNvPr id="31" name="Image 4" descr="preencoded.png"/>
          <p:cNvPicPr>
            <a:picLocks noChangeAspect="1"/>
          </p:cNvPicPr>
          <p:nvPr/>
        </p:nvPicPr>
        <p:blipFill>
          <a:blip r:embed="rId6"/>
          <a:stretch>
            <a:fillRect/>
          </a:stretch>
        </p:blipFill>
        <p:spPr>
          <a:xfrm>
            <a:off x="5486400" y="3657600"/>
            <a:ext cx="201168" cy="201168"/>
          </a:xfrm>
          <a:prstGeom prst="rect">
            <a:avLst/>
          </a:prstGeom>
        </p:spPr>
      </p:pic>
      <p:sp>
        <p:nvSpPr>
          <p:cNvPr id="32" name="Text 25"/>
          <p:cNvSpPr/>
          <p:nvPr/>
        </p:nvSpPr>
        <p:spPr>
          <a:xfrm>
            <a:off x="5724144" y="3630168"/>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3D2670"/>
                </a:solidFill>
                <a:effectLst/>
                <a:uLnTx/>
                <a:uFillTx/>
                <a:latin typeface="Arial" pitchFamily="34" charset="0"/>
                <a:ea typeface="Arial" pitchFamily="34" charset="-122"/>
                <a:cs typeface="Arial" pitchFamily="34" charset="-120"/>
              </a:rPr>
              <a:t>Résultat attendu</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5504688" y="3904488"/>
            <a:ext cx="3566160" cy="1005840"/>
          </a:xfrm>
          <a:prstGeom prst="rect">
            <a:avLst/>
          </a:prstGeom>
          <a:noFill/>
          <a:ln/>
        </p:spPr>
        <p:txBody>
          <a:bodyPr wrap="square" lIns="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2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Les nouvelles informations du profil (nom, email, avatar) sont mises à jour dans la BDD et immédiatement visibles pour l'utilisateur lors de sa prochaine connexion.</a:t>
            </a:r>
            <a:endParaRPr kumimoji="0" lang="en-US" sz="8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B3A6B"/>
          </a:solidFill>
          <a:ln w="12700">
            <a:solidFill>
              <a:srgbClr val="1B3A6B"/>
            </a:solidFill>
            <a:prstDash val="solid"/>
          </a:ln>
        </p:spPr>
      </p:sp>
      <p:pic>
        <p:nvPicPr>
          <p:cNvPr id="3" name="Image 0" descr="preencoded.png"/>
          <p:cNvPicPr>
            <a:picLocks noChangeAspect="1"/>
          </p:cNvPicPr>
          <p:nvPr/>
        </p:nvPicPr>
        <p:blipFill>
          <a:blip r:embed="rId3"/>
          <a:stretch>
            <a:fillRect/>
          </a:stretch>
        </p:blipFill>
        <p:spPr>
          <a:xfrm>
            <a:off x="292608" y="182880"/>
            <a:ext cx="475488" cy="475488"/>
          </a:xfrm>
          <a:prstGeom prst="rect">
            <a:avLst/>
          </a:prstGeom>
        </p:spPr>
      </p:pic>
      <p:sp>
        <p:nvSpPr>
          <p:cNvPr id="4" name="Text 1"/>
          <p:cNvSpPr/>
          <p:nvPr/>
        </p:nvSpPr>
        <p:spPr>
          <a:xfrm>
            <a:off x="914400" y="91440"/>
            <a:ext cx="79552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Diagramme de Cas d'Utilisation</a:t>
            </a:r>
            <a:endParaRPr lang="en-US" sz="2000" dirty="0"/>
          </a:p>
        </p:txBody>
      </p:sp>
      <p:sp>
        <p:nvSpPr>
          <p:cNvPr id="8" name="Text 5"/>
          <p:cNvSpPr/>
          <p:nvPr/>
        </p:nvSpPr>
        <p:spPr>
          <a:xfrm>
            <a:off x="1828800" y="1207008"/>
            <a:ext cx="5669280"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«system» Authentification Biométrique Faciale</a:t>
            </a:r>
            <a:endParaRPr lang="en-US" sz="850" dirty="0"/>
          </a:p>
        </p:txBody>
      </p:sp>
      <p:pic>
        <p:nvPicPr>
          <p:cNvPr id="5" name="Image 4"/>
          <p:cNvPicPr>
            <a:picLocks noChangeAspect="1"/>
          </p:cNvPicPr>
          <p:nvPr/>
        </p:nvPicPr>
        <p:blipFill>
          <a:blip r:embed="rId4"/>
          <a:stretch>
            <a:fillRect/>
          </a:stretch>
        </p:blipFill>
        <p:spPr>
          <a:xfrm>
            <a:off x="1060704" y="-248716"/>
            <a:ext cx="12304165" cy="801866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rot="900000">
            <a:off x="-914400" y="-457200"/>
            <a:ext cx="1645920" cy="6400800"/>
          </a:xfrm>
          <a:prstGeom prst="rect">
            <a:avLst/>
          </a:prstGeom>
          <a:solidFill>
            <a:srgbClr val="1B3A6B">
              <a:alpha val="12000"/>
            </a:srgbClr>
          </a:solidFill>
          <a:ln w="12700">
            <a:solidFill>
              <a:srgbClr val="1B3A6B"/>
            </a:solidFill>
            <a:prstDash val="solid"/>
          </a:ln>
        </p:spPr>
      </p:sp>
      <p:sp>
        <p:nvSpPr>
          <p:cNvPr id="3" name="Shape 1"/>
          <p:cNvSpPr/>
          <p:nvPr/>
        </p:nvSpPr>
        <p:spPr>
          <a:xfrm rot="900000">
            <a:off x="1645920" y="-457200"/>
            <a:ext cx="1645920" cy="6400800"/>
          </a:xfrm>
          <a:prstGeom prst="rect">
            <a:avLst/>
          </a:prstGeom>
          <a:solidFill>
            <a:srgbClr val="0D4F6A">
              <a:alpha val="12000"/>
            </a:srgbClr>
          </a:solidFill>
          <a:ln w="12700">
            <a:solidFill>
              <a:srgbClr val="0D4F6A"/>
            </a:solidFill>
            <a:prstDash val="solid"/>
          </a:ln>
        </p:spPr>
      </p:sp>
      <p:sp>
        <p:nvSpPr>
          <p:cNvPr id="5" name="Shape 3"/>
          <p:cNvSpPr/>
          <p:nvPr/>
        </p:nvSpPr>
        <p:spPr>
          <a:xfrm rot="900000">
            <a:off x="6766560" y="-457200"/>
            <a:ext cx="1645920" cy="6400800"/>
          </a:xfrm>
          <a:prstGeom prst="rect">
            <a:avLst/>
          </a:prstGeom>
          <a:solidFill>
            <a:srgbClr val="0D9488">
              <a:alpha val="12000"/>
            </a:srgbClr>
          </a:solidFill>
          <a:ln w="12700">
            <a:solidFill>
              <a:srgbClr val="0D9488"/>
            </a:solidFill>
            <a:prstDash val="solid"/>
          </a:ln>
        </p:spPr>
      </p:sp>
      <p:sp>
        <p:nvSpPr>
          <p:cNvPr id="6" name="Shape 4"/>
          <p:cNvSpPr/>
          <p:nvPr/>
        </p:nvSpPr>
        <p:spPr>
          <a:xfrm>
            <a:off x="0" y="0"/>
            <a:ext cx="182880" cy="5143500"/>
          </a:xfrm>
          <a:prstGeom prst="rect">
            <a:avLst/>
          </a:prstGeom>
          <a:solidFill>
            <a:srgbClr val="0891B2"/>
          </a:solidFill>
          <a:ln w="12700">
            <a:solidFill>
              <a:srgbClr val="0891B2"/>
            </a:solidFill>
            <a:prstDash val="solid"/>
          </a:ln>
        </p:spPr>
      </p:sp>
      <p:pic>
        <p:nvPicPr>
          <p:cNvPr id="7" name="Image 0" descr="preencoded.png"/>
          <p:cNvPicPr>
            <a:picLocks noChangeAspect="1"/>
          </p:cNvPicPr>
          <p:nvPr/>
        </p:nvPicPr>
        <p:blipFill>
          <a:blip r:embed="rId3"/>
          <a:stretch>
            <a:fillRect/>
          </a:stretch>
        </p:blipFill>
        <p:spPr>
          <a:xfrm>
            <a:off x="3566160" y="411480"/>
            <a:ext cx="2011680" cy="2011680"/>
          </a:xfrm>
          <a:prstGeom prst="rect">
            <a:avLst/>
          </a:prstGeom>
        </p:spPr>
      </p:pic>
      <p:sp>
        <p:nvSpPr>
          <p:cNvPr id="8" name="Text 5"/>
          <p:cNvSpPr/>
          <p:nvPr/>
        </p:nvSpPr>
        <p:spPr>
          <a:xfrm>
            <a:off x="457200" y="2606040"/>
            <a:ext cx="8229600" cy="384048"/>
          </a:xfrm>
          <a:prstGeom prst="rect">
            <a:avLst/>
          </a:prstGeom>
          <a:noFill/>
          <a:ln/>
        </p:spPr>
        <p:txBody>
          <a:bodyPr wrap="square" rtlCol="0" anchor="ctr"/>
          <a:lstStyle/>
          <a:p>
            <a:pPr marL="0" indent="0" algn="ctr">
              <a:buNone/>
            </a:pPr>
            <a:r>
              <a:rPr lang="en-US" sz="1350" b="1" kern="0" spc="300" dirty="0">
                <a:solidFill>
                  <a:srgbClr val="0891B2"/>
                </a:solidFill>
                <a:latin typeface="Calibri" pitchFamily="34" charset="0"/>
                <a:ea typeface="Calibri" pitchFamily="34" charset="-122"/>
                <a:cs typeface="Calibri" pitchFamily="34" charset="-120"/>
              </a:rPr>
              <a:t>Dossier d'Analyse</a:t>
            </a:r>
            <a:endParaRPr lang="en-US" sz="1350" dirty="0"/>
          </a:p>
        </p:txBody>
      </p:sp>
      <p:sp>
        <p:nvSpPr>
          <p:cNvPr id="9" name="Text 6"/>
          <p:cNvSpPr/>
          <p:nvPr/>
        </p:nvSpPr>
        <p:spPr>
          <a:xfrm>
            <a:off x="457200" y="2999232"/>
            <a:ext cx="8229600" cy="10515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Système d'Authentification Biométrique</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par Reconnaissance Faciale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2517</TotalTime>
  <Words>1515</Words>
  <Application>Microsoft Office PowerPoint</Application>
  <PresentationFormat>Affichage à l'écran (16:9)</PresentationFormat>
  <Paragraphs>176</Paragraphs>
  <Slides>11</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Arial</vt:lpstr>
      <vt:lpstr>Calibri</vt:lpstr>
      <vt:lpstr>Calibri Light</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Dossier d'Analyse – Authentification Biométrique</dc:title>
  <dc:subject>PptxGenJS Presentation</dc:subject>
  <dc:creator>Projet Académique</dc:creator>
  <cp:lastModifiedBy>NJOUNANG, TEMGOUA</cp:lastModifiedBy>
  <cp:revision>50</cp:revision>
  <dcterms:created xsi:type="dcterms:W3CDTF">2026-05-14T08:07:39Z</dcterms:created>
  <dcterms:modified xsi:type="dcterms:W3CDTF">2026-06-13T18:18:15Z</dcterms:modified>
</cp:coreProperties>
</file>